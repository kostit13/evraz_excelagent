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71" r:id="rId15"/>
    <p:sldId id="273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025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262C3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051560"/>
            <a:ext cx="146304" cy="14630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EVRAZ  ·  ДЕМОНСТРАЦИЯ ПРОЕКТА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EVRAZ Agent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AI-агент для работы с Excel-файлами металлургической компании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6235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B1F24"/>
          </a:solidFill>
          <a:ln w="12700">
            <a:solidFill>
              <a:srgbClr val="3D4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15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60533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FastAPI · LangGraph · PostgreSQL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56235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B1F24"/>
          </a:solidFill>
          <a:ln w="12700">
            <a:solidFill>
              <a:srgbClr val="3D4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5715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60533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· Vite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Проблематика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76200" dist="25400" dir="5400000" algn="bl" rotWithShape="0">
              <a:srgbClr val="1B1F2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12264"/>
            <a:ext cx="420624" cy="42062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81328" y="20939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форматы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651760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Ежедневные Excel-файлы с ценами на цветные металлы (лом) — десятки листов, разные форматы.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76200" dist="25400" dir="5400000" algn="bl" rotWithShape="0">
              <a:srgbClr val="1B1F2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2112264"/>
            <a:ext cx="420624" cy="42062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59168" y="20939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«Грязные» файлы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3952" y="2651760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Сдвинутые шапки, объединённые ячейки, вложенные заголовки.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76200" dist="25400" dir="5400000" algn="bl" rotWithShape="0">
              <a:srgbClr val="1B1F24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169664"/>
            <a:ext cx="420624" cy="42062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81328" y="41513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язык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4709160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Бизнес-пользователи хотят отвечать на вопросы простым языком, а не разбираться в таблицах.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9319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76200" dist="25400" dir="5400000" algn="bl" rotWithShape="0">
              <a:srgbClr val="1B1F24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3952" y="4169664"/>
            <a:ext cx="420624" cy="42062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59168" y="41513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Коммерческая тайна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73952" y="4709160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— конфиденциальные данные: они не должны утекать наружу.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89788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B1F24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8978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B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менеджер тратит часы на ручной поиск по файлам вместо принятия решений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prod-ready систему «вопрос–ответ» по Excel-данным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579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Загрузил файл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3400" y="205740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сама распарсила и нормализовала данные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53512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1455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0449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Задал вопрос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3044952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естественном языке — получил ответ с данными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4106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133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0325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43400" y="403250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какой SQL выполнен и откуда взялись цифры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92861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120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08760" y="50200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43400" y="5020056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чтение, только проверенные таблицы, без утечки данных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9436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F5A3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9436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точность ≥ 85% на ключевых типах запросов при полной traceability ответа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 — обзор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3D4A5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6596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81403" y="2345436"/>
            <a:ext cx="112014" cy="201168"/>
          </a:xfrm>
          <a:prstGeom prst="rightArrow">
            <a:avLst/>
          </a:prstGeom>
          <a:solidFill>
            <a:srgbClr val="8A97A6"/>
          </a:solidFill>
          <a:ln/>
        </p:spPr>
      </p:sp>
      <p:sp>
        <p:nvSpPr>
          <p:cNvPr id="8" name="Shape 6"/>
          <p:cNvSpPr/>
          <p:nvPr/>
        </p:nvSpPr>
        <p:spPr>
          <a:xfrm>
            <a:off x="221742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3D4A57"/>
          </a:solidFill>
          <a:ln/>
        </p:spPr>
      </p:sp>
      <p:sp>
        <p:nvSpPr>
          <p:cNvPr id="9" name="Text 7"/>
          <p:cNvSpPr/>
          <p:nvPr/>
        </p:nvSpPr>
        <p:spPr>
          <a:xfrm>
            <a:off x="2290572" y="196596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8743" y="2345436"/>
            <a:ext cx="112014" cy="201168"/>
          </a:xfrm>
          <a:prstGeom prst="rightArrow">
            <a:avLst/>
          </a:prstGeom>
          <a:solidFill>
            <a:srgbClr val="8A97A6"/>
          </a:solidFill>
          <a:ln/>
        </p:spPr>
      </p:sp>
      <p:sp>
        <p:nvSpPr>
          <p:cNvPr id="11" name="Shape 9"/>
          <p:cNvSpPr/>
          <p:nvPr/>
        </p:nvSpPr>
        <p:spPr>
          <a:xfrm>
            <a:off x="379476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3D4A57"/>
          </a:solidFill>
          <a:ln/>
        </p:spPr>
      </p:sp>
      <p:sp>
        <p:nvSpPr>
          <p:cNvPr id="12" name="Text 10"/>
          <p:cNvSpPr/>
          <p:nvPr/>
        </p:nvSpPr>
        <p:spPr>
          <a:xfrm>
            <a:off x="3867912" y="196596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RAW-таблицы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36083" y="2345436"/>
            <a:ext cx="112014" cy="201168"/>
          </a:xfrm>
          <a:prstGeom prst="rightArrow">
            <a:avLst/>
          </a:prstGeom>
          <a:solidFill>
            <a:srgbClr val="8A97A6"/>
          </a:solidFill>
          <a:ln/>
        </p:spPr>
      </p:sp>
      <p:sp>
        <p:nvSpPr>
          <p:cNvPr id="14" name="Shape 12"/>
          <p:cNvSpPr/>
          <p:nvPr/>
        </p:nvSpPr>
        <p:spPr>
          <a:xfrm>
            <a:off x="537210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45252" y="196596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3423" y="2345436"/>
            <a:ext cx="112014" cy="201168"/>
          </a:xfrm>
          <a:prstGeom prst="rightArrow">
            <a:avLst/>
          </a:prstGeom>
          <a:solidFill>
            <a:srgbClr val="8A97A6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022592" y="196596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90763" y="2345436"/>
            <a:ext cx="112014" cy="201168"/>
          </a:xfrm>
          <a:prstGeom prst="rightArrow">
            <a:avLst/>
          </a:prstGeom>
          <a:solidFill>
            <a:srgbClr val="8A97A6"/>
          </a:solidFill>
          <a:ln/>
        </p:spPr>
      </p:sp>
      <p:sp>
        <p:nvSpPr>
          <p:cNvPr id="20" name="Shape 18"/>
          <p:cNvSpPr/>
          <p:nvPr/>
        </p:nvSpPr>
        <p:spPr>
          <a:xfrm>
            <a:off x="852678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5A36"/>
          </a:solidFill>
          <a:ln/>
        </p:spPr>
      </p:sp>
      <p:sp>
        <p:nvSpPr>
          <p:cNvPr id="21" name="Text 19"/>
          <p:cNvSpPr/>
          <p:nvPr/>
        </p:nvSpPr>
        <p:spPr>
          <a:xfrm>
            <a:off x="8599932" y="196596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LangGraph-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68103" y="2345436"/>
            <a:ext cx="112014" cy="201168"/>
          </a:xfrm>
          <a:prstGeom prst="rightArrow">
            <a:avLst/>
          </a:prstGeom>
          <a:solidFill>
            <a:srgbClr val="8A97A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0412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5A36"/>
          </a:solidFill>
          <a:ln/>
        </p:spPr>
      </p:sp>
      <p:sp>
        <p:nvSpPr>
          <p:cNvPr id="24" name="Text 22"/>
          <p:cNvSpPr/>
          <p:nvPr/>
        </p:nvSpPr>
        <p:spPr>
          <a:xfrm>
            <a:off x="10177272" y="196596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Безопасный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154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пользователя  →  агент планирует и выполняет SQL  →  ответ + SQL + источники (PostgreSQL)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40480"/>
          <a:ext cx="10881360" cy="226771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Технологии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Назначение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LangGraph, SQLAlchemy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API, парсинг, агент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TS + Vite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Чат, файлы, дашборд, метрики, трейсы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Инфраструктура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Compose, Nginx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Prometheus, Grafana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Поток обработки файла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2996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86200" y="187452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сохраняется, статус uploaded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89864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98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6200" y="274320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Асинхронный парсинг Excel: листы, колонки, ячейки, комментарии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76732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67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6118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Inference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361188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предлагает схему для новых форматов; известные — по Template Fingerprint без LLM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63600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36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4805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86200" y="448056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в витрину данных, идемпотентно — повторная заливка без дублей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50468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504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3492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86200" y="534924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справочников сущностей для ответов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6172200"/>
            <a:ext cx="10881360" cy="45720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uploaded</a:t>
            </a:r>
            <a:r>
              <a:rPr lang="en-US" sz="13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</a:t>
            </a:r>
            <a:r>
              <a:rPr lang="en-US" sz="13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7E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</a:t>
            </a:r>
            <a:r>
              <a:rPr lang="en-US" sz="13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</a:t>
            </a:r>
            <a:r>
              <a:rPr lang="en-US" sz="1300" b="1" dirty="0">
                <a:solidFill>
                  <a:srgbClr val="FF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Витрина данных (mart)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mart.price_facts — цены лома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6949440" cy="3200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Колонка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sheet_period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Лом меди марки 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Сплав-21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price_type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среднерыночная / аукцион_старт / поставщик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value, currency, 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486 500, ₽, 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is_blank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 (пустые ячейки не превращаются в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7863840" y="187452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1B1F24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mart.metrics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3816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производственные метрики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138160" y="2852928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262C33"/>
          </a:solidFill>
          <a:ln/>
        </p:spPr>
      </p:sp>
      <p:sp>
        <p:nvSpPr>
          <p:cNvPr id="11" name="Text 8"/>
          <p:cNvSpPr/>
          <p:nvPr/>
        </p:nvSpPr>
        <p:spPr>
          <a:xfrm>
            <a:off x="8321040" y="2852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38160" y="3287268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262C33"/>
          </a:solidFill>
          <a:ln/>
        </p:spPr>
      </p:sp>
      <p:sp>
        <p:nvSpPr>
          <p:cNvPr id="13" name="Text 10"/>
          <p:cNvSpPr/>
          <p:nvPr/>
        </p:nvSpPr>
        <p:spPr>
          <a:xfrm>
            <a:off x="8321040" y="32872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138160" y="3721608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262C33"/>
          </a:solidFill>
          <a:ln/>
        </p:spPr>
      </p:sp>
      <p:sp>
        <p:nvSpPr>
          <p:cNvPr id="15" name="Text 12"/>
          <p:cNvSpPr/>
          <p:nvPr/>
        </p:nvSpPr>
        <p:spPr>
          <a:xfrm>
            <a:off x="8321040" y="3721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metric_type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38160" y="4155948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262C33"/>
          </a:solidFill>
          <a:ln/>
        </p:spPr>
      </p:sp>
      <p:sp>
        <p:nvSpPr>
          <p:cNvPr id="17" name="Text 14"/>
          <p:cNvSpPr/>
          <p:nvPr/>
        </p:nvSpPr>
        <p:spPr>
          <a:xfrm>
            <a:off x="8321040" y="41559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38160" y="4590288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262C33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4590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138160" y="5024628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262C33"/>
          </a:solidFill>
          <a:ln/>
        </p:spPr>
      </p:sp>
      <p:sp>
        <p:nvSpPr>
          <p:cNvPr id="21" name="Text 18"/>
          <p:cNvSpPr/>
          <p:nvPr/>
        </p:nvSpPr>
        <p:spPr>
          <a:xfrm>
            <a:off x="8321040" y="50246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138160" y="5458968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262C33"/>
          </a:solidFill>
          <a:ln/>
        </p:spPr>
      </p:sp>
      <p:sp>
        <p:nvSpPr>
          <p:cNvPr id="23" name="Text 20"/>
          <p:cNvSpPr/>
          <p:nvPr/>
        </p:nvSpPr>
        <p:spPr>
          <a:xfrm>
            <a:off x="8321040" y="5458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is_blank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617220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Long-факт-таблицы: агент генерирует простой SQL без обращения к сырым ячейкам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СИСТЕМЫ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LangGraph-агент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узлов с чекпоинтами в PostgreSQL и ретраями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B1F2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76602" y="2180844"/>
            <a:ext cx="121615" cy="164592"/>
          </a:xfrm>
          <a:prstGeom prst="rightArrow">
            <a:avLst/>
          </a:prstGeom>
          <a:solidFill>
            <a:srgbClr val="8A97A6"/>
          </a:solidFill>
          <a:ln/>
        </p:spPr>
      </p:sp>
      <p:sp>
        <p:nvSpPr>
          <p:cNvPr id="9" name="Shape 7"/>
          <p:cNvSpPr/>
          <p:nvPr/>
        </p:nvSpPr>
        <p:spPr>
          <a:xfrm>
            <a:off x="2217420" y="19659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B1F24"/>
          </a:solidFill>
          <a:ln/>
        </p:spPr>
      </p:sp>
      <p:sp>
        <p:nvSpPr>
          <p:cNvPr id="10" name="Text 8"/>
          <p:cNvSpPr/>
          <p:nvPr/>
        </p:nvSpPr>
        <p:spPr>
          <a:xfrm>
            <a:off x="221742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3942" y="2180844"/>
            <a:ext cx="121615" cy="164592"/>
          </a:xfrm>
          <a:prstGeom prst="rightArrow">
            <a:avLst/>
          </a:prstGeom>
          <a:solidFill>
            <a:srgbClr val="8A97A6"/>
          </a:solidFill>
          <a:ln/>
        </p:spPr>
      </p:sp>
      <p:sp>
        <p:nvSpPr>
          <p:cNvPr id="12" name="Shape 10"/>
          <p:cNvSpPr/>
          <p:nvPr/>
        </p:nvSpPr>
        <p:spPr>
          <a:xfrm>
            <a:off x="3794760" y="19659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B1F24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31282" y="2180844"/>
            <a:ext cx="121615" cy="164592"/>
          </a:xfrm>
          <a:prstGeom prst="rightArrow">
            <a:avLst/>
          </a:prstGeom>
          <a:solidFill>
            <a:srgbClr val="8A97A6"/>
          </a:solidFill>
          <a:ln/>
        </p:spPr>
      </p:sp>
      <p:sp>
        <p:nvSpPr>
          <p:cNvPr id="15" name="Shape 13"/>
          <p:cNvSpPr/>
          <p:nvPr/>
        </p:nvSpPr>
        <p:spPr>
          <a:xfrm>
            <a:off x="5372100" y="19659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B1F24"/>
          </a:solidFill>
          <a:ln/>
        </p:spPr>
      </p:sp>
      <p:sp>
        <p:nvSpPr>
          <p:cNvPr id="16" name="Text 14"/>
          <p:cNvSpPr/>
          <p:nvPr/>
        </p:nvSpPr>
        <p:spPr>
          <a:xfrm>
            <a:off x="537210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08622" y="2180844"/>
            <a:ext cx="121615" cy="164592"/>
          </a:xfrm>
          <a:prstGeom prst="rightArrow">
            <a:avLst/>
          </a:prstGeom>
          <a:solidFill>
            <a:srgbClr val="8A97A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19659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B1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85962" y="2180844"/>
            <a:ext cx="121615" cy="164592"/>
          </a:xfrm>
          <a:prstGeom prst="rightArrow">
            <a:avLst/>
          </a:prstGeom>
          <a:solidFill>
            <a:srgbClr val="8A97A6"/>
          </a:solidFill>
          <a:ln/>
        </p:spPr>
      </p:sp>
      <p:sp>
        <p:nvSpPr>
          <p:cNvPr id="21" name="Shape 19"/>
          <p:cNvSpPr/>
          <p:nvPr/>
        </p:nvSpPr>
        <p:spPr>
          <a:xfrm>
            <a:off x="8526780" y="19659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FF5A36"/>
          </a:solidFill>
          <a:ln/>
        </p:spPr>
      </p:sp>
      <p:sp>
        <p:nvSpPr>
          <p:cNvPr id="22" name="Text 20"/>
          <p:cNvSpPr/>
          <p:nvPr/>
        </p:nvSpPr>
        <p:spPr>
          <a:xfrm>
            <a:off x="852678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963302" y="2180844"/>
            <a:ext cx="121615" cy="164592"/>
          </a:xfrm>
          <a:prstGeom prst="rightArrow">
            <a:avLst/>
          </a:prstGeom>
          <a:solidFill>
            <a:srgbClr val="8A97A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04120" y="19659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B1F24"/>
          </a:solidFill>
          <a:ln/>
        </p:spPr>
      </p:sp>
      <p:sp>
        <p:nvSpPr>
          <p:cNvPr id="25" name="Text 23"/>
          <p:cNvSpPr/>
          <p:nvPr/>
        </p:nvSpPr>
        <p:spPr>
          <a:xfrm>
            <a:off x="1010412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10881360" cy="307238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Узел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 запроса (lookup, aggregate, delta, cross_sheet…) и домен (prices/metrics)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Disambiguation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Уточняет вопрос при необходимости (interrupt или авто-разрешение)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Текстовый план действий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CodeGen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Генерация SQL + детерминированные правки + валидация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Выполняет read-only SQL; при пустом результате — fallback-SQL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LLM-проверка корректности (до 3 попыток + детерминированный fallback)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Финальный естественно-языковой ответ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по confidence:  </a:t>
            </a:r>
            <a:r>
              <a:rPr lang="en-US" sz="1200" b="1" dirty="0">
                <a:solidFill>
                  <a:srgbClr val="3F8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(≥0.7)</a:t>
            </a: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low_confidence (self-correction)</a:t>
            </a: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SQL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Безопасная генерация SQL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Детерминированные правки в CodeGen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«Все виды меди» → префиксный фильтр item_name ILIKE 'Лом меди%'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поставщиков: 'Сплав-21' → '%сплав21%'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Булевы поля is_blank → целые 0/1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262C3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8006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sql_compiler.py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513892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 LLM: компилирует структурированную спеку в безопасный SELECT напрямую, без модели.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3640" y="19202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перед выполнением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2377440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262C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2532888"/>
            <a:ext cx="402336" cy="402336"/>
          </a:xfrm>
          <a:prstGeom prst="ellipse">
            <a:avLst/>
          </a:prstGeom>
          <a:solidFill>
            <a:srgbClr val="3F8C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237744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SELECT (whitelist таблиц mart.*)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200400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262C3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3355848"/>
            <a:ext cx="402336" cy="40233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320040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Blacklist: INSERT / UPDATE / DELETE / DROP / ALTER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262C3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178808"/>
            <a:ext cx="402336" cy="402336"/>
          </a:xfrm>
          <a:prstGeom prst="ellipse">
            <a:avLst/>
          </a:prstGeom>
          <a:solidFill>
            <a:srgbClr val="3F8C5F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402336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скобок и кавычек (детекция обрезанного SQL)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846320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262C33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500176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5001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95160" y="484632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statement_timeout — 30 сек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(React + TypeScript)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30175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Страница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Возможности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Вопросы к агенту, прогресс шагов, SQL-блок, таблица/график результата, источники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Файлы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Загрузка Excel, статусы обработки, просмотр листов и структуры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Дашборд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Общая панель состояния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Prometheus-метрики системы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Трейсы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Просмотр выполнения графа агента по шагам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B1F2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23036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компоненты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AgentProgress · ChatMessage · ResultChart (Chart.js) · ResultTable · SourcesModal · SqlBlock · TypingIndicator · SheetViewer · FileUpload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Наблюдаемость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2834640"/>
          </a:xfrm>
          <a:prstGeom prst="roundRect">
            <a:avLst>
              <a:gd name="adj" fmla="val 2581"/>
            </a:avLst>
          </a:prstGeom>
          <a:solidFill>
            <a:srgbClr val="1B1F2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/metrics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и латентность /ask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latency графа (classifier / planner / codegen / executor / verifier / answer)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failed / low_confidence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LLM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57800" cy="2834640"/>
          </a:xfrm>
          <a:prstGeom prst="roundRect">
            <a:avLst>
              <a:gd name="adj" fmla="val 2581"/>
            </a:avLst>
          </a:prstGeom>
          <a:solidFill>
            <a:srgbClr val="1B1F24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query_logs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505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журнал запросов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по узлам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 ошибок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трейсы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9834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26080" y="49834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 3001 — визуализация, подключена через provisioning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76072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7607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26080" y="57607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loguru, собираются в Docker Compose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Качество: тесты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27432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проверяет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test_sql_compiler.py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Безопасный компилятор 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test_normalizer_dimension.py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Нормализация измерений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test_classifier_domain.py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Классификатор доменов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test_parser_header_detection.py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Определение шапки Excel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test_golden_dataset.py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Golden-датасет — эталонные вопросы (маркер golden)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70916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1B1F2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7091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            # юнит-тесты (без LLM)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-m golden tests/  # интеграционные golden-тесты (LLM + данные)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Golden-датасет прогоняется в CI при каждом изменении промптов / схемы / нормализации.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Демонстрация — сценарий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848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920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файла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19202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Открываем «Файлы» → загружаем xlsx → система парсит, инферит схему, нормализует в витрину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9809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8163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в чате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281635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«Покажи среднюю цену лома меди у поставщика Сплав-21 за январь»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770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371246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 агента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43400" y="3712464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шагов: Classifier → Planner → CodeGen → Executor → Verifier → Answer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08576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7731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460857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прозрачность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43400" y="4608576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SQL-запрос, таблица/график с результатом, источники (листы и ячейки)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504688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669280"/>
            <a:ext cx="457200" cy="457200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08760" y="55046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и трейсы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43400" y="550468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узлов в Metrics и полный трейс запроса в Trace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развёртывания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Назначение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5432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 (+ pg_trgm)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FastAPI-приложение (Swagger /docs)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8080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Nginx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9090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Сбор метрик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3001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Дашборды (admin/admin)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185"/>
            </a:avLst>
          </a:prstGeom>
          <a:solidFill>
            <a:srgbClr val="262C3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       # заполнить LLM_* и POSTGRES_*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 -d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service alembic upgrade head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http://localhost:8080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75688"/>
            <a:ext cx="292608" cy="292608"/>
          </a:xfrm>
          <a:prstGeom prst="ellipse">
            <a:avLst/>
          </a:prstGeom>
          <a:solidFill>
            <a:srgbClr val="3F8C5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0025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Асинхронный ingestion Excel → нормализованная витрина данных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263640" y="2075688"/>
            <a:ext cx="292608" cy="292608"/>
          </a:xfrm>
          <a:prstGeom prst="ellipse">
            <a:avLst/>
          </a:prstGeom>
          <a:solidFill>
            <a:srgbClr val="3F8C5F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0025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LangGraph-агент «вопрос → SQL → ответ» с полным трейсом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0080" y="2734056"/>
            <a:ext cx="292608" cy="292608"/>
          </a:xfrm>
          <a:prstGeom prst="ellipse">
            <a:avLst/>
          </a:prstGeom>
          <a:solidFill>
            <a:srgbClr val="3F8C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609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Безопасная генерация SQL (whitelist + blacklist + валидация)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263640" y="2734056"/>
            <a:ext cx="292608" cy="292608"/>
          </a:xfrm>
          <a:prstGeom prst="ellipse">
            <a:avLst/>
          </a:prstGeom>
          <a:solidFill>
            <a:srgbClr val="3F8C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6609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для точного сопоставления сущностей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3392424"/>
            <a:ext cx="292608" cy="292608"/>
          </a:xfrm>
          <a:prstGeom prst="ellipse">
            <a:avLst/>
          </a:prstGeom>
          <a:solidFill>
            <a:srgbClr val="3F8C5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3192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 React-интерфейс (чат, файлы, метрики, трейсы)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263640" y="3392424"/>
            <a:ext cx="292608" cy="292608"/>
          </a:xfrm>
          <a:prstGeom prst="ellipse">
            <a:avLst/>
          </a:prstGeom>
          <a:solidFill>
            <a:srgbClr val="3F8C5F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3192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Наблюдаемость: Prometheus + Grafana + журнал запросов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40080" y="4050792"/>
            <a:ext cx="292608" cy="292608"/>
          </a:xfrm>
          <a:prstGeom prst="ellipse">
            <a:avLst/>
          </a:prstGeom>
          <a:solidFill>
            <a:srgbClr val="3F8C5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Golden-датасет и тесты для контроля качества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40080" y="51663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B1F24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3035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B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принципы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вместо векторного поиска  ·  Детерминизм вместо «магии» LLM  ·  Прозрачность каждого ответа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146304" cy="14630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EVRAZ Agent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AI-агент для интеллектуальной работы с Excel-файлами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B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262C3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577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Подробности:  README.md  ·  PROJECT.md  ·  INSTRUCTIONS.md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1145</Words>
  <Application>Microsoft Office PowerPoint</Application>
  <PresentationFormat>Широкоэкранный</PresentationFormat>
  <Paragraphs>283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Костя Баландин</cp:lastModifiedBy>
  <cp:revision>3</cp:revision>
  <dcterms:created xsi:type="dcterms:W3CDTF">2026-09-19T14:37:22Z</dcterms:created>
  <dcterms:modified xsi:type="dcterms:W3CDTF">2026-09-20T09:16:37Z</dcterms:modified>
</cp:coreProperties>
</file>