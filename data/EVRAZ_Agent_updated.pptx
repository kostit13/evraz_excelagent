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78240" y="0"/>
            <a:ext cx="3410712" cy="164592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778240" y="164592"/>
            <a:ext cx="164592" cy="2011680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0" y="1828800"/>
            <a:ext cx="1216152" cy="164592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48840"/>
            <a:ext cx="457200" cy="64008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B199"/>
                </a:solidFill>
                <a:latin typeface="Calibri"/>
              </a:rPr>
              <a:t>EVRAZ  ·  ДЕМОНСТРАЦИЯ ПРОЕКТА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FFFFFF"/>
                </a:solidFill>
                <a:latin typeface="Calibri"/>
              </a:rPr>
              <a:t>EVRAZ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947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8A97A6"/>
                </a:solidFill>
                <a:latin typeface="Calibri"/>
              </a:rPr>
              <a:t>AI-агент для работы с Excel-файлами металлургической компании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709160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1B1F24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89204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25780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7A6"/>
                </a:solidFill>
                <a:latin typeface="Calibri"/>
              </a:rPr>
              <a:t>Python 3.12 · FastAPI · LangGraph · PostgreSQL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4709160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1B1F24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89204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525780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7A6"/>
                </a:solidFill>
                <a:latin typeface="Calibri"/>
              </a:rPr>
              <a:t>React 18 · TypeScript · Vite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EVRAZ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457200" cy="64008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ВВЕДЕНИЕ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Содержание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EVRAZ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5394960" cy="960120"/>
          </a:xfrm>
          <a:prstGeom prst="roundRect">
            <a:avLst>
              <a:gd name="adj" fmla="val 10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47672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5A36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1929384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Введение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19" y="228600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A97A6"/>
                </a:solidFill>
                <a:latin typeface="Calibri"/>
              </a:rPr>
              <a:t>О проекте · Проблематика · Задача и цели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898648"/>
            <a:ext cx="5394960" cy="960120"/>
          </a:xfrm>
          <a:prstGeom prst="roundRect">
            <a:avLst>
              <a:gd name="adj" fmla="val 10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063240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5A36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304495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Решение и архитектура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3401568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A97A6"/>
                </a:solidFill>
                <a:latin typeface="Calibri"/>
              </a:rPr>
              <a:t>Обзор · Архитектура · Стек · Структура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14215"/>
            <a:ext cx="5394960" cy="960120"/>
          </a:xfrm>
          <a:prstGeom prst="roundRect">
            <a:avLst>
              <a:gd name="adj" fmla="val 10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178807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5A36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19" y="416052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Обработка данных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19" y="4517136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A97A6"/>
                </a:solidFill>
                <a:latin typeface="Calibri"/>
              </a:rPr>
              <a:t>Пайплайн · Парсинг · Витрина · Схема БД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129784"/>
            <a:ext cx="5394960" cy="960120"/>
          </a:xfrm>
          <a:prstGeom prst="roundRect">
            <a:avLst>
              <a:gd name="adj" fmla="val 10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294376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5A36"/>
                </a:solidFill>
                <a:latin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19" y="5276088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LLM-агент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19" y="5632704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A97A6"/>
                </a:solidFill>
                <a:latin typeface="Calibri"/>
              </a:rPr>
              <a:t>LangGraph · Узлы · Безопасный SQL · Entity Resolution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1783080"/>
            <a:ext cx="5394960" cy="960120"/>
          </a:xfrm>
          <a:prstGeom prst="roundRect">
            <a:avLst>
              <a:gd name="adj" fmla="val 10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1947672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5A36"/>
                </a:solidFill>
                <a:latin typeface="Calibri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1929384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Интерфейс и наблюдаемость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228600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A97A6"/>
                </a:solidFill>
                <a:latin typeface="Calibri"/>
              </a:rPr>
              <a:t>Frontend · Метрики · Безопасность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2898648"/>
            <a:ext cx="5394960" cy="960120"/>
          </a:xfrm>
          <a:prstGeom prst="roundRect">
            <a:avLst>
              <a:gd name="adj" fmla="val 10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3063240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5A36"/>
                </a:solidFill>
                <a:latin typeface="Calibri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304495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Качество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3401568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A97A6"/>
                </a:solidFill>
                <a:latin typeface="Calibri"/>
              </a:rPr>
              <a:t>Тесты · Golden dataset · CI/CD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4014215"/>
            <a:ext cx="5394960" cy="960120"/>
          </a:xfrm>
          <a:prstGeom prst="roundRect">
            <a:avLst>
              <a:gd name="adj" fmla="val 10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4178807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5A36"/>
                </a:solidFill>
                <a:latin typeface="Calibri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416052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Демонстрация и развёртывание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4517136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A97A6"/>
                </a:solidFill>
                <a:latin typeface="Calibri"/>
              </a:rPr>
              <a:t>Сценарий · Docker · Быстрый старт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5129784"/>
            <a:ext cx="5394960" cy="960120"/>
          </a:xfrm>
          <a:prstGeom prst="roundRect">
            <a:avLst>
              <a:gd name="adj" fmla="val 10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5294376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5A36"/>
                </a:solidFill>
                <a:latin typeface="Calibri"/>
              </a:rPr>
              <a:t>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0" y="5276088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Итоги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5632704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A97A6"/>
                </a:solidFill>
                <a:latin typeface="Calibri"/>
              </a:rPr>
              <a:t>Результаты · Перспективы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457200" cy="64008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ВВЕДЕНИЕ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О проекте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EVRAZ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11064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EVRAZ Agent</a:t>
            </a:r>
            <a:r>
              <a:rPr sz="1600" b="0">
                <a:solidFill>
                  <a:srgbClr val="8A97A6"/>
                </a:solidFill>
                <a:latin typeface="Calibri"/>
              </a:rPr>
              <a:t> — агентная система «вопрос–ответ» по данным из Excel-файлов с ценами на цветные металлы (лом). Пользователь загружает Excel-файлы, система парсит их, нормализует в факт-таблицы витрины данных, а затем через LLM-агента отвечает на естественно-языковые вопросы, генерируя и выполняя безопасный SQL-запрос к PostgreSQL.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91840"/>
            <a:ext cx="5394960" cy="1280160"/>
          </a:xfrm>
          <a:prstGeom prst="roundRect">
            <a:avLst>
              <a:gd name="adj" fmla="val 7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3456432"/>
            <a:ext cx="49926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Вопрос–ответ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40480"/>
            <a:ext cx="4992624" cy="548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8A97A6"/>
                </a:solidFill>
                <a:latin typeface="Calibri"/>
              </a:rPr>
              <a:t>Естественный язык → точный ответ с данными, SQL и источниками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291840"/>
            <a:ext cx="5394960" cy="1280160"/>
          </a:xfrm>
          <a:prstGeom prst="roundRect">
            <a:avLst>
              <a:gd name="adj" fmla="val 7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3456432"/>
            <a:ext cx="49926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LLM-агент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840480"/>
            <a:ext cx="4992624" cy="548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8A97A6"/>
                </a:solidFill>
                <a:latin typeface="Calibri"/>
              </a:rPr>
              <a:t>LangGraph: классификация → планирование → генерация SQL → проверка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754880"/>
            <a:ext cx="5394960" cy="1280160"/>
          </a:xfrm>
          <a:prstGeom prst="roundRect">
            <a:avLst>
              <a:gd name="adj" fmla="val 7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919472"/>
            <a:ext cx="49926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Безопасный 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5303520"/>
            <a:ext cx="49926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8A97A6"/>
                </a:solidFill>
                <a:latin typeface="Calibri"/>
              </a:rPr>
              <a:t>Только SELECT, whitelist таблиц, валидация, read-only выполнение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4754880"/>
            <a:ext cx="5394960" cy="1280160"/>
          </a:xfrm>
          <a:prstGeom prst="roundRect">
            <a:avLst>
              <a:gd name="adj" fmla="val 7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4919472"/>
            <a:ext cx="49926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Prod-ready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5303520"/>
            <a:ext cx="49926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8A97A6"/>
                </a:solidFill>
                <a:latin typeface="Calibri"/>
              </a:rPr>
              <a:t>Асинхронный ingestion, auth, rate limiting, мониторинг, golden-тесты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457200" cy="64008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ВВЕДЕНИЕ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Проблематика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EVRAZ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5394960" cy="1417320"/>
          </a:xfrm>
          <a:prstGeom prst="roundRect">
            <a:avLst>
              <a:gd name="adj" fmla="val 7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94767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5A36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947672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Разные форматы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331720"/>
            <a:ext cx="4526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8A97A6"/>
                </a:solidFill>
                <a:latin typeface="Calibri"/>
              </a:rPr>
              <a:t>Ежедневные Excel-файлы с ценами на цветные металлы (лом) — десятки листов, разные форматы.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783080"/>
            <a:ext cx="5394960" cy="1417320"/>
          </a:xfrm>
          <a:prstGeom prst="roundRect">
            <a:avLst>
              <a:gd name="adj" fmla="val 7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194767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5A36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947672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«Грязные» файлы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331720"/>
            <a:ext cx="4526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8A97A6"/>
                </a:solidFill>
                <a:latin typeface="Calibri"/>
              </a:rPr>
              <a:t>Сдвинутые шапки, объединённые ячейки, вложенные заголовки.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383280"/>
            <a:ext cx="5394960" cy="1417320"/>
          </a:xfrm>
          <a:prstGeom prst="roundRect">
            <a:avLst>
              <a:gd name="adj" fmla="val 7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54787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5A36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547872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Простой язык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931920"/>
            <a:ext cx="4526280" cy="685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8A97A6"/>
                </a:solidFill>
                <a:latin typeface="Calibri"/>
              </a:rPr>
              <a:t>Бизнес-пользователи хотят отвечать на вопросы простым языком, а не разбираться в таблицах.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383280"/>
            <a:ext cx="5394960" cy="1417320"/>
          </a:xfrm>
          <a:prstGeom prst="roundRect">
            <a:avLst>
              <a:gd name="adj" fmla="val 7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354787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5A36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547872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Коммерческая тайна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931920"/>
            <a:ext cx="4526280" cy="685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8A97A6"/>
                </a:solidFill>
                <a:latin typeface="Calibri"/>
              </a:rPr>
              <a:t>Цены — конфиденциальные данные: они не должны утекать наружу.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212080"/>
            <a:ext cx="11064240" cy="868680"/>
          </a:xfrm>
          <a:prstGeom prst="roundRect">
            <a:avLst>
              <a:gd name="adj" fmla="val 12000"/>
            </a:avLst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4406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Результат: менеджер тратит часы на ручной поиск по файлам вместо принятия решений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457200" cy="64008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ВВЕДЕНИЕ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Задача и цели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EVRAZ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Построить prod-ready систему «вопрос–ответ» по Excel-данным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77440"/>
            <a:ext cx="5394960" cy="1280160"/>
          </a:xfrm>
          <a:prstGeom prst="roundRect">
            <a:avLst>
              <a:gd name="adj" fmla="val 7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54203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C7293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42032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Загрузил файл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926080"/>
            <a:ext cx="4526280" cy="548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8A97A6"/>
                </a:solidFill>
                <a:latin typeface="Calibri"/>
              </a:rPr>
              <a:t>Система сама распарсила и нормализовала данные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377440"/>
            <a:ext cx="5394960" cy="1280160"/>
          </a:xfrm>
          <a:prstGeom prst="roundRect">
            <a:avLst>
              <a:gd name="adj" fmla="val 7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254203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C7293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542032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Задал вопрос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926080"/>
            <a:ext cx="4526280" cy="548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8A97A6"/>
                </a:solidFill>
                <a:latin typeface="Calibri"/>
              </a:rPr>
              <a:t>На естественном языке — получил ответ с данными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840480"/>
            <a:ext cx="5394960" cy="1280160"/>
          </a:xfrm>
          <a:prstGeom prst="roundRect">
            <a:avLst>
              <a:gd name="adj" fmla="val 7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00507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C7293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005072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Прозрачность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389120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8A97A6"/>
                </a:solidFill>
                <a:latin typeface="Calibri"/>
              </a:rPr>
              <a:t>Видно, какой SQL выполнен и откуда взялись цифры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840480"/>
            <a:ext cx="5394960" cy="1280160"/>
          </a:xfrm>
          <a:prstGeom prst="roundRect">
            <a:avLst>
              <a:gd name="adj" fmla="val 7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3368" y="400507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C7293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005072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Безопасность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389120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8A97A6"/>
                </a:solidFill>
                <a:latin typeface="Calibri"/>
              </a:rPr>
              <a:t>Только чтение, только проверенные таблицы, без утечки данных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486400"/>
            <a:ext cx="11064240" cy="731520"/>
          </a:xfrm>
          <a:prstGeom prst="roundRect">
            <a:avLst>
              <a:gd name="adj" fmla="val 12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68756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B199"/>
                </a:solidFill>
                <a:latin typeface="Calibri"/>
              </a:rPr>
              <a:t>Цель: точность ≥ 85% на ключевых типах запросов при полной traceability ответа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32004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0" b="1" i="0">
                <a:solidFill>
                  <a:srgbClr val="FF5A36"/>
                </a:solidFill>
                <a:latin typeface="Calibri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977639"/>
            <a:ext cx="1097280" cy="73152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1605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Решение и архитектура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8A97A6"/>
                </a:solidFill>
                <a:latin typeface="Calibri"/>
              </a:rPr>
              <a:t>Обзор решения, архитектура системы, технологический стек и структура проекта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EVRAZ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457200" cy="64008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РЕШЕНИЕ И АРХИТЕКТУРА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Решение — обзор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EVRAZ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5167" y="1783080"/>
            <a:ext cx="1600200" cy="1051560"/>
          </a:xfrm>
          <a:prstGeom prst="roundRect">
            <a:avLst>
              <a:gd name="adj" fmla="val 10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6607" y="1965960"/>
            <a:ext cx="1417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Excel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6607" y="2377440"/>
            <a:ext cx="1417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файл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37079" y="2057400"/>
            <a:ext cx="2926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5A36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11399" y="1783080"/>
            <a:ext cx="1600200" cy="1051560"/>
          </a:xfrm>
          <a:prstGeom prst="roundRect">
            <a:avLst>
              <a:gd name="adj" fmla="val 10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02839" y="1965960"/>
            <a:ext cx="1417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Парсинг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2839" y="2377440"/>
            <a:ext cx="1417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src/core/excel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93311" y="2057400"/>
            <a:ext cx="2926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5A36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67631" y="1783080"/>
            <a:ext cx="1600200" cy="1051560"/>
          </a:xfrm>
          <a:prstGeom prst="roundRect">
            <a:avLst>
              <a:gd name="adj" fmla="val 10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59071" y="1965960"/>
            <a:ext cx="1417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RAW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9071" y="2377440"/>
            <a:ext cx="1417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таблицы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9543" y="2057400"/>
            <a:ext cx="2926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5A36"/>
                </a:solidFill>
                <a:latin typeface="Calibr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23863" y="1783080"/>
            <a:ext cx="1600200" cy="1051560"/>
          </a:xfrm>
          <a:prstGeom prst="roundRect">
            <a:avLst>
              <a:gd name="adj" fmla="val 10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15303" y="1965960"/>
            <a:ext cx="1417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Нормализация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5303" y="2377440"/>
            <a:ext cx="1417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mart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05775" y="2057400"/>
            <a:ext cx="2926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5A36"/>
                </a:solidFill>
                <a:latin typeface="Calibr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80095" y="1783080"/>
            <a:ext cx="1600200" cy="1051560"/>
          </a:xfrm>
          <a:prstGeom prst="roundRect">
            <a:avLst>
              <a:gd name="adj" fmla="val 10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71535" y="1965960"/>
            <a:ext cx="1417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LangGraph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71535" y="2377440"/>
            <a:ext cx="1417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агент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62007" y="2057400"/>
            <a:ext cx="2926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5A36"/>
                </a:solidFill>
                <a:latin typeface="Calibr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936327" y="1783080"/>
            <a:ext cx="1600200" cy="1051560"/>
          </a:xfrm>
          <a:prstGeom prst="roundRect">
            <a:avLst>
              <a:gd name="adj" fmla="val 10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27767" y="1965960"/>
            <a:ext cx="1417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Безопасный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27767" y="2377440"/>
            <a:ext cx="1417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SELECT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10896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8A97A6"/>
                </a:solidFill>
                <a:latin typeface="Calibri"/>
              </a:rPr>
              <a:t>Вопрос пользователя → агент планирует и выполняет SQL → ответ + SQL + источники (PostgreSQL)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548640" y="3749039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206240"/>
                <a:gridCol w="448056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Часть</a:t>
                      </a:r>
                    </a:p>
                  </a:txBody>
                  <a:tcPr marL="91440" marR="91440" marT="27432" marB="27432" anchor="ctr">
                    <a:solidFill>
                      <a:srgbClr val="1C729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Технологии</a:t>
                      </a:r>
                    </a:p>
                  </a:txBody>
                  <a:tcPr marL="91440" marR="91440" marT="27432" marB="27432" anchor="ctr">
                    <a:solidFill>
                      <a:srgbClr val="1C729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Назначение</a:t>
                      </a:r>
                    </a:p>
                  </a:txBody>
                  <a:tcPr marL="91440" marR="91440" marT="27432" marB="27432" anchor="ctr">
                    <a:solidFill>
                      <a:srgbClr val="1C729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1F24"/>
                          </a:solidFill>
                          <a:latin typeface="Calibri"/>
                        </a:rPr>
                        <a:t>Backend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1F24"/>
                          </a:solidFill>
                          <a:latin typeface="Calibri"/>
                        </a:rPr>
                        <a:t>FastAPI, LangGraph, SQLAlchemy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1F24"/>
                          </a:solidFill>
                          <a:latin typeface="Calibri"/>
                        </a:rPr>
                        <a:t>API, парсинг, агент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1F24"/>
                          </a:solidFill>
                          <a:latin typeface="Calibri"/>
                        </a:rPr>
                        <a:t>Frontend</a:t>
                      </a:r>
                    </a:p>
                  </a:txBody>
                  <a:tcPr marL="91440" marR="91440" marT="27432" marB="27432" anchor="ctr">
                    <a:solidFill>
                      <a:srgbClr val="F0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1F24"/>
                          </a:solidFill>
                          <a:latin typeface="Calibri"/>
                        </a:rPr>
                        <a:t>React 18 + TS + Vite</a:t>
                      </a:r>
                    </a:p>
                  </a:txBody>
                  <a:tcPr marL="91440" marR="91440" marT="27432" marB="27432" anchor="ctr">
                    <a:solidFill>
                      <a:srgbClr val="F0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1F24"/>
                          </a:solidFill>
                          <a:latin typeface="Calibri"/>
                        </a:rPr>
                        <a:t>Чат, файлы, дашборд, метрики, трейсы</a:t>
                      </a:r>
                    </a:p>
                  </a:txBody>
                  <a:tcPr marL="91440" marR="91440" marT="27432" marB="27432" anchor="ctr">
                    <a:solidFill>
                      <a:srgbClr val="F0F2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1F24"/>
                          </a:solidFill>
                          <a:latin typeface="Calibri"/>
                        </a:rPr>
                        <a:t>Инфраструктура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1F24"/>
                          </a:solidFill>
                          <a:latin typeface="Calibri"/>
                        </a:rPr>
                        <a:t>Docker Compose, Nginx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1F24"/>
                          </a:solidFill>
                          <a:latin typeface="Calibri"/>
                        </a:rPr>
                        <a:t>PostgreSQL, Prometheus, Grafana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457200" cy="64008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РЕШЕНИЕ И АРХИТЕКТУРА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Архитектура системы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EVRAZ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3172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8A97A6"/>
                </a:solidFill>
                <a:latin typeface="Calibri"/>
              </a:rPr>
              <a:t>React + Vite (Nginx)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1783080"/>
            <a:ext cx="4206240" cy="914400"/>
          </a:xfrm>
          <a:prstGeom prst="roundRect">
            <a:avLst>
              <a:gd name="adj" fmla="val 10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196596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Backend — FastAPI (:8000)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331720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8A97A6"/>
                </a:solidFill>
                <a:latin typeface="Calibri"/>
              </a:rPr>
              <a:t>роутеры · ingestion · агент · entity-resolution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783080"/>
            <a:ext cx="3383280" cy="914400"/>
          </a:xfrm>
          <a:prstGeom prst="roundRect">
            <a:avLst>
              <a:gd name="adj" fmla="val 10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96596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LLM-провайдер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3317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8A97A6"/>
                </a:solidFill>
                <a:latin typeface="Calibri"/>
              </a:rPr>
              <a:t>OpenAI-совместимый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0128" y="201168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5A36"/>
                </a:solidFill>
                <a:latin typeface="Calibr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82127" y="201168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5A36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06324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24612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PostgreSQL 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61188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8A97A6"/>
                </a:solidFill>
                <a:latin typeface="Calibri"/>
              </a:rPr>
              <a:t>public: files, sheets, cells · mart: price_facts, metrics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06324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24612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Мониторинг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361188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8A97A6"/>
                </a:solidFill>
                <a:latin typeface="Calibri"/>
              </a:rPr>
              <a:t>Prometheus :9090 · Grafana :3001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10128" y="274320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5A36"/>
                </a:solidFill>
                <a:latin typeface="Calibri"/>
              </a:rPr>
              <a:t>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96528" y="274320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5A36"/>
                </a:solidFill>
                <a:latin typeface="Calibri"/>
              </a:rPr>
              <a:t>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2976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Ключевые принципы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70916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00" b="1">
                <a:solidFill>
                  <a:srgbClr val="FF5A36"/>
                </a:solidFill>
                <a:latin typeface="Calibri"/>
              </a:rPr>
              <a:t>•  </a:t>
            </a:r>
            <a:r>
              <a:rPr sz="1400" b="1">
                <a:solidFill>
                  <a:srgbClr val="FFFFFF"/>
                </a:solidFill>
                <a:latin typeface="Calibri"/>
              </a:rPr>
              <a:t>Нормализованная long-факт-таблица</a:t>
            </a:r>
            <a:r>
              <a:rPr sz="1400" b="0">
                <a:solidFill>
                  <a:srgbClr val="8A97A6"/>
                </a:solidFill>
                <a:latin typeface="Calibri"/>
              </a:rPr>
              <a:t> — агент генерирует простой SQL поверх mart.price_facts / mart.metrics, без обращения к сырым ячейкам.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00" b="1">
                <a:solidFill>
                  <a:srgbClr val="FF5A36"/>
                </a:solidFill>
                <a:latin typeface="Calibri"/>
              </a:rPr>
              <a:t>•  </a:t>
            </a:r>
            <a:r>
              <a:rPr sz="1400" b="1">
                <a:solidFill>
                  <a:srgbClr val="FFFFFF"/>
                </a:solidFill>
                <a:latin typeface="Calibri"/>
              </a:rPr>
              <a:t>Детерминированные правки SQL</a:t>
            </a:r>
            <a:r>
              <a:rPr sz="1400" b="0">
                <a:solidFill>
                  <a:srgbClr val="8A97A6"/>
                </a:solidFill>
                <a:latin typeface="Calibri"/>
              </a:rPr>
              <a:t> в codegen_node повышают надёжность LLM-генерации (префиксный поиск, нормализация поставщиков, is_blank → 0/1).</a:t>
            </a:r>
          </a:p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5A36"/>
                </a:solidFill>
                <a:latin typeface="Calibri"/>
              </a:rPr>
              <a:t>•  </a:t>
            </a:r>
            <a:r>
              <a:rPr sz="1400" b="1">
                <a:solidFill>
                  <a:srgbClr val="FFFFFF"/>
                </a:solidFill>
                <a:latin typeface="Calibri"/>
              </a:rPr>
              <a:t>Кэш ответов и fallback-логика</a:t>
            </a:r>
            <a:r>
              <a:rPr sz="1400" b="0">
                <a:solidFill>
                  <a:srgbClr val="8A97A6"/>
                </a:solidFill>
                <a:latin typeface="Calibri"/>
              </a:rPr>
              <a:t> верификатора уменьшают количество повторных прогонов графа.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457200" cy="64008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РЕШЕНИЕ И АРХИТЕКТУРА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Архитектура системы — диаграмма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EVRAZ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0" y="1554480"/>
            <a:ext cx="1737360" cy="411480"/>
          </a:xfrm>
          <a:prstGeom prst="roundRect">
            <a:avLst>
              <a:gd name="adj" fmla="val 20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0" y="162763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Пользователь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80760" y="1965960"/>
            <a:ext cx="0" cy="228600"/>
          </a:xfrm>
          <a:prstGeom prst="line">
            <a:avLst/>
          </a:prstGeom>
          <a:ln w="19050">
            <a:solidFill>
              <a:srgbClr val="FF5A3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023360" y="2194560"/>
            <a:ext cx="4114800" cy="548640"/>
          </a:xfrm>
          <a:prstGeom prst="roundRect">
            <a:avLst>
              <a:gd name="adj" fmla="val 10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2258568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Frontend — React + Vite (Nginx)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514600"/>
            <a:ext cx="3931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8A97A6"/>
                </a:solidFill>
                <a:latin typeface="Calibri"/>
              </a:rPr>
              <a:t>Чат · Файлы · Дашборд · Метрики · Трейс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80760" y="2743200"/>
            <a:ext cx="0" cy="182880"/>
          </a:xfrm>
          <a:prstGeom prst="line">
            <a:avLst/>
          </a:prstGeom>
          <a:ln w="19050">
            <a:solidFill>
              <a:srgbClr val="FF5A3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217920" y="2743200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8A97A6"/>
                </a:solidFill>
                <a:latin typeface="Calibri"/>
              </a:rPr>
              <a:t>REST/HTTP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926080"/>
            <a:ext cx="7315200" cy="2834640"/>
          </a:xfrm>
          <a:prstGeom prst="roundRect">
            <a:avLst>
              <a:gd name="adj" fmla="val 5000"/>
            </a:avLst>
          </a:prstGeom>
          <a:solidFill>
            <a:srgbClr val="262C33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99923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B199"/>
                </a:solidFill>
                <a:latin typeface="Calibri"/>
              </a:rPr>
              <a:t>Backend — FastAPI (uvicorn, :8000)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337560"/>
            <a:ext cx="1554480" cy="594360"/>
          </a:xfrm>
          <a:prstGeom prst="roundRect">
            <a:avLst>
              <a:gd name="adj" fmla="val 10000"/>
            </a:avLst>
          </a:prstGeom>
          <a:solidFill>
            <a:srgbClr val="1B1F24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3410712"/>
            <a:ext cx="14081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API роутеры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3666744"/>
            <a:ext cx="140817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8A97A6"/>
                </a:solidFill>
                <a:latin typeface="Calibri"/>
              </a:rPr>
              <a:t>/files, /ask, /trace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68880" y="3337560"/>
            <a:ext cx="1554480" cy="594360"/>
          </a:xfrm>
          <a:prstGeom prst="roundRect">
            <a:avLst>
              <a:gd name="adj" fmla="val 10000"/>
            </a:avLst>
          </a:prstGeom>
          <a:solidFill>
            <a:srgbClr val="1B1F24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42032" y="3410712"/>
            <a:ext cx="14081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Ingestion Queue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42032" y="3666744"/>
            <a:ext cx="140817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8A97A6"/>
                </a:solidFill>
                <a:latin typeface="Calibri"/>
              </a:rPr>
              <a:t>async worker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06240" y="3337560"/>
            <a:ext cx="1554480" cy="594360"/>
          </a:xfrm>
          <a:prstGeom prst="roundRect">
            <a:avLst>
              <a:gd name="adj" fmla="val 10000"/>
            </a:avLst>
          </a:prstGeom>
          <a:solidFill>
            <a:srgbClr val="1B1F24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79392" y="3410712"/>
            <a:ext cx="14081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LangGraph агент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79392" y="3666744"/>
            <a:ext cx="140817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8A97A6"/>
                </a:solidFill>
                <a:latin typeface="Calibri"/>
              </a:rPr>
              <a:t>classifier → … → answer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0" y="3337560"/>
            <a:ext cx="1554480" cy="594360"/>
          </a:xfrm>
          <a:prstGeom prst="roundRect">
            <a:avLst>
              <a:gd name="adj" fmla="val 10000"/>
            </a:avLst>
          </a:prstGeom>
          <a:solidFill>
            <a:srgbClr val="1B1F24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16752" y="3410712"/>
            <a:ext cx="14081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LLMClient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16752" y="3666744"/>
            <a:ext cx="140817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8A97A6"/>
                </a:solidFill>
                <a:latin typeface="Calibri"/>
              </a:rPr>
              <a:t>OpenAI-совместимый API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114800"/>
            <a:ext cx="1554480" cy="594360"/>
          </a:xfrm>
          <a:prstGeom prst="roundRect">
            <a:avLst>
              <a:gd name="adj" fmla="val 10000"/>
            </a:avLst>
          </a:prstGeom>
          <a:solidFill>
            <a:srgbClr val="1B1F24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4187952"/>
            <a:ext cx="14081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Excel ingestion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" y="4443984"/>
            <a:ext cx="140817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8A97A6"/>
                </a:solidFill>
                <a:latin typeface="Calibri"/>
              </a:rPr>
              <a:t>парсер → repository → mart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468880" y="4114800"/>
            <a:ext cx="1554480" cy="594360"/>
          </a:xfrm>
          <a:prstGeom prst="roundRect">
            <a:avLst>
              <a:gd name="adj" fmla="val 10000"/>
            </a:avLst>
          </a:prstGeom>
          <a:solidFill>
            <a:srgbClr val="1B1F24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42032" y="4187952"/>
            <a:ext cx="14081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Entity Resolution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42032" y="4443984"/>
            <a:ext cx="140817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8A97A6"/>
                </a:solidFill>
                <a:latin typeface="Calibri"/>
              </a:rPr>
              <a:t>rapidfuzz + BM25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06240" y="4114800"/>
            <a:ext cx="1554480" cy="594360"/>
          </a:xfrm>
          <a:prstGeom prst="roundRect">
            <a:avLst>
              <a:gd name="adj" fmla="val 10000"/>
            </a:avLst>
          </a:prstGeom>
          <a:solidFill>
            <a:srgbClr val="1B1F24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79392" y="4187952"/>
            <a:ext cx="14081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Query Cache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79392" y="4443984"/>
            <a:ext cx="140817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8A97A6"/>
                </a:solidFill>
                <a:latin typeface="Calibri"/>
              </a:rPr>
              <a:t>вопрос → SQL → результат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0" y="4114800"/>
            <a:ext cx="1554480" cy="594360"/>
          </a:xfrm>
          <a:prstGeom prst="roundRect">
            <a:avLst>
              <a:gd name="adj" fmla="val 10000"/>
            </a:avLst>
          </a:prstGeom>
          <a:solidFill>
            <a:srgbClr val="1B1F24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16752" y="4187952"/>
            <a:ext cx="14081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Prometheus /metrics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16752" y="4443984"/>
            <a:ext cx="140817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8A97A6"/>
                </a:solidFill>
                <a:latin typeface="Calibri"/>
              </a:rPr>
              <a:t>метрики приложения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38160" y="2926080"/>
            <a:ext cx="3566160" cy="100584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0" y="306324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LLM-провайдер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338328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8A97A6"/>
                </a:solidFill>
                <a:latin typeface="Calibri"/>
              </a:rPr>
              <a:t>DeepSeek / любая OpenAI-совместимая модель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943600"/>
            <a:ext cx="5394960" cy="502920"/>
          </a:xfrm>
          <a:prstGeom prst="roundRect">
            <a:avLst>
              <a:gd name="adj" fmla="val 10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5998464"/>
            <a:ext cx="5029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PostgreSQL 16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6217920"/>
            <a:ext cx="5029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8A97A6"/>
                </a:solidFill>
                <a:latin typeface="Calibri"/>
              </a:rPr>
              <a:t>public: files, sheets, cells · mart: price_facts, metrics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09360" y="5943600"/>
            <a:ext cx="5394960" cy="502920"/>
          </a:xfrm>
          <a:prstGeom prst="roundRect">
            <a:avLst>
              <a:gd name="adj" fmla="val 10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92240" y="5998464"/>
            <a:ext cx="5029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Мониторинг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92240" y="6217920"/>
            <a:ext cx="5029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8A97A6"/>
                </a:solidFill>
                <a:latin typeface="Calibri"/>
              </a:rPr>
              <a:t>Prometheus :9090 · Grafana :3001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2286000" y="3630168"/>
            <a:ext cx="182880" cy="0"/>
          </a:xfrm>
          <a:prstGeom prst="line">
            <a:avLst/>
          </a:prstGeom>
          <a:ln w="19050">
            <a:solidFill>
              <a:srgbClr val="FF5A3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2286000" y="3401568"/>
            <a:ext cx="1463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8A97A6"/>
                </a:solidFill>
                <a:latin typeface="Calibri"/>
              </a:rPr>
              <a:t>POST /files/upload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3246120" y="3931920"/>
            <a:ext cx="0" cy="182880"/>
          </a:xfrm>
          <a:prstGeom prst="line">
            <a:avLst/>
          </a:prstGeom>
          <a:ln w="19050">
            <a:solidFill>
              <a:srgbClr val="FF5A3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2286000" y="3630168"/>
            <a:ext cx="1920240" cy="0"/>
          </a:xfrm>
          <a:prstGeom prst="line">
            <a:avLst/>
          </a:prstGeom>
          <a:ln w="19050">
            <a:solidFill>
              <a:srgbClr val="FF5A3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2743200" y="3401568"/>
            <a:ext cx="1463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8A97A6"/>
                </a:solidFill>
                <a:latin typeface="Calibri"/>
              </a:rPr>
              <a:t>POST /ask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760720" y="3630168"/>
            <a:ext cx="1737359" cy="0"/>
          </a:xfrm>
          <a:prstGeom prst="line">
            <a:avLst/>
          </a:prstGeom>
          <a:ln w="19050">
            <a:solidFill>
              <a:srgbClr val="FF5A3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7498079" y="3630168"/>
            <a:ext cx="640081" cy="0"/>
          </a:xfrm>
          <a:prstGeom prst="line">
            <a:avLst/>
          </a:prstGeom>
          <a:ln w="19050">
            <a:solidFill>
              <a:srgbClr val="FF5A3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498079" y="3401568"/>
            <a:ext cx="1463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8A97A6"/>
                </a:solidFill>
                <a:latin typeface="Calibri"/>
              </a:rPr>
              <a:t>chat / structured output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4983480" y="3931920"/>
            <a:ext cx="0" cy="182880"/>
          </a:xfrm>
          <a:prstGeom prst="line">
            <a:avLst/>
          </a:prstGeom>
          <a:ln w="19050">
            <a:solidFill>
              <a:srgbClr val="FF5A3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3246120" y="3931920"/>
            <a:ext cx="960120" cy="182880"/>
          </a:xfrm>
          <a:prstGeom prst="line">
            <a:avLst/>
          </a:prstGeom>
          <a:ln w="19050">
            <a:solidFill>
              <a:srgbClr val="FF5A3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508760" y="4709160"/>
            <a:ext cx="0" cy="1234440"/>
          </a:xfrm>
          <a:prstGeom prst="line">
            <a:avLst/>
          </a:prstGeom>
          <a:ln w="19050">
            <a:solidFill>
              <a:srgbClr val="FF5A3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1600200" y="5120640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8A97A6"/>
                </a:solidFill>
                <a:latin typeface="Calibri"/>
              </a:rPr>
              <a:t>RAW + нормализация</a:t>
            </a:r>
          </a:p>
        </p:txBody>
      </p:sp>
      <p:cxnSp>
        <p:nvCxnSpPr>
          <p:cNvPr id="63" name="Connector 62"/>
          <p:cNvCxnSpPr/>
          <p:nvPr/>
        </p:nvCxnSpPr>
        <p:spPr>
          <a:xfrm flipH="1">
            <a:off x="3657600" y="4709160"/>
            <a:ext cx="1325880" cy="1234440"/>
          </a:xfrm>
          <a:prstGeom prst="line">
            <a:avLst/>
          </a:prstGeom>
          <a:ln w="19050">
            <a:solidFill>
              <a:srgbClr val="FF5A3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4572000" y="5120640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8A97A6"/>
                </a:solidFill>
                <a:latin typeface="Calibri"/>
              </a:rPr>
              <a:t>безопасный SELECT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6720840" y="4709160"/>
            <a:ext cx="0" cy="1234440"/>
          </a:xfrm>
          <a:prstGeom prst="line">
            <a:avLst/>
          </a:prstGeom>
          <a:ln w="19050">
            <a:solidFill>
              <a:srgbClr val="FF5A3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6812280" y="5120640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8A97A6"/>
                </a:solidFill>
                <a:latin typeface="Calibri"/>
              </a:rPr>
              <a:t>/metrics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457200" cy="64008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РЕШЕНИЕ И АРХИТЕКТУРА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Технологический стек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EVRAZ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3566160" cy="4297680"/>
          </a:xfrm>
          <a:prstGeom prst="roundRect">
            <a:avLst>
              <a:gd name="adj" fmla="val 6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3566160" cy="548640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2024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Backend (Python ≥ 3.12)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14600"/>
            <a:ext cx="320040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FF5A36"/>
                </a:solidFill>
                <a:latin typeface="Calibri"/>
              </a:rPr>
              <a:t>•  </a:t>
            </a:r>
            <a:r>
              <a:rPr sz="1200" b="0">
                <a:solidFill>
                  <a:srgbClr val="8A97A6"/>
                </a:solidFill>
                <a:latin typeface="Calibri"/>
              </a:rPr>
              <a:t>FastAPI + uvicorn — REST API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FF5A36"/>
                </a:solidFill>
                <a:latin typeface="Calibri"/>
              </a:rPr>
              <a:t>•  </a:t>
            </a:r>
            <a:r>
              <a:rPr sz="1200" b="0">
                <a:solidFill>
                  <a:srgbClr val="8A97A6"/>
                </a:solidFill>
                <a:latin typeface="Calibri"/>
              </a:rPr>
              <a:t>LangGraph + checkpoint-postgres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FF5A36"/>
                </a:solidFill>
                <a:latin typeface="Calibri"/>
              </a:rPr>
              <a:t>•  </a:t>
            </a:r>
            <a:r>
              <a:rPr sz="1200" b="0">
                <a:solidFill>
                  <a:srgbClr val="8A97A6"/>
                </a:solidFill>
                <a:latin typeface="Calibri"/>
              </a:rPr>
              <a:t>langchain-openai — structured output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FF5A36"/>
                </a:solidFill>
                <a:latin typeface="Calibri"/>
              </a:rPr>
              <a:t>•  </a:t>
            </a:r>
            <a:r>
              <a:rPr sz="1200" b="0">
                <a:solidFill>
                  <a:srgbClr val="8A97A6"/>
                </a:solidFill>
                <a:latin typeface="Calibri"/>
              </a:rPr>
              <a:t>SQLAlchemy 2.0 (async) + Alembic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FF5A36"/>
                </a:solidFill>
                <a:latin typeface="Calibri"/>
              </a:rPr>
              <a:t>•  </a:t>
            </a:r>
            <a:r>
              <a:rPr sz="1200" b="0">
                <a:solidFill>
                  <a:srgbClr val="8A97A6"/>
                </a:solidFill>
                <a:latin typeface="Calibri"/>
              </a:rPr>
              <a:t>openpyxl, pandas — Excel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FF5A36"/>
                </a:solidFill>
                <a:latin typeface="Calibri"/>
              </a:rPr>
              <a:t>•  </a:t>
            </a:r>
            <a:r>
              <a:rPr sz="1200" b="0">
                <a:solidFill>
                  <a:srgbClr val="8A97A6"/>
                </a:solidFill>
                <a:latin typeface="Calibri"/>
              </a:rPr>
              <a:t>rapidfuzz — fuzzy match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FF5A36"/>
                </a:solidFill>
                <a:latin typeface="Calibri"/>
              </a:rPr>
              <a:t>•  </a:t>
            </a:r>
            <a:r>
              <a:rPr sz="1200" b="0">
                <a:solidFill>
                  <a:srgbClr val="8A97A6"/>
                </a:solidFill>
                <a:latin typeface="Calibri"/>
              </a:rPr>
              <a:t>loguru, prometheus-client, slowapi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FF5A36"/>
                </a:solidFill>
                <a:latin typeface="Calibri"/>
              </a:rPr>
              <a:t>•  </a:t>
            </a:r>
            <a:r>
              <a:rPr sz="1200" b="0">
                <a:solidFill>
                  <a:srgbClr val="8A97A6"/>
                </a:solidFill>
                <a:latin typeface="Calibri"/>
              </a:rPr>
              <a:t>pydantic-settings, python-multipart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783080"/>
            <a:ext cx="3566160" cy="4297680"/>
          </a:xfrm>
          <a:prstGeom prst="roundRect">
            <a:avLst>
              <a:gd name="adj" fmla="val 6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43400" y="1783080"/>
            <a:ext cx="3566160" cy="548640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92024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Frontend (React)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514600"/>
            <a:ext cx="320040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FF5A36"/>
                </a:solidFill>
                <a:latin typeface="Calibri"/>
              </a:rPr>
              <a:t>•  </a:t>
            </a:r>
            <a:r>
              <a:rPr sz="1200" b="0">
                <a:solidFill>
                  <a:srgbClr val="8A97A6"/>
                </a:solidFill>
                <a:latin typeface="Calibri"/>
              </a:rPr>
              <a:t>React 18 + TypeScript + Vite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FF5A36"/>
                </a:solidFill>
                <a:latin typeface="Calibri"/>
              </a:rPr>
              <a:t>•  </a:t>
            </a:r>
            <a:r>
              <a:rPr sz="1200" b="0">
                <a:solidFill>
                  <a:srgbClr val="8A97A6"/>
                </a:solidFill>
                <a:latin typeface="Calibri"/>
              </a:rPr>
              <a:t>react-router-dom — роутинг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FF5A36"/>
                </a:solidFill>
                <a:latin typeface="Calibri"/>
              </a:rPr>
              <a:t>•  </a:t>
            </a:r>
            <a:r>
              <a:rPr sz="1200" b="0">
                <a:solidFill>
                  <a:srgbClr val="8A97A6"/>
                </a:solidFill>
                <a:latin typeface="Calibri"/>
              </a:rPr>
              <a:t>chart.js — графики результатов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FF5A36"/>
                </a:solidFill>
                <a:latin typeface="Calibri"/>
              </a:rPr>
              <a:t>•  </a:t>
            </a:r>
            <a:r>
              <a:rPr sz="1200" b="0">
                <a:solidFill>
                  <a:srgbClr val="8A97A6"/>
                </a:solidFill>
                <a:latin typeface="Calibri"/>
              </a:rPr>
              <a:t>framer-motion — анимации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FF5A36"/>
                </a:solidFill>
                <a:latin typeface="Calibri"/>
              </a:rPr>
              <a:t>•  </a:t>
            </a:r>
            <a:r>
              <a:rPr sz="1200" b="0">
                <a:solidFill>
                  <a:srgbClr val="8A97A6"/>
                </a:solidFill>
                <a:latin typeface="Calibri"/>
              </a:rPr>
              <a:t>lucide-react — иконки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FF5A36"/>
                </a:solidFill>
                <a:latin typeface="Calibri"/>
              </a:rPr>
              <a:t>•  </a:t>
            </a:r>
            <a:r>
              <a:rPr sz="1200" b="0">
                <a:solidFill>
                  <a:srgbClr val="8A97A6"/>
                </a:solidFill>
                <a:latin typeface="Calibri"/>
              </a:rPr>
              <a:t>react-markdown — рендер ответов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783080"/>
            <a:ext cx="3566160" cy="4297680"/>
          </a:xfrm>
          <a:prstGeom prst="roundRect">
            <a:avLst>
              <a:gd name="adj" fmla="val 6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38160" y="1783080"/>
            <a:ext cx="3566160" cy="548640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92024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Инфраструктура (Docker)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514600"/>
            <a:ext cx="320040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FF5A36"/>
                </a:solidFill>
                <a:latin typeface="Calibri"/>
              </a:rPr>
              <a:t>•  </a:t>
            </a:r>
            <a:r>
              <a:rPr sz="1200" b="0">
                <a:solidFill>
                  <a:srgbClr val="8A97A6"/>
                </a:solidFill>
                <a:latin typeface="Calibri"/>
              </a:rPr>
              <a:t>postgres:16-alpine — БД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FF5A36"/>
                </a:solidFill>
                <a:latin typeface="Calibri"/>
              </a:rPr>
              <a:t>•  </a:t>
            </a:r>
            <a:r>
              <a:rPr sz="1200" b="0">
                <a:solidFill>
                  <a:srgbClr val="8A97A6"/>
                </a:solidFill>
                <a:latin typeface="Calibri"/>
              </a:rPr>
              <a:t>service — FastAPI (:8000)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FF5A36"/>
                </a:solidFill>
                <a:latin typeface="Calibri"/>
              </a:rPr>
              <a:t>•  </a:t>
            </a:r>
            <a:r>
              <a:rPr sz="1200" b="0">
                <a:solidFill>
                  <a:srgbClr val="8A97A6"/>
                </a:solidFill>
                <a:latin typeface="Calibri"/>
              </a:rPr>
              <a:t>frontend — Nginx (:8080)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FF5A36"/>
                </a:solidFill>
                <a:latin typeface="Calibri"/>
              </a:rPr>
              <a:t>•  </a:t>
            </a:r>
            <a:r>
              <a:rPr sz="1200" b="0">
                <a:solidFill>
                  <a:srgbClr val="8A97A6"/>
                </a:solidFill>
                <a:latin typeface="Calibri"/>
              </a:rPr>
              <a:t>prometheus — метрики (:9090)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FF5A36"/>
                </a:solidFill>
                <a:latin typeface="Calibri"/>
              </a:rPr>
              <a:t>•  </a:t>
            </a:r>
            <a:r>
              <a:rPr sz="1200" b="0">
                <a:solidFill>
                  <a:srgbClr val="8A97A6"/>
                </a:solidFill>
                <a:latin typeface="Calibri"/>
              </a:rPr>
              <a:t>grafana — дашборды (:3001)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457200" cy="64008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РЕШЕНИЕ И АРХИТЕКТУРА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Структура проекта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EVRAZ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6675120" cy="4297680"/>
          </a:xfrm>
          <a:prstGeom prst="roundRect">
            <a:avLst>
              <a:gd name="adj" fmla="val 5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65960"/>
            <a:ext cx="630936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8A97A6"/>
                </a:solidFill>
                <a:latin typeface="Calibri"/>
              </a:rPr>
              <a:t>├── alembic/            # миграции БД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8A97A6"/>
                </a:solidFill>
                <a:latin typeface="Calibri"/>
              </a:rPr>
              <a:t>├── data/               # рабочие данные, bm25_index.pkl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8A97A6"/>
                </a:solidFill>
                <a:latin typeface="Calibri"/>
              </a:rPr>
              <a:t>├── diagrams/           # Mermaid-диаграммы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8A97A6"/>
                </a:solidFill>
                <a:latin typeface="Calibri"/>
              </a:rPr>
              <a:t>├── docs/               # примеры запросов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8A97A6"/>
                </a:solidFill>
                <a:latin typeface="Calibri"/>
              </a:rPr>
              <a:t>├── frontend/           # React-приложение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8A97A6"/>
                </a:solidFill>
                <a:latin typeface="Calibri"/>
              </a:rPr>
              <a:t>│   └── src/            # pages, components, api, hooks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8A97A6"/>
                </a:solidFill>
                <a:latin typeface="Calibri"/>
              </a:rPr>
              <a:t>├── scripts/            # init-db, prometheus, grafana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8A97A6"/>
                </a:solidFill>
                <a:latin typeface="Calibri"/>
              </a:rPr>
              <a:t>├── src/                # Backend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8A97A6"/>
                </a:solidFill>
                <a:latin typeface="Calibri"/>
              </a:rPr>
              <a:t>│   ├── main.py         # FastAPI app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8A97A6"/>
                </a:solidFill>
                <a:latin typeface="Calibri"/>
              </a:rPr>
              <a:t>│   ├── api/            # роутеры (agent, cache, schema, trace)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8A97A6"/>
                </a:solidFill>
                <a:latin typeface="Calibri"/>
              </a:rPr>
              <a:t>│   ├── core/           # config, db, excel, metrics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8A97A6"/>
                </a:solidFill>
                <a:latin typeface="Calibri"/>
              </a:rPr>
              <a:t>│   └── services/       # agent, llm, mart, excel, entity_resolution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8A97A6"/>
                </a:solidFill>
                <a:latin typeface="Calibri"/>
              </a:rPr>
              <a:t>├── tests/              # pytest, golden dataset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8A97A6"/>
                </a:solidFill>
                <a:latin typeface="Calibri"/>
              </a:rPr>
              <a:t>└── PROJECT.md          # подробное техническое описание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178308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Ключевые каталоги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2240280"/>
            <a:ext cx="411480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1">
                <a:solidFill>
                  <a:srgbClr val="FFB199"/>
                </a:solidFill>
                <a:latin typeface="Calibri"/>
              </a:rPr>
              <a:t>src/services/agent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200" b="0">
                <a:solidFill>
                  <a:srgbClr val="8A97A6"/>
                </a:solidFill>
                <a:latin typeface="Calibri"/>
              </a:rPr>
              <a:t>LangGraph-граф, узлы, sql_compiler, промпты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1">
                <a:solidFill>
                  <a:srgbClr val="FFB199"/>
                </a:solidFill>
                <a:latin typeface="Calibri"/>
              </a:rPr>
              <a:t>src/core/excel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200" b="0">
                <a:solidFill>
                  <a:srgbClr val="8A97A6"/>
                </a:solidFill>
                <a:latin typeface="Calibri"/>
              </a:rPr>
              <a:t>парсер, нормализация, schema_inference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1">
                <a:solidFill>
                  <a:srgbClr val="FFB199"/>
                </a:solidFill>
                <a:latin typeface="Calibri"/>
              </a:rPr>
              <a:t>src/services/mart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200" b="0">
                <a:solidFill>
                  <a:srgbClr val="8A97A6"/>
                </a:solidFill>
                <a:latin typeface="Calibri"/>
              </a:rPr>
              <a:t>нормализация в витрину (price_facts, metrics)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1">
                <a:solidFill>
                  <a:srgbClr val="FFB199"/>
                </a:solidFill>
                <a:latin typeface="Calibri"/>
              </a:rPr>
              <a:t>src/services/llm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200" b="0">
                <a:solidFill>
                  <a:srgbClr val="8A97A6"/>
                </a:solidFill>
                <a:latin typeface="Calibri"/>
              </a:rPr>
              <a:t>LLMClient, structured output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1">
                <a:solidFill>
                  <a:srgbClr val="FFB199"/>
                </a:solidFill>
                <a:latin typeface="Calibri"/>
              </a:rPr>
              <a:t>src/services/entity_resolution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200" b="0">
                <a:solidFill>
                  <a:srgbClr val="8A97A6"/>
                </a:solidFill>
                <a:latin typeface="Calibri"/>
              </a:rPr>
              <a:t>fuzzy-match, query_cache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1">
                <a:solidFill>
                  <a:srgbClr val="FFB199"/>
                </a:solidFill>
                <a:latin typeface="Calibri"/>
              </a:rPr>
              <a:t>frontend/src/pages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200" b="0">
                <a:solidFill>
                  <a:srgbClr val="8A97A6"/>
                </a:solidFill>
                <a:latin typeface="Calibri"/>
              </a:rPr>
              <a:t>Chat, Files, Dashboard, Metrics, Trace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32004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0" b="1" i="0">
                <a:solidFill>
                  <a:srgbClr val="FF5A36"/>
                </a:solidFill>
                <a:latin typeface="Calibri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977639"/>
            <a:ext cx="1097280" cy="73152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1605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Обработка данных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8A97A6"/>
                </a:solidFill>
                <a:latin typeface="Calibri"/>
              </a:rPr>
              <a:t>Пайплайн ingestion, парсинг Excel, витрина данных и схема базы данных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EVRAZ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457200" cy="64008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ОБРАБОТКА ДАННЫХ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Поток обработки файла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EVRAZ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13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783080"/>
            <a:ext cx="640080" cy="658368"/>
          </a:xfrm>
          <a:prstGeom prst="ellipse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11095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80136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Upload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148840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A97A6"/>
                </a:solidFill>
                <a:latin typeface="Calibri"/>
              </a:rPr>
              <a:t>Файл сохраняется, статус uploaded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624328"/>
            <a:ext cx="640080" cy="658368"/>
          </a:xfrm>
          <a:prstGeom prst="ellipse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752344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642616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Ingestion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990088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A97A6"/>
                </a:solidFill>
                <a:latin typeface="Calibri"/>
              </a:rPr>
              <a:t>Асинхронный парсинг Excel: листы, колонки, ячейки, комментарии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465576"/>
            <a:ext cx="640080" cy="658368"/>
          </a:xfrm>
          <a:prstGeom prst="ellipse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593592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483864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Schema Inference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831336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A97A6"/>
                </a:solidFill>
                <a:latin typeface="Calibri"/>
              </a:rPr>
              <a:t>LLM предлагает схему для новых форматов; известные — по Template Fingerprint без LLM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4306824"/>
            <a:ext cx="640080" cy="658368"/>
          </a:xfrm>
          <a:prstGeom prst="ellipse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434840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32511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Normalize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672584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A97A6"/>
                </a:solidFill>
                <a:latin typeface="Calibri"/>
              </a:rPr>
              <a:t>Перенос в витрину данных, идемпотентно — повторная заливка без дублей</a:t>
            </a:r>
          </a:p>
        </p:txBody>
      </p:sp>
      <p:sp>
        <p:nvSpPr>
          <p:cNvPr id="24" name="Oval 23"/>
          <p:cNvSpPr/>
          <p:nvPr/>
        </p:nvSpPr>
        <p:spPr>
          <a:xfrm>
            <a:off x="548640" y="5148072"/>
            <a:ext cx="640080" cy="658368"/>
          </a:xfrm>
          <a:prstGeom prst="ellipse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276088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5166359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Entity Resolution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5513832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A97A6"/>
                </a:solidFill>
                <a:latin typeface="Calibri"/>
              </a:rPr>
              <a:t>Сбор справочников сущностей для ответов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6035040"/>
            <a:ext cx="11064240" cy="502920"/>
          </a:xfrm>
          <a:prstGeom prst="roundRect">
            <a:avLst>
              <a:gd name="adj" fmla="val 15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614476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B199"/>
                </a:solidFill>
                <a:latin typeface="Calibri"/>
              </a:rPr>
              <a:t>uploaded  →  processing  →  ready  |  failed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457200" cy="64008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ОБРАБОТКА ДАННЫХ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Пайплайн Excel-инжеста — диаграмма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EVRAZ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27632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POST /files/upload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08960" y="1783080"/>
            <a:ext cx="548640" cy="0"/>
          </a:xfrm>
          <a:prstGeom prst="line">
            <a:avLst/>
          </a:prstGeom>
          <a:ln w="19050">
            <a:solidFill>
              <a:srgbClr val="FF5A3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iamond 10"/>
          <p:cNvSpPr/>
          <p:nvPr/>
        </p:nvSpPr>
        <p:spPr>
          <a:xfrm>
            <a:off x="3657600" y="1463040"/>
            <a:ext cx="2560320" cy="640080"/>
          </a:xfrm>
          <a:prstGeom prst="diamond">
            <a:avLst/>
          </a:prstGeom>
          <a:solidFill>
            <a:srgbClr val="262C33"/>
          </a:solidFill>
          <a:ln w="15240">
            <a:solidFill>
              <a:srgbClr val="FF5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162763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Валидация
.xlsx/.xls, max 50 МБ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217920" y="1783080"/>
            <a:ext cx="548640" cy="0"/>
          </a:xfrm>
          <a:prstGeom prst="line">
            <a:avLst/>
          </a:prstGeom>
          <a:ln w="15240">
            <a:solidFill>
              <a:srgbClr val="C6282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63640" y="1572768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C62828"/>
                </a:solidFill>
                <a:latin typeface="Calibri"/>
              </a:rPr>
              <a:t>нет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0" y="1554480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262C33"/>
          </a:solidFill>
          <a:ln w="1524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162763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C62828"/>
                </a:solidFill>
                <a:latin typeface="Calibri"/>
              </a:rPr>
              <a:t>400 ValidationError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37760" y="2103120"/>
            <a:ext cx="0" cy="274320"/>
          </a:xfrm>
          <a:prstGeom prst="line">
            <a:avLst/>
          </a:prstGeom>
          <a:ln w="19050">
            <a:solidFill>
              <a:srgbClr val="FF5A3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029200" y="2121408"/>
            <a:ext cx="731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2E7D32"/>
                </a:solidFill>
                <a:latin typeface="Calibri"/>
              </a:rPr>
              <a:t>да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0" y="2377440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39" y="245059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Запись во временный файл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937760" y="2834640"/>
            <a:ext cx="0" cy="274320"/>
          </a:xfrm>
          <a:prstGeom prst="line">
            <a:avLst/>
          </a:prstGeom>
          <a:ln w="19050">
            <a:solidFill>
              <a:srgbClr val="FF5A3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657600" y="3108960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49039" y="318211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IngestionQueue (async worker)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937760" y="3566160"/>
            <a:ext cx="0" cy="274320"/>
          </a:xfrm>
          <a:prstGeom prst="line">
            <a:avLst/>
          </a:prstGeom>
          <a:ln w="19050">
            <a:solidFill>
              <a:srgbClr val="FF5A3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57200" y="3840480"/>
            <a:ext cx="8961120" cy="1737360"/>
          </a:xfrm>
          <a:prstGeom prst="roundRect">
            <a:avLst>
              <a:gd name="adj" fmla="val 5000"/>
            </a:avLst>
          </a:prstGeom>
          <a:solidFill>
            <a:srgbClr val="262C33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13632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B199"/>
                </a:solidFill>
                <a:latin typeface="Calibri"/>
              </a:rPr>
              <a:t>Парсинг (src/core/excel)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297680"/>
            <a:ext cx="2011680" cy="502920"/>
          </a:xfrm>
          <a:prstGeom prst="roundRect">
            <a:avLst>
              <a:gd name="adj" fmla="val 10000"/>
            </a:avLst>
          </a:prstGeom>
          <a:solidFill>
            <a:srgbClr val="1B1F24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37083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FFFFFF"/>
                </a:solidFill>
                <a:latin typeface="Calibri"/>
              </a:rPr>
              <a:t>ExcelParser
unmerge, detect header rows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743200" y="4544568"/>
            <a:ext cx="365760" cy="0"/>
          </a:xfrm>
          <a:prstGeom prst="line">
            <a:avLst/>
          </a:prstGeom>
          <a:ln w="19050">
            <a:solidFill>
              <a:srgbClr val="FF5A3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3108960" y="4297680"/>
            <a:ext cx="2011680" cy="502920"/>
          </a:xfrm>
          <a:prstGeom prst="roundRect">
            <a:avLst>
              <a:gd name="adj" fmla="val 10000"/>
            </a:avLst>
          </a:prstGeom>
          <a:solidFill>
            <a:srgbClr val="1B1F24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0" y="437083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FFFFFF"/>
                </a:solidFill>
                <a:latin typeface="Calibri"/>
              </a:rPr>
              <a:t>Pydantic ParsedFile
sheets / headers / cells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4983480"/>
            <a:ext cx="1554480" cy="457200"/>
          </a:xfrm>
          <a:prstGeom prst="roundRect">
            <a:avLst>
              <a:gd name="adj" fmla="val 10000"/>
            </a:avLst>
          </a:prstGeom>
          <a:solidFill>
            <a:srgbClr val="1B1F24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" y="5074920"/>
            <a:ext cx="14081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FFFFFF"/>
                </a:solidFill>
                <a:latin typeface="Calibri"/>
              </a:rPr>
              <a:t>ExcelNormalizer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1508760" y="4800600"/>
            <a:ext cx="2606040" cy="182880"/>
          </a:xfrm>
          <a:prstGeom prst="line">
            <a:avLst/>
          </a:prstGeom>
          <a:ln w="12700">
            <a:solidFill>
              <a:srgbClr val="8A97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2468880" y="4983480"/>
            <a:ext cx="1554480" cy="457200"/>
          </a:xfrm>
          <a:prstGeom prst="roundRect">
            <a:avLst>
              <a:gd name="adj" fmla="val 10000"/>
            </a:avLst>
          </a:prstGeom>
          <a:solidFill>
            <a:srgbClr val="1B1F24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42032" y="5074920"/>
            <a:ext cx="14081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FFFFFF"/>
                </a:solidFill>
                <a:latin typeface="Calibri"/>
              </a:rPr>
              <a:t>sheet_kind_detector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3246120" y="4800600"/>
            <a:ext cx="868680" cy="182880"/>
          </a:xfrm>
          <a:prstGeom prst="line">
            <a:avLst/>
          </a:prstGeom>
          <a:ln w="12700">
            <a:solidFill>
              <a:srgbClr val="8A97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4206240" y="4983480"/>
            <a:ext cx="1554480" cy="457200"/>
          </a:xfrm>
          <a:prstGeom prst="roundRect">
            <a:avLst>
              <a:gd name="adj" fmla="val 10000"/>
            </a:avLst>
          </a:prstGeom>
          <a:solidFill>
            <a:srgbClr val="1B1F24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79392" y="5074920"/>
            <a:ext cx="14081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FFFFFF"/>
                </a:solidFill>
                <a:latin typeface="Calibri"/>
              </a:rPr>
              <a:t>TableStructurer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114800" y="4800600"/>
            <a:ext cx="868679" cy="182880"/>
          </a:xfrm>
          <a:prstGeom prst="line">
            <a:avLst/>
          </a:prstGeom>
          <a:ln w="12700">
            <a:solidFill>
              <a:srgbClr val="8A97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5943600" y="4983480"/>
            <a:ext cx="1554480" cy="457200"/>
          </a:xfrm>
          <a:prstGeom prst="roundRect">
            <a:avLst>
              <a:gd name="adj" fmla="val 10000"/>
            </a:avLst>
          </a:prstGeom>
          <a:solidFill>
            <a:srgbClr val="1B1F24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16752" y="5074920"/>
            <a:ext cx="14081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FFFFFF"/>
                </a:solidFill>
                <a:latin typeface="Calibri"/>
              </a:rPr>
              <a:t>comment_extractor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114800" y="4800600"/>
            <a:ext cx="2606040" cy="182880"/>
          </a:xfrm>
          <a:prstGeom prst="line">
            <a:avLst/>
          </a:prstGeom>
          <a:ln w="12700">
            <a:solidFill>
              <a:srgbClr val="8A97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731520" y="5852160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" y="5925312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SQLAlchemyExcelRepository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508760" y="5440680"/>
            <a:ext cx="0" cy="411480"/>
          </a:xfrm>
          <a:prstGeom prst="line">
            <a:avLst/>
          </a:prstGeom>
          <a:ln w="19050">
            <a:solidFill>
              <a:srgbClr val="FF5A3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3657600" y="5852160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49039" y="592531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RAW: files, sheets, cells…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3108960" y="6080760"/>
            <a:ext cx="548640" cy="0"/>
          </a:xfrm>
          <a:prstGeom prst="line">
            <a:avLst/>
          </a:prstGeom>
          <a:ln w="19050">
            <a:solidFill>
              <a:srgbClr val="FF5A3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6766560" y="5852160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58000" y="592531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normalize_file_to_mart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217920" y="6080760"/>
            <a:ext cx="548640" cy="0"/>
          </a:xfrm>
          <a:prstGeom prst="line">
            <a:avLst/>
          </a:prstGeom>
          <a:ln w="19050">
            <a:solidFill>
              <a:srgbClr val="FF5A3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6766560" y="6400800"/>
            <a:ext cx="2560320" cy="365760"/>
          </a:xfrm>
          <a:prstGeom prst="roundRect">
            <a:avLst>
              <a:gd name="adj" fmla="val 50000"/>
            </a:avLst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58000" y="644652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File status = processed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457200" cy="64008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ОБРАБОТКА ДАННЫХ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Парсинг Excel и Schema Inference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EVRAZ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Модули парсинга (src/core/excel)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53035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1">
                <a:solidFill>
                  <a:srgbClr val="FFB199"/>
                </a:solidFill>
                <a:latin typeface="Calibri"/>
              </a:rPr>
              <a:t>parser.py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00" b="0">
                <a:solidFill>
                  <a:srgbClr val="8A97A6"/>
                </a:solidFill>
                <a:latin typeface="Calibri"/>
              </a:rPr>
              <a:t>чтение .xlsx через openpyxl/pandas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1">
                <a:solidFill>
                  <a:srgbClr val="FFB199"/>
                </a:solidFill>
                <a:latin typeface="Calibri"/>
              </a:rPr>
              <a:t>comment_extractor.py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00" b="0">
                <a:solidFill>
                  <a:srgbClr val="8A97A6"/>
                </a:solidFill>
                <a:latin typeface="Calibri"/>
              </a:rPr>
              <a:t>извлечение комментариев ячеек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1">
                <a:solidFill>
                  <a:srgbClr val="FFB199"/>
                </a:solidFill>
                <a:latin typeface="Calibri"/>
              </a:rPr>
              <a:t>normalize.py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00" b="0">
                <a:solidFill>
                  <a:srgbClr val="8A97A6"/>
                </a:solidFill>
                <a:latin typeface="Calibri"/>
              </a:rPr>
              <a:t>нормализация имён листов/колонок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1">
                <a:solidFill>
                  <a:srgbClr val="FFB199"/>
                </a:solidFill>
                <a:latin typeface="Calibri"/>
              </a:rPr>
              <a:t>schema_inference.py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00" b="0">
                <a:solidFill>
                  <a:srgbClr val="8A97A6"/>
                </a:solidFill>
                <a:latin typeface="Calibri"/>
              </a:rPr>
              <a:t>авто-определение типов колонок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1">
                <a:solidFill>
                  <a:srgbClr val="FFB199"/>
                </a:solidFill>
                <a:latin typeface="Calibri"/>
              </a:rPr>
              <a:t>sheet_kind_detector.py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00" b="0">
                <a:solidFill>
                  <a:srgbClr val="8A97A6"/>
                </a:solidFill>
                <a:latin typeface="Calibri"/>
              </a:rPr>
              <a:t>вид листа: prices / metrics / generic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1">
                <a:solidFill>
                  <a:srgbClr val="FFB199"/>
                </a:solidFill>
                <a:latin typeface="Calibri"/>
              </a:rPr>
              <a:t>table_structurer.py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00" b="0">
                <a:solidFill>
                  <a:srgbClr val="8A97A6"/>
                </a:solidFill>
                <a:latin typeface="Calibri"/>
              </a:rPr>
              <a:t>структуризация таблицы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1">
                <a:solidFill>
                  <a:srgbClr val="FFB199"/>
                </a:solidFill>
                <a:latin typeface="Calibri"/>
              </a:rPr>
              <a:t>template_fingerprint.py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00" b="0">
                <a:solidFill>
                  <a:srgbClr val="8A97A6"/>
                </a:solidFill>
                <a:latin typeface="Calibri"/>
              </a:rPr>
              <a:t>отпечаток шаблона листа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78308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Schema Inference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240280"/>
            <a:ext cx="5303520" cy="822960"/>
          </a:xfrm>
          <a:prstGeom prst="roundRect">
            <a:avLst>
              <a:gd name="adj" fmla="val 10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33172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5A36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331720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Fingerprint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65176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A97A6"/>
                </a:solidFill>
                <a:latin typeface="Calibri"/>
              </a:rPr>
              <a:t>compute_sheet_fingerprint — отпечаток структуры листа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200400"/>
            <a:ext cx="5303520" cy="822960"/>
          </a:xfrm>
          <a:prstGeom prst="roundRect">
            <a:avLst>
              <a:gd name="adj" fmla="val 10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29184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5A36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291840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Шаблон найден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61188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A97A6"/>
                </a:solidFill>
                <a:latin typeface="Calibri"/>
              </a:rPr>
              <a:t>схема применяется без LLM (mart.sheet_templates)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4160520"/>
            <a:ext cx="5303520" cy="822960"/>
          </a:xfrm>
          <a:prstGeom prst="roundRect">
            <a:avLst>
              <a:gd name="adj" fmla="val 10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25196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5A36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4251960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LLM-инференс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457200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A97A6"/>
                </a:solidFill>
                <a:latin typeface="Calibri"/>
              </a:rPr>
              <a:t>структурный вывод Pydantic SheetSchema → pending_confirmation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5120640"/>
            <a:ext cx="5303520" cy="822960"/>
          </a:xfrm>
          <a:prstGeom prst="roundRect">
            <a:avLst>
              <a:gd name="adj" fmla="val 10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521208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5A36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5212080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Подтверждение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553212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A97A6"/>
                </a:solidFill>
                <a:latin typeface="Calibri"/>
              </a:rPr>
              <a:t>пользователь правит/подтверждает схему → confirmed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457200" cy="64008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ОБРАБОТКА ДАННЫХ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Витрина данных (mart)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EVRAZ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mart.price_facts — цены лома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214884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13816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Колонка</a:t>
                      </a:r>
                    </a:p>
                  </a:txBody>
                  <a:tcPr marL="91440" marR="91440" marT="27432" marB="27432" anchor="ctr">
                    <a:solidFill>
                      <a:srgbClr val="1C729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Пример</a:t>
                      </a:r>
                    </a:p>
                  </a:txBody>
                  <a:tcPr marL="91440" marR="91440" marT="27432" marB="27432" anchor="ctr">
                    <a:solidFill>
                      <a:srgbClr val="1C729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1F24"/>
                          </a:solidFill>
                          <a:latin typeface="Calibri"/>
                        </a:rPr>
                        <a:t>sheet_period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1F24"/>
                          </a:solidFill>
                          <a:latin typeface="Calibri"/>
                        </a:rPr>
                        <a:t>2025-01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1F24"/>
                          </a:solidFill>
                          <a:latin typeface="Calibri"/>
                        </a:rPr>
                        <a:t>item_name</a:t>
                      </a:r>
                    </a:p>
                  </a:txBody>
                  <a:tcPr marL="91440" marR="91440" marT="27432" marB="27432" anchor="ctr">
                    <a:solidFill>
                      <a:srgbClr val="F0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1F24"/>
                          </a:solidFill>
                          <a:latin typeface="Calibri"/>
                        </a:rPr>
                        <a:t>Лом меди марки А</a:t>
                      </a:r>
                    </a:p>
                  </a:txBody>
                  <a:tcPr marL="91440" marR="91440" marT="27432" marB="27432" anchor="ctr">
                    <a:solidFill>
                      <a:srgbClr val="F0F2F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1F24"/>
                          </a:solidFill>
                          <a:latin typeface="Calibri"/>
                        </a:rPr>
                        <a:t>supplier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1F24"/>
                          </a:solidFill>
                          <a:latin typeface="Calibri"/>
                        </a:rPr>
                        <a:t>Сплав-21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1F24"/>
                          </a:solidFill>
                          <a:latin typeface="Calibri"/>
                        </a:rPr>
                        <a:t>price_type</a:t>
                      </a:r>
                    </a:p>
                  </a:txBody>
                  <a:tcPr marL="91440" marR="91440" marT="27432" marB="27432" anchor="ctr">
                    <a:solidFill>
                      <a:srgbClr val="F0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1F24"/>
                          </a:solidFill>
                          <a:latin typeface="Calibri"/>
                        </a:rPr>
                        <a:t>среднерыночная / аукцион_старт / поставщик</a:t>
                      </a:r>
                    </a:p>
                  </a:txBody>
                  <a:tcPr marL="91440" marR="91440" marT="27432" marB="27432" anchor="ctr">
                    <a:solidFill>
                      <a:srgbClr val="F0F2F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1F24"/>
                          </a:solidFill>
                          <a:latin typeface="Calibri"/>
                        </a:rPr>
                        <a:t>value, currency, unit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1F24"/>
                          </a:solidFill>
                          <a:latin typeface="Calibri"/>
                        </a:rPr>
                        <a:t>486 500, ₽, т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1F24"/>
                          </a:solidFill>
                          <a:latin typeface="Calibri"/>
                        </a:rPr>
                        <a:t>is_blank</a:t>
                      </a:r>
                    </a:p>
                  </a:txBody>
                  <a:tcPr marL="91440" marR="91440" marT="27432" marB="27432" anchor="ctr">
                    <a:solidFill>
                      <a:srgbClr val="F0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1F24"/>
                          </a:solidFill>
                          <a:latin typeface="Calibri"/>
                        </a:rPr>
                        <a:t>0/1 (пустые ячейки не превращаются в 0)</a:t>
                      </a:r>
                    </a:p>
                  </a:txBody>
                  <a:tcPr marL="91440" marR="91440" marT="27432" marB="27432" anchor="ctr"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470916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mart.metrics — производственные метрики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120640"/>
            <a:ext cx="11064240" cy="685800"/>
          </a:xfrm>
          <a:prstGeom prst="roundRect">
            <a:avLst>
              <a:gd name="adj" fmla="val 10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28523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8A97A6"/>
                </a:solidFill>
                <a:latin typeface="Calibri"/>
              </a:rPr>
              <a:t>dimension · period · metric_type · metric · value · unit · is_blank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943600"/>
            <a:ext cx="11064240" cy="548640"/>
          </a:xfrm>
          <a:prstGeom prst="roundRect">
            <a:avLst>
              <a:gd name="adj" fmla="val 12000"/>
            </a:avLst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605332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Long-факт-таблицы: агент генерирует простой SQL без обращения к сырым ячейкам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457200" cy="64008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ОБРАБОТКА ДАННЫХ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Схема базы данных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EVRAZ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Схема public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2148840"/>
          <a:ext cx="53949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38328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Таблица</a:t>
                      </a:r>
                    </a:p>
                  </a:txBody>
                  <a:tcPr marL="91440" marR="91440" marT="27432" marB="27432" anchor="ctr">
                    <a:solidFill>
                      <a:srgbClr val="1C729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Назначение</a:t>
                      </a:r>
                    </a:p>
                  </a:txBody>
                  <a:tcPr marL="91440" marR="91440" marT="27432" marB="27432" anchor="ctr">
                    <a:solidFill>
                      <a:srgbClr val="1C7293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1F24"/>
                          </a:solidFill>
                          <a:latin typeface="Calibri"/>
                        </a:rPr>
                        <a:t>files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1F24"/>
                          </a:solidFill>
                          <a:latin typeface="Calibri"/>
                        </a:rPr>
                        <a:t>загруженные файлы (hash, статус)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1F24"/>
                          </a:solidFill>
                          <a:latin typeface="Calibri"/>
                        </a:rPr>
                        <a:t>sheets</a:t>
                      </a:r>
                    </a:p>
                  </a:txBody>
                  <a:tcPr marL="91440" marR="91440" marT="27432" marB="27432" anchor="ctr">
                    <a:solidFill>
                      <a:srgbClr val="F0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1F24"/>
                          </a:solidFill>
                          <a:latin typeface="Calibri"/>
                        </a:rPr>
                        <a:t>листы (имя, период, kind)</a:t>
                      </a:r>
                    </a:p>
                  </a:txBody>
                  <a:tcPr marL="91440" marR="91440" marT="27432" marB="27432" anchor="ctr">
                    <a:solidFill>
                      <a:srgbClr val="F0F2F5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1F24"/>
                          </a:solidFill>
                          <a:latin typeface="Calibri"/>
                        </a:rPr>
                        <a:t>column_metadata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1F24"/>
                          </a:solidFill>
                          <a:latin typeface="Calibri"/>
                        </a:rPr>
                        <a:t>колонки листов (тип, роль)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1F24"/>
                          </a:solidFill>
                          <a:latin typeface="Calibri"/>
                        </a:rPr>
                        <a:t>cells</a:t>
                      </a:r>
                    </a:p>
                  </a:txBody>
                  <a:tcPr marL="91440" marR="91440" marT="27432" marB="27432" anchor="ctr">
                    <a:solidFill>
                      <a:srgbClr val="F0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1F24"/>
                          </a:solidFill>
                          <a:latin typeface="Calibri"/>
                        </a:rPr>
                        <a:t>сырые ячейки</a:t>
                      </a:r>
                    </a:p>
                  </a:txBody>
                  <a:tcPr marL="91440" marR="91440" marT="27432" marB="27432" anchor="ctr">
                    <a:solidFill>
                      <a:srgbClr val="F0F2F5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1F24"/>
                          </a:solidFill>
                          <a:latin typeface="Calibri"/>
                        </a:rPr>
                        <a:t>entity_dictionary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1F24"/>
                          </a:solidFill>
                          <a:latin typeface="Calibri"/>
                        </a:rPr>
                        <a:t>словарь сущностей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1F24"/>
                          </a:solidFill>
                          <a:latin typeface="Calibri"/>
                        </a:rPr>
                        <a:t>excel_comments</a:t>
                      </a:r>
                    </a:p>
                  </a:txBody>
                  <a:tcPr marL="91440" marR="91440" marT="27432" marB="27432" anchor="ctr">
                    <a:solidFill>
                      <a:srgbClr val="F0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1F24"/>
                          </a:solidFill>
                          <a:latin typeface="Calibri"/>
                        </a:rPr>
                        <a:t>комментарии ячеек</a:t>
                      </a:r>
                    </a:p>
                  </a:txBody>
                  <a:tcPr marL="91440" marR="91440" marT="27432" marB="27432" anchor="ctr">
                    <a:solidFill>
                      <a:srgbClr val="F0F2F5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1F24"/>
                          </a:solidFill>
                          <a:latin typeface="Calibri"/>
                        </a:rPr>
                        <a:t>query_cache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1F24"/>
                          </a:solidFill>
                          <a:latin typeface="Calibri"/>
                        </a:rPr>
                        <a:t>кэш вопрос → SQL/результат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1F24"/>
                          </a:solidFill>
                          <a:latin typeface="Calibri"/>
                        </a:rPr>
                        <a:t>golden_dataset</a:t>
                      </a:r>
                    </a:p>
                  </a:txBody>
                  <a:tcPr marL="91440" marR="91440" marT="27432" marB="27432" anchor="ctr">
                    <a:solidFill>
                      <a:srgbClr val="F0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1F24"/>
                          </a:solidFill>
                          <a:latin typeface="Calibri"/>
                        </a:rPr>
                        <a:t>эталонные вопросы</a:t>
                      </a:r>
                    </a:p>
                  </a:txBody>
                  <a:tcPr marL="91440" marR="91440" marT="27432" marB="27432" anchor="ctr">
                    <a:solidFill>
                      <a:srgbClr val="F0F2F5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1F24"/>
                          </a:solidFill>
                          <a:latin typeface="Calibri"/>
                        </a:rPr>
                        <a:t>query_logs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1F24"/>
                          </a:solidFill>
                          <a:latin typeface="Calibri"/>
                        </a:rPr>
                        <a:t>журнал запросов и трейсов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09360" y="173736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Схема mart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309360" y="2148840"/>
          <a:ext cx="53949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38328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Таблица</a:t>
                      </a:r>
                    </a:p>
                  </a:txBody>
                  <a:tcPr marL="91440" marR="91440" marT="27432" marB="27432" anchor="ctr">
                    <a:solidFill>
                      <a:srgbClr val="1C729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Назначение</a:t>
                      </a:r>
                    </a:p>
                  </a:txBody>
                  <a:tcPr marL="91440" marR="91440" marT="27432" marB="27432" anchor="ctr">
                    <a:solidFill>
                      <a:srgbClr val="1C7293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1F24"/>
                          </a:solidFill>
                          <a:latin typeface="Calibri"/>
                        </a:rPr>
                        <a:t>price_facts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1F24"/>
                          </a:solidFill>
                          <a:latin typeface="Calibri"/>
                        </a:rPr>
                        <a:t>нормализованные цены лома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1F24"/>
                          </a:solidFill>
                          <a:latin typeface="Calibri"/>
                        </a:rPr>
                        <a:t>metrics</a:t>
                      </a:r>
                    </a:p>
                  </a:txBody>
                  <a:tcPr marL="91440" marR="91440" marT="27432" marB="27432" anchor="ctr">
                    <a:solidFill>
                      <a:srgbClr val="F0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1F24"/>
                          </a:solidFill>
                          <a:latin typeface="Calibri"/>
                        </a:rPr>
                        <a:t>производственные метрики</a:t>
                      </a:r>
                    </a:p>
                  </a:txBody>
                  <a:tcPr marL="91440" marR="91440" marT="27432" marB="27432" anchor="ctr">
                    <a:solidFill>
                      <a:srgbClr val="F0F2F5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1F24"/>
                          </a:solidFill>
                          <a:latin typeface="Calibri"/>
                        </a:rPr>
                        <a:t>sheet_templates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1F24"/>
                          </a:solidFill>
                          <a:latin typeface="Calibri"/>
                        </a:rPr>
                        <a:t>шаблоны листов по fingerprint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1F24"/>
                          </a:solidFill>
                          <a:latin typeface="Calibri"/>
                        </a:rPr>
                        <a:t>supplier_aliases</a:t>
                      </a:r>
                    </a:p>
                  </a:txBody>
                  <a:tcPr marL="91440" marR="91440" marT="27432" marB="27432" anchor="ctr">
                    <a:solidFill>
                      <a:srgbClr val="F0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1F24"/>
                          </a:solidFill>
                          <a:latin typeface="Calibri"/>
                        </a:rPr>
                        <a:t>алиасы поставщиков</a:t>
                      </a:r>
                    </a:p>
                  </a:txBody>
                  <a:tcPr marL="91440" marR="91440" marT="27432" marB="27432" anchor="ctr"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48640" y="5623560"/>
            <a:ext cx="11064240" cy="777240"/>
          </a:xfrm>
          <a:prstGeom prst="roundRect">
            <a:avLst>
              <a:gd name="adj" fmla="val 10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7607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Особенность: </a:t>
            </a:r>
            <a:r>
              <a:rPr sz="1300" b="0">
                <a:solidFill>
                  <a:srgbClr val="8A97A6"/>
                </a:solidFill>
                <a:latin typeface="Calibri"/>
              </a:rPr>
              <a:t>булевы поля (is_blank, sheet_kind_auto, is_active) объявлены как Integer (0/1) — в SQL их нужно сравнивать с числами, а не с TRUE/FALSE.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457200" cy="64008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ОБРАБОТКА ДАННЫХ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Схема базы данных — ER-диаграмма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EVRAZ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2468880" cy="1371600"/>
          </a:xfrm>
          <a:prstGeom prst="roundRect">
            <a:avLst>
              <a:gd name="adj" fmla="val 6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2468880" cy="292608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591056"/>
            <a:ext cx="232257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FILES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20240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97A6"/>
                </a:solidFill>
                <a:latin typeface="Calibri"/>
              </a:rPr>
              <a:t>id PK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8A97A6"/>
                </a:solidFill>
                <a:latin typeface="Calibri"/>
              </a:rPr>
              <a:t>filename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8A97A6"/>
                </a:solidFill>
                <a:latin typeface="Calibri"/>
              </a:rPr>
              <a:t>file_hash UK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8A97A6"/>
                </a:solidFill>
                <a:latin typeface="Calibri"/>
              </a:rPr>
              <a:t>status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8A97A6"/>
                </a:solidFill>
                <a:latin typeface="Calibri"/>
              </a:rPr>
              <a:t>uploaded_at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108960"/>
            <a:ext cx="2468880" cy="1188720"/>
          </a:xfrm>
          <a:prstGeom prst="roundRect">
            <a:avLst>
              <a:gd name="adj" fmla="val 6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3108960"/>
            <a:ext cx="2468880" cy="292608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3145536"/>
            <a:ext cx="232257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SHEETS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474720"/>
            <a:ext cx="2286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97A6"/>
                </a:solidFill>
                <a:latin typeface="Calibri"/>
              </a:rPr>
              <a:t>id PK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8A97A6"/>
                </a:solidFill>
                <a:latin typeface="Calibri"/>
              </a:rPr>
              <a:t>file_id FK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8A97A6"/>
                </a:solidFill>
                <a:latin typeface="Calibri"/>
              </a:rPr>
              <a:t>original_name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8A97A6"/>
                </a:solidFill>
                <a:latin typeface="Calibri"/>
              </a:rPr>
              <a:t>period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8A97A6"/>
                </a:solidFill>
                <a:latin typeface="Calibri"/>
              </a:rPr>
              <a:t>sheet_kind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572000"/>
            <a:ext cx="2468880" cy="1188720"/>
          </a:xfrm>
          <a:prstGeom prst="roundRect">
            <a:avLst>
              <a:gd name="adj" fmla="val 6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" y="4572000"/>
            <a:ext cx="2468880" cy="292608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4608576"/>
            <a:ext cx="232257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COLUMN_METADATA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937760"/>
            <a:ext cx="2286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97A6"/>
                </a:solidFill>
                <a:latin typeface="Calibri"/>
              </a:rPr>
              <a:t>id PK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8A97A6"/>
                </a:solidFill>
                <a:latin typeface="Calibri"/>
              </a:rPr>
              <a:t>sheet_id FK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8A97A6"/>
                </a:solidFill>
                <a:latin typeface="Calibri"/>
              </a:rPr>
              <a:t>col_index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8A97A6"/>
                </a:solidFill>
                <a:latin typeface="Calibri"/>
              </a:rPr>
              <a:t>data_type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8A97A6"/>
                </a:solidFill>
                <a:latin typeface="Calibri"/>
              </a:rPr>
              <a:t>role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0" y="4572000"/>
            <a:ext cx="2468880" cy="1188720"/>
          </a:xfrm>
          <a:prstGeom prst="roundRect">
            <a:avLst>
              <a:gd name="adj" fmla="val 6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200400" y="4572000"/>
            <a:ext cx="2468880" cy="292608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73552" y="4608576"/>
            <a:ext cx="232257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CELLS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4937760"/>
            <a:ext cx="2286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97A6"/>
                </a:solidFill>
                <a:latin typeface="Calibri"/>
              </a:rPr>
              <a:t>id PK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8A97A6"/>
                </a:solidFill>
                <a:latin typeface="Calibri"/>
              </a:rPr>
              <a:t>sheet_id FK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8A97A6"/>
                </a:solidFill>
                <a:latin typeface="Calibri"/>
              </a:rPr>
              <a:t>row_num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8A97A6"/>
                </a:solidFill>
                <a:latin typeface="Calibri"/>
              </a:rPr>
              <a:t>value_text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8A97A6"/>
                </a:solidFill>
                <a:latin typeface="Calibri"/>
              </a:rPr>
              <a:t>value_number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0" y="4572000"/>
            <a:ext cx="2468880" cy="1188720"/>
          </a:xfrm>
          <a:prstGeom prst="roundRect">
            <a:avLst>
              <a:gd name="adj" fmla="val 6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943600" y="4572000"/>
            <a:ext cx="2468880" cy="292608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16752" y="4608576"/>
            <a:ext cx="232257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EXCEL_COMMENTS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4937760"/>
            <a:ext cx="2286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97A6"/>
                </a:solidFill>
                <a:latin typeface="Calibri"/>
              </a:rPr>
              <a:t>id PK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8A97A6"/>
                </a:solidFill>
                <a:latin typeface="Calibri"/>
              </a:rPr>
              <a:t>sheet_id FK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8A97A6"/>
                </a:solidFill>
                <a:latin typeface="Calibri"/>
              </a:rPr>
              <a:t>cell_ref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8A97A6"/>
                </a:solidFill>
                <a:latin typeface="Calibri"/>
              </a:rPr>
              <a:t>author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8A97A6"/>
                </a:solidFill>
                <a:latin typeface="Calibri"/>
              </a:rPr>
              <a:t>text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00400" y="1554480"/>
            <a:ext cx="2468880" cy="1371600"/>
          </a:xfrm>
          <a:prstGeom prst="roundRect">
            <a:avLst>
              <a:gd name="adj" fmla="val 6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200400" y="1554480"/>
            <a:ext cx="2468880" cy="292608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73552" y="1591056"/>
            <a:ext cx="232257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MART_PRICE_FACTS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1920240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97A6"/>
                </a:solidFill>
                <a:latin typeface="Calibri"/>
              </a:rPr>
              <a:t>id PK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8A97A6"/>
                </a:solidFill>
                <a:latin typeface="Calibri"/>
              </a:rPr>
              <a:t>file_id FK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8A97A6"/>
                </a:solidFill>
                <a:latin typeface="Calibri"/>
              </a:rPr>
              <a:t>item_name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8A97A6"/>
                </a:solidFill>
                <a:latin typeface="Calibri"/>
              </a:rPr>
              <a:t>supplier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8A97A6"/>
                </a:solidFill>
                <a:latin typeface="Calibri"/>
              </a:rPr>
              <a:t>price_type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8A97A6"/>
                </a:solidFill>
                <a:latin typeface="Calibri"/>
              </a:rPr>
              <a:t>value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0" y="1554480"/>
            <a:ext cx="2468880" cy="1371600"/>
          </a:xfrm>
          <a:prstGeom prst="roundRect">
            <a:avLst>
              <a:gd name="adj" fmla="val 6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943600" y="1554480"/>
            <a:ext cx="2468880" cy="292608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16752" y="1591056"/>
            <a:ext cx="232257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MART_METRICS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0" y="1920240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97A6"/>
                </a:solidFill>
                <a:latin typeface="Calibri"/>
              </a:rPr>
              <a:t>id PK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8A97A6"/>
                </a:solidFill>
                <a:latin typeface="Calibri"/>
              </a:rPr>
              <a:t>file_id FK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8A97A6"/>
                </a:solidFill>
                <a:latin typeface="Calibri"/>
              </a:rPr>
              <a:t>dimension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8A97A6"/>
                </a:solidFill>
                <a:latin typeface="Calibri"/>
              </a:rPr>
              <a:t>metric_type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8A97A6"/>
                </a:solidFill>
                <a:latin typeface="Calibri"/>
              </a:rPr>
              <a:t>value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8A97A6"/>
                </a:solidFill>
                <a:latin typeface="Calibri"/>
              </a:rPr>
              <a:t>is_blank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86800" y="1554480"/>
            <a:ext cx="2468880" cy="1188720"/>
          </a:xfrm>
          <a:prstGeom prst="roundRect">
            <a:avLst>
              <a:gd name="adj" fmla="val 6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686800" y="1554480"/>
            <a:ext cx="2468880" cy="292608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59952" y="1591056"/>
            <a:ext cx="232257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QUERY_CACHE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8240" y="1920240"/>
            <a:ext cx="2286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97A6"/>
                </a:solidFill>
                <a:latin typeface="Calibri"/>
              </a:rPr>
              <a:t>id PK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8A97A6"/>
                </a:solidFill>
                <a:latin typeface="Calibri"/>
              </a:rPr>
              <a:t>question_hash UK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8A97A6"/>
                </a:solidFill>
                <a:latin typeface="Calibri"/>
              </a:rPr>
              <a:t>sql_query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8A97A6"/>
                </a:solidFill>
                <a:latin typeface="Calibri"/>
              </a:rPr>
              <a:t>result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86800" y="3108960"/>
            <a:ext cx="2468880" cy="1188720"/>
          </a:xfrm>
          <a:prstGeom prst="roundRect">
            <a:avLst>
              <a:gd name="adj" fmla="val 6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686800" y="3108960"/>
            <a:ext cx="2468880" cy="292608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59952" y="3145536"/>
            <a:ext cx="232257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QUERY_LOGS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78240" y="3474720"/>
            <a:ext cx="2286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97A6"/>
                </a:solidFill>
                <a:latin typeface="Calibri"/>
              </a:rPr>
              <a:t>id PK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8A97A6"/>
                </a:solidFill>
                <a:latin typeface="Calibri"/>
              </a:rPr>
              <a:t>request_id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8A97A6"/>
                </a:solidFill>
                <a:latin typeface="Calibri"/>
              </a:rPr>
              <a:t>question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8A97A6"/>
                </a:solidFill>
                <a:latin typeface="Calibri"/>
              </a:rPr>
              <a:t>sql_query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8A97A6"/>
                </a:solidFill>
                <a:latin typeface="Calibri"/>
              </a:rPr>
              <a:t>trace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686800" y="4572000"/>
            <a:ext cx="2468880" cy="1188720"/>
          </a:xfrm>
          <a:prstGeom prst="roundRect">
            <a:avLst>
              <a:gd name="adj" fmla="val 6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686800" y="4572000"/>
            <a:ext cx="2468880" cy="292608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59952" y="4608576"/>
            <a:ext cx="232257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GOLDEN_DATASET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78240" y="4937760"/>
            <a:ext cx="2286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97A6"/>
                </a:solidFill>
                <a:latin typeface="Calibri"/>
              </a:rPr>
              <a:t>id PK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8A97A6"/>
                </a:solidFill>
                <a:latin typeface="Calibri"/>
              </a:rPr>
              <a:t>question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8A97A6"/>
                </a:solidFill>
                <a:latin typeface="Calibri"/>
              </a:rPr>
              <a:t>expected_sql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8A97A6"/>
                </a:solidFill>
                <a:latin typeface="Calibri"/>
              </a:rPr>
              <a:t>category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200400" y="3108960"/>
            <a:ext cx="2468880" cy="1188720"/>
          </a:xfrm>
          <a:prstGeom prst="roundRect">
            <a:avLst>
              <a:gd name="adj" fmla="val 6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3200400" y="3108960"/>
            <a:ext cx="2468880" cy="292608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73552" y="3145536"/>
            <a:ext cx="232257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ENTITY_DICTIONARY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91840" y="3474720"/>
            <a:ext cx="2286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97A6"/>
                </a:solidFill>
                <a:latin typeface="Calibri"/>
              </a:rPr>
              <a:t>id PK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8A97A6"/>
                </a:solidFill>
                <a:latin typeface="Calibri"/>
              </a:rPr>
              <a:t>canonical_name UK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8A97A6"/>
                </a:solidFill>
                <a:latin typeface="Calibri"/>
              </a:rPr>
              <a:t>aliases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8A97A6"/>
                </a:solidFill>
                <a:latin typeface="Calibri"/>
              </a:rPr>
              <a:t>category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1691640" y="2926080"/>
            <a:ext cx="0" cy="182880"/>
          </a:xfrm>
          <a:prstGeom prst="line">
            <a:avLst/>
          </a:prstGeom>
          <a:ln w="12700">
            <a:solidFill>
              <a:srgbClr val="8A97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691640" y="4297680"/>
            <a:ext cx="0" cy="274320"/>
          </a:xfrm>
          <a:prstGeom prst="line">
            <a:avLst/>
          </a:prstGeom>
          <a:ln w="12700">
            <a:solidFill>
              <a:srgbClr val="8A97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3200400" y="4572000"/>
            <a:ext cx="0" cy="594360"/>
          </a:xfrm>
          <a:prstGeom prst="line">
            <a:avLst/>
          </a:prstGeom>
          <a:ln w="12700">
            <a:solidFill>
              <a:srgbClr val="8A97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943600" y="4572000"/>
            <a:ext cx="0" cy="594360"/>
          </a:xfrm>
          <a:prstGeom prst="line">
            <a:avLst/>
          </a:prstGeom>
          <a:ln w="12700">
            <a:solidFill>
              <a:srgbClr val="8A97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2926080" y="2240280"/>
            <a:ext cx="274320" cy="0"/>
          </a:xfrm>
          <a:prstGeom prst="line">
            <a:avLst/>
          </a:prstGeom>
          <a:ln w="12700">
            <a:solidFill>
              <a:srgbClr val="8A97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669280" y="2240280"/>
            <a:ext cx="274320" cy="0"/>
          </a:xfrm>
          <a:prstGeom prst="line">
            <a:avLst/>
          </a:prstGeom>
          <a:ln w="12700">
            <a:solidFill>
              <a:srgbClr val="8A97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457200" y="5852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Связи: FILES 1—N SHEETS · SHEETS 1—N COLUMN_METADATA/CELLS/EXCEL_COMMENTS · FILES 1—N MART_PRICE_FACTS/MART_METRICS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32004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0" b="1" i="0">
                <a:solidFill>
                  <a:srgbClr val="FF5A36"/>
                </a:solidFill>
                <a:latin typeface="Calibri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977639"/>
            <a:ext cx="1097280" cy="73152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1605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LLM-агент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8A97A6"/>
                </a:solidFill>
                <a:latin typeface="Calibri"/>
              </a:rPr>
              <a:t>LangGraph-граф, узлы, безопасная генерация SQL, Entity Resolution и устойчивость LLM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EVRAZ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457200" cy="64008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LLM-АГЕНТ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LangGraph-агент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EVRAZ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8A97A6"/>
                </a:solidFill>
                <a:latin typeface="Calibri"/>
              </a:rPr>
              <a:t>Граф узлов с чекпоинтами в PostgreSQL и ретраями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1743" y="2377440"/>
            <a:ext cx="1371600" cy="777240"/>
          </a:xfrm>
          <a:prstGeom prst="roundRect">
            <a:avLst>
              <a:gd name="adj" fmla="val 12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7463" y="2578608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Classifier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45055" y="2560320"/>
            <a:ext cx="23774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5A36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64511" y="2377440"/>
            <a:ext cx="1371600" cy="777240"/>
          </a:xfrm>
          <a:prstGeom prst="roundRect">
            <a:avLst>
              <a:gd name="adj" fmla="val 12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10231" y="2578608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Disambig.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7823" y="2560320"/>
            <a:ext cx="23774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5A36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37279" y="2377440"/>
            <a:ext cx="1371600" cy="777240"/>
          </a:xfrm>
          <a:prstGeom prst="roundRect">
            <a:avLst>
              <a:gd name="adj" fmla="val 12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82999" y="2578608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Planner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0591" y="2560320"/>
            <a:ext cx="23774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5A36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10047" y="2377440"/>
            <a:ext cx="1371600" cy="777240"/>
          </a:xfrm>
          <a:prstGeom prst="roundRect">
            <a:avLst>
              <a:gd name="adj" fmla="val 12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55767" y="2578608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CodeGen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3359" y="2560320"/>
            <a:ext cx="23774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5A36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82815" y="2377440"/>
            <a:ext cx="1371600" cy="777240"/>
          </a:xfrm>
          <a:prstGeom prst="roundRect">
            <a:avLst>
              <a:gd name="adj" fmla="val 12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28535" y="2578608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Executor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6127" y="2560320"/>
            <a:ext cx="23774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5A36"/>
                </a:solidFill>
                <a:latin typeface="Calibr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55583" y="2377440"/>
            <a:ext cx="1371600" cy="777240"/>
          </a:xfrm>
          <a:prstGeom prst="roundRect">
            <a:avLst>
              <a:gd name="adj" fmla="val 12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01303" y="2578608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Verifier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08895" y="2560320"/>
            <a:ext cx="23774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5A36"/>
                </a:solidFill>
                <a:latin typeface="Calibr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28351" y="2377440"/>
            <a:ext cx="1371600" cy="777240"/>
          </a:xfrm>
          <a:prstGeom prst="roundRect">
            <a:avLst>
              <a:gd name="adj" fmla="val 12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74071" y="2578608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Answer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4290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8A97A6"/>
                </a:solidFill>
                <a:latin typeface="Calibri"/>
              </a:rPr>
              <a:t>Статусы по confidence:  success (≥0.7)  ·  low_confidence (self-correction)  ·  failed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977639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Что делает каждый узел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548640" y="438912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05256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Узел</a:t>
                      </a:r>
                    </a:p>
                  </a:txBody>
                  <a:tcPr marL="91440" marR="91440" marT="27432" marB="27432" anchor="ctr">
                    <a:solidFill>
                      <a:srgbClr val="1C729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Что делает</a:t>
                      </a:r>
                    </a:p>
                  </a:txBody>
                  <a:tcPr marL="91440" marR="91440" marT="27432" marB="27432" anchor="ctr">
                    <a:solidFill>
                      <a:srgbClr val="1C729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1F24"/>
                          </a:solidFill>
                          <a:latin typeface="Calibri"/>
                        </a:rPr>
                        <a:t>Classifier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1F24"/>
                          </a:solidFill>
                          <a:latin typeface="Calibri"/>
                        </a:rPr>
                        <a:t>тип запроса (lookup, aggregate, delta, cross_sheet…) и домен (prices/metrics)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1F24"/>
                          </a:solidFill>
                          <a:latin typeface="Calibri"/>
                        </a:rPr>
                        <a:t>Disambiguation</a:t>
                      </a:r>
                    </a:p>
                  </a:txBody>
                  <a:tcPr marL="91440" marR="91440" marT="27432" marB="27432" anchor="ctr">
                    <a:solidFill>
                      <a:srgbClr val="F0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1F24"/>
                          </a:solidFill>
                          <a:latin typeface="Calibri"/>
                        </a:rPr>
                        <a:t>уточняет вопрос, если нужно (interrupt или авто-разрешение)</a:t>
                      </a:r>
                    </a:p>
                  </a:txBody>
                  <a:tcPr marL="91440" marR="91440" marT="27432" marB="27432" anchor="ctr">
                    <a:solidFill>
                      <a:srgbClr val="F0F2F5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1F24"/>
                          </a:solidFill>
                          <a:latin typeface="Calibri"/>
                        </a:rPr>
                        <a:t>Planner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1F24"/>
                          </a:solidFill>
                          <a:latin typeface="Calibri"/>
                        </a:rPr>
                        <a:t>текстовый план действий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1F24"/>
                          </a:solidFill>
                          <a:latin typeface="Calibri"/>
                        </a:rPr>
                        <a:t>CodeGen</a:t>
                      </a:r>
                    </a:p>
                  </a:txBody>
                  <a:tcPr marL="91440" marR="91440" marT="27432" marB="27432" anchor="ctr">
                    <a:solidFill>
                      <a:srgbClr val="F0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1F24"/>
                          </a:solidFill>
                          <a:latin typeface="Calibri"/>
                        </a:rPr>
                        <a:t>генерация SQL + детерминированные правки + валидация</a:t>
                      </a:r>
                    </a:p>
                  </a:txBody>
                  <a:tcPr marL="91440" marR="91440" marT="27432" marB="27432" anchor="ctr">
                    <a:solidFill>
                      <a:srgbClr val="F0F2F5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1F24"/>
                          </a:solidFill>
                          <a:latin typeface="Calibri"/>
                        </a:rPr>
                        <a:t>Executor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1F24"/>
                          </a:solidFill>
                          <a:latin typeface="Calibri"/>
                        </a:rPr>
                        <a:t>выполняет read-only SQL, при пустом результате — fallback-SQL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1F24"/>
                          </a:solidFill>
                          <a:latin typeface="Calibri"/>
                        </a:rPr>
                        <a:t>Verifier</a:t>
                      </a:r>
                    </a:p>
                  </a:txBody>
                  <a:tcPr marL="91440" marR="91440" marT="27432" marB="27432" anchor="ctr">
                    <a:solidFill>
                      <a:srgbClr val="F0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1F24"/>
                          </a:solidFill>
                          <a:latin typeface="Calibri"/>
                        </a:rPr>
                        <a:t>LLM-проверка корректности (до 3 попыток + детерминированный fallback)</a:t>
                      </a:r>
                    </a:p>
                  </a:txBody>
                  <a:tcPr marL="91440" marR="91440" marT="27432" marB="27432" anchor="ctr">
                    <a:solidFill>
                      <a:srgbClr val="F0F2F5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1F24"/>
                          </a:solidFill>
                          <a:latin typeface="Calibri"/>
                        </a:rPr>
                        <a:t>Answer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1F24"/>
                          </a:solidFill>
                          <a:latin typeface="Calibri"/>
                        </a:rPr>
                        <a:t>финальный естественно-языковой ответ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457200" cy="64008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LLM-АГЕНТ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Граф LLM-агента — диаграмма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EVRAZ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3291840" cy="411480"/>
          </a:xfrm>
          <a:prstGeom prst="roundRect">
            <a:avLst>
              <a:gd name="adj" fmla="val 50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2763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Вопрос пользователя (POST /ask)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03120"/>
            <a:ext cx="3291840" cy="411480"/>
          </a:xfrm>
          <a:prstGeom prst="roundRect">
            <a:avLst>
              <a:gd name="adj" fmla="val 12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17627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classifier — тип запроса + домен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651760"/>
            <a:ext cx="3291840" cy="411480"/>
          </a:xfrm>
          <a:prstGeom prst="roundRect">
            <a:avLst>
              <a:gd name="adj" fmla="val 12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72491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disambiguation — нужно ли уточнение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00400"/>
            <a:ext cx="3291840" cy="411480"/>
          </a:xfrm>
          <a:prstGeom prst="roundRect">
            <a:avLst>
              <a:gd name="adj" fmla="val 12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2735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planner — план действий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49039"/>
            <a:ext cx="3291840" cy="411480"/>
          </a:xfrm>
          <a:prstGeom prst="roundRect">
            <a:avLst>
              <a:gd name="adj" fmla="val 12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822191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codegen — генерация безопасного SQL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97680"/>
            <a:ext cx="3291840" cy="411480"/>
          </a:xfrm>
          <a:prstGeom prst="roundRect">
            <a:avLst>
              <a:gd name="adj" fmla="val 12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37083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executor — выполнение SELECT (read-only)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846320"/>
            <a:ext cx="3291840" cy="411480"/>
          </a:xfrm>
          <a:prstGeom prst="roundRect">
            <a:avLst>
              <a:gd name="adj" fmla="val 12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91947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verifier — LLM-проверка SQL + результата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394960"/>
            <a:ext cx="3291840" cy="411480"/>
          </a:xfrm>
          <a:prstGeom prst="roundRect">
            <a:avLst>
              <a:gd name="adj" fmla="val 12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46811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answer — формирование ответа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943600"/>
            <a:ext cx="3291840" cy="411480"/>
          </a:xfrm>
          <a:prstGeom prst="roundRect">
            <a:avLst>
              <a:gd name="adj" fmla="val 50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0167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END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377440" y="1965960"/>
            <a:ext cx="0" cy="137160"/>
          </a:xfrm>
          <a:prstGeom prst="line">
            <a:avLst/>
          </a:prstGeom>
          <a:ln w="19050">
            <a:solidFill>
              <a:srgbClr val="FF5A3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377440" y="2514600"/>
            <a:ext cx="0" cy="137160"/>
          </a:xfrm>
          <a:prstGeom prst="line">
            <a:avLst/>
          </a:prstGeom>
          <a:ln w="19050">
            <a:solidFill>
              <a:srgbClr val="FF5A3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377440" y="3063240"/>
            <a:ext cx="0" cy="137160"/>
          </a:xfrm>
          <a:prstGeom prst="line">
            <a:avLst/>
          </a:prstGeom>
          <a:ln w="19050">
            <a:solidFill>
              <a:srgbClr val="FF5A3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377440" y="3611880"/>
            <a:ext cx="0" cy="137160"/>
          </a:xfrm>
          <a:prstGeom prst="line">
            <a:avLst/>
          </a:prstGeom>
          <a:ln w="19050">
            <a:solidFill>
              <a:srgbClr val="FF5A3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377440" y="4160520"/>
            <a:ext cx="0" cy="137160"/>
          </a:xfrm>
          <a:prstGeom prst="line">
            <a:avLst/>
          </a:prstGeom>
          <a:ln w="19050">
            <a:solidFill>
              <a:srgbClr val="FF5A3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377440" y="4709160"/>
            <a:ext cx="0" cy="137160"/>
          </a:xfrm>
          <a:prstGeom prst="line">
            <a:avLst/>
          </a:prstGeom>
          <a:ln w="19050">
            <a:solidFill>
              <a:srgbClr val="FF5A3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377440" y="5257800"/>
            <a:ext cx="0" cy="137160"/>
          </a:xfrm>
          <a:prstGeom prst="line">
            <a:avLst/>
          </a:prstGeom>
          <a:ln w="19050">
            <a:solidFill>
              <a:srgbClr val="FF5A3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377440" y="5806440"/>
            <a:ext cx="0" cy="137160"/>
          </a:xfrm>
          <a:prstGeom prst="line">
            <a:avLst/>
          </a:prstGeom>
          <a:ln w="19050">
            <a:solidFill>
              <a:srgbClr val="FF5A3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5943600" y="2103120"/>
            <a:ext cx="2194560" cy="411480"/>
          </a:xfrm>
          <a:prstGeom prst="roundRect">
            <a:avLst>
              <a:gd name="adj" fmla="val 12000"/>
            </a:avLst>
          </a:prstGeom>
          <a:solidFill>
            <a:srgbClr val="262C33"/>
          </a:solidFill>
          <a:ln w="1524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0" y="217627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C62828"/>
                </a:solidFill>
                <a:latin typeface="Calibri"/>
              </a:rPr>
              <a:t>failed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0" y="5943600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0" y="5998464"/>
            <a:ext cx="2011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END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023360" y="2304288"/>
            <a:ext cx="1920240" cy="0"/>
          </a:xfrm>
          <a:prstGeom prst="line">
            <a:avLst/>
          </a:prstGeom>
          <a:ln w="15240">
            <a:solidFill>
              <a:srgbClr val="C6282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114800" y="2103120"/>
            <a:ext cx="1737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8A97A6"/>
                </a:solidFill>
                <a:latin typeface="Calibri"/>
              </a:rPr>
              <a:t>query_type = None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4023360" y="2514600"/>
            <a:ext cx="1920240" cy="1435608"/>
          </a:xfrm>
          <a:prstGeom prst="line">
            <a:avLst/>
          </a:prstGeom>
          <a:ln w="15240">
            <a:solidFill>
              <a:srgbClr val="C6282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114800" y="3108960"/>
            <a:ext cx="1737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8A97A6"/>
                </a:solidFill>
                <a:latin typeface="Calibri"/>
              </a:rPr>
              <a:t>ретраи = 3</a:t>
            </a:r>
          </a:p>
        </p:txBody>
      </p:sp>
      <p:cxnSp>
        <p:nvCxnSpPr>
          <p:cNvPr id="42" name="Connector 41"/>
          <p:cNvCxnSpPr/>
          <p:nvPr/>
        </p:nvCxnSpPr>
        <p:spPr>
          <a:xfrm flipV="1">
            <a:off x="4023360" y="2514600"/>
            <a:ext cx="1920240" cy="1984248"/>
          </a:xfrm>
          <a:prstGeom prst="line">
            <a:avLst/>
          </a:prstGeom>
          <a:ln w="15240">
            <a:solidFill>
              <a:srgbClr val="C6282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023360" y="5596128"/>
            <a:ext cx="1920240" cy="347472"/>
          </a:xfrm>
          <a:prstGeom prst="line">
            <a:avLst/>
          </a:prstGeom>
          <a:ln w="19050">
            <a:solidFill>
              <a:srgbClr val="FF5A3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040880" y="2514600"/>
            <a:ext cx="0" cy="3429000"/>
          </a:xfrm>
          <a:prstGeom prst="line">
            <a:avLst/>
          </a:prstGeom>
          <a:ln w="15240">
            <a:solidFill>
              <a:srgbClr val="C6282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023360" y="3950208"/>
            <a:ext cx="731520" cy="0"/>
          </a:xfrm>
          <a:prstGeom prst="bentConnector3">
            <a:avLst/>
          </a:prstGeom>
          <a:ln w="15240">
            <a:solidFill>
              <a:srgbClr val="1C729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114800" y="3749039"/>
            <a:ext cx="1463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C7293"/>
                </a:solidFill>
                <a:latin typeface="Calibri"/>
              </a:rPr>
              <a:t>ретраи &lt; 3</a:t>
            </a:r>
          </a:p>
        </p:txBody>
      </p:sp>
      <p:cxnSp>
        <p:nvCxnSpPr>
          <p:cNvPr id="47" name="Connector 46"/>
          <p:cNvCxnSpPr/>
          <p:nvPr/>
        </p:nvCxnSpPr>
        <p:spPr>
          <a:xfrm flipV="1">
            <a:off x="4023360" y="3950208"/>
            <a:ext cx="731520" cy="548640"/>
          </a:xfrm>
          <a:prstGeom prst="bentConnector3">
            <a:avLst/>
          </a:prstGeom>
          <a:ln w="15240">
            <a:solidFill>
              <a:srgbClr val="1C729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4114800" y="4160520"/>
            <a:ext cx="1463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C7293"/>
                </a:solidFill>
                <a:latin typeface="Calibri"/>
              </a:rPr>
              <a:t>sql_error, ретраи &lt; 3</a:t>
            </a:r>
          </a:p>
        </p:txBody>
      </p:sp>
      <p:cxnSp>
        <p:nvCxnSpPr>
          <p:cNvPr id="49" name="Connector 48"/>
          <p:cNvCxnSpPr/>
          <p:nvPr/>
        </p:nvCxnSpPr>
        <p:spPr>
          <a:xfrm flipV="1">
            <a:off x="4023360" y="3950208"/>
            <a:ext cx="731520" cy="1097280"/>
          </a:xfrm>
          <a:prstGeom prst="bentConnector3">
            <a:avLst/>
          </a:prstGeom>
          <a:ln w="15240">
            <a:solidFill>
              <a:srgbClr val="1C729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114800" y="4709160"/>
            <a:ext cx="1463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C7293"/>
                </a:solidFill>
                <a:latin typeface="Calibri"/>
              </a:rPr>
              <a:t>needs_retry, ретраи &lt; 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457200" cy="64008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LLM-АГЕНТ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Узлы агента — детали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EVRAZ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22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83080"/>
          <a:ext cx="11064240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9509760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Узел</a:t>
                      </a:r>
                    </a:p>
                  </a:txBody>
                  <a:tcPr marL="91440" marR="91440" marT="27432" marB="27432" anchor="ctr">
                    <a:solidFill>
                      <a:srgbClr val="1C729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Ключевые детали</a:t>
                      </a:r>
                    </a:p>
                  </a:txBody>
                  <a:tcPr marL="91440" marR="91440" marT="27432" marB="27432" anchor="ctr">
                    <a:solidFill>
                      <a:srgbClr val="1C7293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1F24"/>
                          </a:solidFill>
                          <a:latin typeface="Calibri"/>
                        </a:rPr>
                        <a:t>Classifier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1F24"/>
                          </a:solidFill>
                          <a:latin typeface="Calibri"/>
                        </a:rPr>
                        <a:t>типы: lookup, aggregate, cross_sheet, delta, sum_by_supplier, find_period, unknown; домен: prices/metrics/generic; structured output ClassifierResult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1F24"/>
                          </a:solidFill>
                          <a:latin typeface="Calibri"/>
                        </a:rPr>
                        <a:t>Disambiguation</a:t>
                      </a:r>
                    </a:p>
                  </a:txBody>
                  <a:tcPr marL="91440" marR="91440" marT="27432" marB="27432" anchor="ctr">
                    <a:solidFill>
                      <a:srgbClr val="F0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1F24"/>
                          </a:solidFill>
                          <a:latin typeface="Calibri"/>
                        </a:rPr>
                        <a:t>DisambiguationResult; ветвление через interrupt() (ожидание ответа) либо авто-разрешение</a:t>
                      </a:r>
                    </a:p>
                  </a:txBody>
                  <a:tcPr marL="91440" marR="91440" marT="27432" marB="27432" anchor="ctr">
                    <a:solidFill>
                      <a:srgbClr val="F0F2F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1F24"/>
                          </a:solidFill>
                          <a:latin typeface="Calibri"/>
                        </a:rPr>
                        <a:t>Planner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1F24"/>
                          </a:solidFill>
                          <a:latin typeface="Calibri"/>
                        </a:rPr>
                        <a:t>текстовый план действий (PlannerResult)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1F24"/>
                          </a:solidFill>
                          <a:latin typeface="Calibri"/>
                        </a:rPr>
                        <a:t>CodeGen</a:t>
                      </a:r>
                    </a:p>
                  </a:txBody>
                  <a:tcPr marL="91440" marR="91440" marT="27432" marB="27432" anchor="ctr">
                    <a:solidFill>
                      <a:srgbClr val="F0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1F24"/>
                          </a:solidFill>
                          <a:latin typeface="Calibri"/>
                        </a:rPr>
                        <a:t>LLM-генерация или детерминированный sql_compiler; правки: «все виды меди» → ILIKE 'Лом меди%'; 'Сплав-21' → '%сплав21%'; is_blank → 0/1; validate_sql</a:t>
                      </a:r>
                    </a:p>
                  </a:txBody>
                  <a:tcPr marL="91440" marR="91440" marT="27432" marB="27432" anchor="ctr">
                    <a:solidFill>
                      <a:srgbClr val="F0F2F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1F24"/>
                          </a:solidFill>
                          <a:latin typeface="Calibri"/>
                        </a:rPr>
                        <a:t>Executor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1F24"/>
                          </a:solidFill>
                          <a:latin typeface="Calibri"/>
                        </a:rPr>
                        <a:t>read-only SELECT, statement_timeout; при ошибке — sql_error/retry_reason; серия fallback-SQL при пустом результате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1F24"/>
                          </a:solidFill>
                          <a:latin typeface="Calibri"/>
                        </a:rPr>
                        <a:t>Verifier</a:t>
                      </a:r>
                    </a:p>
                  </a:txBody>
                  <a:tcPr marL="91440" marR="91440" marT="27432" marB="27432" anchor="ctr">
                    <a:solidFill>
                      <a:srgbClr val="F0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1F24"/>
                          </a:solidFill>
                          <a:latin typeface="Calibri"/>
                        </a:rPr>
                        <a:t>LLM-проверка SQL+результата (JSON); до 3 попыток; извлечение JSON-подстроки; детерминированный fallback с confidence 0.75</a:t>
                      </a:r>
                    </a:p>
                  </a:txBody>
                  <a:tcPr marL="91440" marR="91440" marT="27432" marB="27432" anchor="ctr">
                    <a:solidFill>
                      <a:srgbClr val="F0F2F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1F24"/>
                          </a:solidFill>
                          <a:latin typeface="Calibri"/>
                        </a:rPr>
                        <a:t>Answer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1F24"/>
                          </a:solidFill>
                          <a:latin typeface="Calibri"/>
                        </a:rPr>
                        <a:t>финальный естественно-языковой ответ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457200" cy="64008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LLM-АГЕНТ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Безопасная генерация 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EVRAZ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Детерминированные правки в CodeGen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48840"/>
            <a:ext cx="3566160" cy="1051560"/>
          </a:xfrm>
          <a:prstGeom prst="roundRect">
            <a:avLst>
              <a:gd name="adj" fmla="val 7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313432"/>
            <a:ext cx="31638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«Все виды меди»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697480"/>
            <a:ext cx="3163824" cy="320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8A97A6"/>
                </a:solidFill>
                <a:latin typeface="Calibri"/>
              </a:rPr>
              <a:t>→ префиксный фильтр item_name ILIKE 'Лом меди%'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148840"/>
            <a:ext cx="3566160" cy="1051560"/>
          </a:xfrm>
          <a:prstGeom prst="roundRect">
            <a:avLst>
              <a:gd name="adj" fmla="val 7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2313432"/>
            <a:ext cx="31638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Нормализация поставщиков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697480"/>
            <a:ext cx="3163824" cy="320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8A97A6"/>
                </a:solidFill>
                <a:latin typeface="Calibri"/>
              </a:rPr>
              <a:t>→ 'Сплав-21' → '%сплав21%'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148840"/>
            <a:ext cx="3566160" cy="1051560"/>
          </a:xfrm>
          <a:prstGeom prst="roundRect">
            <a:avLst>
              <a:gd name="adj" fmla="val 7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2313432"/>
            <a:ext cx="31638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Булевы поля is_blank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2697480"/>
            <a:ext cx="3163824" cy="320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8A97A6"/>
                </a:solidFill>
                <a:latin typeface="Calibri"/>
              </a:rPr>
              <a:t>→ целые 0/1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4290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Валидация перед выполнением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840480"/>
            <a:ext cx="5394960" cy="548640"/>
          </a:xfrm>
          <a:prstGeom prst="roundRect">
            <a:avLst>
              <a:gd name="adj" fmla="val 12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93192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95020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Только SELECT (whitelist таблиц mart.*)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840480"/>
            <a:ext cx="5394960" cy="548640"/>
          </a:xfrm>
          <a:prstGeom prst="roundRect">
            <a:avLst>
              <a:gd name="adj" fmla="val 12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62828"/>
                </a:solidFill>
                <a:latin typeface="Calibri"/>
              </a:rPr>
              <a:t>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95020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Blacklist: INSERT / UPDATE / DELETE / DROP / ALTER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526280"/>
            <a:ext cx="5394960" cy="548640"/>
          </a:xfrm>
          <a:prstGeom prst="roundRect">
            <a:avLst>
              <a:gd name="adj" fmla="val 12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61772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463600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Баланс скобок и кавычек (детекция обрезанного SQL)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4526280"/>
            <a:ext cx="5394960" cy="548640"/>
          </a:xfrm>
          <a:prstGeom prst="roundRect">
            <a:avLst>
              <a:gd name="adj" fmla="val 12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461772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C7293"/>
                </a:solidFill>
                <a:latin typeface="Calibri"/>
              </a:rPr>
              <a:t>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63600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statement_timeout — 30 сек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10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4864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B199"/>
                </a:solidFill>
                <a:latin typeface="Calibri"/>
              </a:rPr>
              <a:t>sql_compiler.py — </a:t>
            </a:r>
            <a:r>
              <a:rPr sz="1300" b="0">
                <a:solidFill>
                  <a:srgbClr val="8A97A6"/>
                </a:solidFill>
                <a:latin typeface="Calibri"/>
              </a:rPr>
              <a:t>альтернатива LLM: компилирует структурированную спеку в безопасный SELECT напрямую, без модели.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457200" cy="64008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LLM-АГЕНТ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Entity Resolution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EVRAZ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8A97A6"/>
                </a:solidFill>
                <a:latin typeface="Calibri"/>
              </a:rPr>
              <a:t>Сопоставление упомянутых в вопросе сущностей с реальными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86000"/>
            <a:ext cx="5394960" cy="1188720"/>
          </a:xfrm>
          <a:prstGeom prst="roundRect">
            <a:avLst>
              <a:gd name="adj" fmla="val 7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450592"/>
            <a:ext cx="49926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Справочники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834640"/>
            <a:ext cx="4992624" cy="457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8A97A6"/>
                </a:solidFill>
                <a:latin typeface="Calibri"/>
              </a:rPr>
              <a:t>item_name, supplier, sheet_period — каталог реальных значений из БД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286000"/>
            <a:ext cx="5394960" cy="1188720"/>
          </a:xfrm>
          <a:prstGeom prst="roundRect">
            <a:avLst>
              <a:gd name="adj" fmla="val 7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2450592"/>
            <a:ext cx="49926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Fuzzy-match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2834640"/>
            <a:ext cx="4992624" cy="457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8A97A6"/>
                </a:solidFill>
                <a:latin typeface="Calibri"/>
              </a:rPr>
              <a:t>rapidfuzz + триграммный поиск PostgreSQL (pg_trgm)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394960" cy="1188720"/>
          </a:xfrm>
          <a:prstGeom prst="roundRect">
            <a:avLst>
              <a:gd name="adj" fmla="val 7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822191"/>
            <a:ext cx="49926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BM25-индекс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4206240"/>
            <a:ext cx="49926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8A97A6"/>
                </a:solidFill>
                <a:latin typeface="Calibri"/>
              </a:rPr>
              <a:t>data/bm25_index.pkl — выбор релевантных листов (top_k)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657600"/>
            <a:ext cx="5394960" cy="1188720"/>
          </a:xfrm>
          <a:prstGeom prst="roundRect">
            <a:avLst>
              <a:gd name="adj" fmla="val 7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3822191"/>
            <a:ext cx="49926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Кэш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4206240"/>
            <a:ext cx="49926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8A97A6"/>
                </a:solidFill>
                <a:latin typeface="Calibri"/>
              </a:rPr>
              <a:t>query_cache — кэш результатов разрешения сущностей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21208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3492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Пример: </a:t>
            </a:r>
            <a:r>
              <a:rPr sz="1400" b="1">
                <a:solidFill>
                  <a:srgbClr val="FFB199"/>
                </a:solidFill>
                <a:latin typeface="Calibri"/>
              </a:rPr>
              <a:t>«Средняя цена лома меди у Сплав-21 в январе?»</a:t>
            </a:r>
            <a:r>
              <a:rPr sz="1400" b="0">
                <a:solidFill>
                  <a:srgbClr val="8A97A6"/>
                </a:solidFill>
                <a:latin typeface="Calibri"/>
              </a:rPr>
              <a:t> → подставляются реальные значения-кандидаты из БД — меньше галлюцинаций названий.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457200" cy="64008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LLM-АГЕНТ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LLM-клиент и устойчивость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EVRAZ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LLMClient (src/services/llm)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53035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5A36"/>
                </a:solidFill>
                <a:latin typeface="Calibri"/>
              </a:rPr>
              <a:t>•  </a:t>
            </a:r>
            <a:r>
              <a:rPr sz="1300" b="1">
                <a:solidFill>
                  <a:srgbClr val="FFFFFF"/>
                </a:solidFill>
                <a:latin typeface="Calibri"/>
              </a:rPr>
              <a:t>chat()</a:t>
            </a:r>
            <a:r>
              <a:rPr sz="1300" b="0">
                <a:solidFill>
                  <a:srgbClr val="8A97A6"/>
                </a:solidFill>
                <a:latin typeface="Calibri"/>
              </a:rPr>
              <a:t> — обычный запрос, возвращает строку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5A36"/>
                </a:solidFill>
                <a:latin typeface="Calibri"/>
              </a:rPr>
              <a:t>•  </a:t>
            </a:r>
            <a:r>
              <a:rPr sz="1300" b="1">
                <a:solidFill>
                  <a:srgbClr val="FFFFFF"/>
                </a:solidFill>
                <a:latin typeface="Calibri"/>
              </a:rPr>
              <a:t>chat_stream()</a:t>
            </a:r>
            <a:r>
              <a:rPr sz="1300" b="0">
                <a:solidFill>
                  <a:srgbClr val="8A97A6"/>
                </a:solidFill>
                <a:latin typeface="Calibri"/>
              </a:rPr>
              <a:t> — стриминг токенов</a:t>
            </a:r>
          </a:p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5A36"/>
                </a:solidFill>
                <a:latin typeface="Calibri"/>
              </a:rPr>
              <a:t>•  </a:t>
            </a:r>
            <a:r>
              <a:rPr sz="1300" b="0">
                <a:solidFill>
                  <a:srgbClr val="8A97A6"/>
                </a:solidFill>
                <a:latin typeface="Calibri"/>
              </a:rPr>
              <a:t>Совместим с любым OpenAI-подобным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5760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Structured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69080"/>
            <a:ext cx="53035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5A36"/>
                </a:solidFill>
                <a:latin typeface="Calibri"/>
              </a:rPr>
              <a:t>•  </a:t>
            </a:r>
            <a:r>
              <a:rPr sz="1300" b="1">
                <a:solidFill>
                  <a:srgbClr val="FFFFFF"/>
                </a:solidFill>
                <a:latin typeface="Calibri"/>
              </a:rPr>
              <a:t>get_structured_llm(schema)</a:t>
            </a:r>
            <a:r>
              <a:rPr sz="1300" b="0">
                <a:solidFill>
                  <a:srgbClr val="8A97A6"/>
                </a:solidFill>
                <a:latin typeface="Calibri"/>
              </a:rPr>
              <a:t> через with_structured_output(json_mode)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5A36"/>
                </a:solidFill>
                <a:latin typeface="Calibri"/>
              </a:rPr>
              <a:t>•  </a:t>
            </a:r>
            <a:r>
              <a:rPr sz="1300" b="0">
                <a:solidFill>
                  <a:srgbClr val="8A97A6"/>
                </a:solidFill>
                <a:latin typeface="Calibri"/>
              </a:rPr>
              <a:t>автопарсинг в валидированный Pydantic-объект</a:t>
            </a:r>
          </a:p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5A36"/>
                </a:solidFill>
                <a:latin typeface="Calibri"/>
              </a:rPr>
              <a:t>•  </a:t>
            </a:r>
            <a:r>
              <a:rPr sz="1300" b="0">
                <a:solidFill>
                  <a:srgbClr val="8A97A6"/>
                </a:solidFill>
                <a:latin typeface="Calibri"/>
              </a:rPr>
              <a:t>кэш Runnable по схеме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73736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Retry-логика (_try_with_retries)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148840"/>
            <a:ext cx="5303520" cy="3383280"/>
          </a:xfrm>
          <a:prstGeom prst="roundRect">
            <a:avLst>
              <a:gd name="adj" fmla="val 6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377440"/>
            <a:ext cx="484632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Повтор до MAX_RETRIES раз при: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5A36"/>
                </a:solidFill>
                <a:latin typeface="Calibri"/>
              </a:rPr>
              <a:t>•  </a:t>
            </a:r>
            <a:r>
              <a:rPr sz="1300" b="0">
                <a:solidFill>
                  <a:srgbClr val="8A97A6"/>
                </a:solidFill>
                <a:latin typeface="Calibri"/>
              </a:rPr>
              <a:t>RateLimitError / APITimeoutError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300" b="1">
                <a:solidFill>
                  <a:srgbClr val="FF5A36"/>
                </a:solidFill>
                <a:latin typeface="Calibri"/>
              </a:rPr>
              <a:t>•  </a:t>
            </a:r>
            <a:r>
              <a:rPr sz="1300" b="0">
                <a:solidFill>
                  <a:srgbClr val="8A97A6"/>
                </a:solidFill>
                <a:latin typeface="Calibri"/>
              </a:rPr>
              <a:t>пустом ответе модели (message.content = None)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8A97A6"/>
                </a:solidFill>
                <a:latin typeface="Calibri"/>
              </a:rPr>
              <a:t>Пустой ответ трактуется как сбой, а не валидный результат — ключевая защита от нестабильных моделей (например, DeepSeek-V4-Flash иногда отдаёт пустой контент).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623560"/>
            <a:ext cx="11064240" cy="640080"/>
          </a:xfrm>
          <a:prstGeom prst="roundRect">
            <a:avLst>
              <a:gd name="adj" fmla="val 12000"/>
            </a:avLst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7607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Модель конфигурируется через LLM_BASE_URL · LLM_API_KEY · LLM_MODEL_PRIMARY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32004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0" b="1" i="0">
                <a:solidFill>
                  <a:srgbClr val="FF5A36"/>
                </a:solidFill>
                <a:latin typeface="Calibri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977639"/>
            <a:ext cx="1097280" cy="73152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1605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Интерфейс и наблюдаемость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8A97A6"/>
                </a:solidFill>
                <a:latin typeface="Calibri"/>
              </a:rPr>
              <a:t>Frontend-приложение, метрики Prometheus/Grafana и защита системы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EVRAZ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457200" cy="64008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ИНТЕРФЕЙС И НАБЛЮДАЕМОСТЬ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Frontend (React + TypeScript)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EVRAZ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27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8308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23544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Страница</a:t>
                      </a:r>
                    </a:p>
                  </a:txBody>
                  <a:tcPr marL="91440" marR="91440" marT="27432" marB="27432" anchor="ctr">
                    <a:solidFill>
                      <a:srgbClr val="1C729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Возможности</a:t>
                      </a:r>
                    </a:p>
                  </a:txBody>
                  <a:tcPr marL="91440" marR="91440" marT="27432" marB="27432" anchor="ctr">
                    <a:solidFill>
                      <a:srgbClr val="1C729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1F24"/>
                          </a:solidFill>
                          <a:latin typeface="Calibri"/>
                        </a:rPr>
                        <a:t>Чат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1F24"/>
                          </a:solidFill>
                          <a:latin typeface="Calibri"/>
                        </a:rPr>
                        <a:t>вопросы к агенту, прогресс шагов, SQL-блок, таблица/график результата, источники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1F24"/>
                          </a:solidFill>
                          <a:latin typeface="Calibri"/>
                        </a:rPr>
                        <a:t>Файлы</a:t>
                      </a:r>
                    </a:p>
                  </a:txBody>
                  <a:tcPr marL="91440" marR="91440" marT="27432" marB="27432" anchor="ctr">
                    <a:solidFill>
                      <a:srgbClr val="F0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1F24"/>
                          </a:solidFill>
                          <a:latin typeface="Calibri"/>
                        </a:rPr>
                        <a:t>загрузка Excel, статусы обработки, просмотр листов и структуры</a:t>
                      </a:r>
                    </a:p>
                  </a:txBody>
                  <a:tcPr marL="91440" marR="91440" marT="27432" marB="27432" anchor="ctr">
                    <a:solidFill>
                      <a:srgbClr val="F0F2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1F24"/>
                          </a:solidFill>
                          <a:latin typeface="Calibri"/>
                        </a:rPr>
                        <a:t>Дашборд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1F24"/>
                          </a:solidFill>
                          <a:latin typeface="Calibri"/>
                        </a:rPr>
                        <a:t>общая панель состояния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1F24"/>
                          </a:solidFill>
                          <a:latin typeface="Calibri"/>
                        </a:rPr>
                        <a:t>Метрики</a:t>
                      </a:r>
                    </a:p>
                  </a:txBody>
                  <a:tcPr marL="91440" marR="91440" marT="27432" marB="27432" anchor="ctr">
                    <a:solidFill>
                      <a:srgbClr val="F0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1F24"/>
                          </a:solidFill>
                          <a:latin typeface="Calibri"/>
                        </a:rPr>
                        <a:t>Prometheus-метрики системы</a:t>
                      </a:r>
                    </a:p>
                  </a:txBody>
                  <a:tcPr marL="91440" marR="91440" marT="27432" marB="27432" anchor="ctr">
                    <a:solidFill>
                      <a:srgbClr val="F0F2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1F24"/>
                          </a:solidFill>
                          <a:latin typeface="Calibri"/>
                        </a:rPr>
                        <a:t>Трейсы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1F24"/>
                          </a:solidFill>
                          <a:latin typeface="Calibri"/>
                        </a:rPr>
                        <a:t>просмотр выполнения графа агента по шагам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70916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Ключевые компоненты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12064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2578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8A97A6"/>
                </a:solidFill>
                <a:latin typeface="Calibri"/>
              </a:rPr>
              <a:t>AgentProgress · ChatMessage · ResultChart (Chart.js) · ResultTable · SourcesModal · SqlBlock · TypingIndicator · SheetViewer · FileUpload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457200" cy="64008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ИНТЕРФЕЙС И НАБЛЮДАЕМОСТЬ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Наблюдаемость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EVRAZ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5394960" cy="164592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659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Prometheus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B199"/>
                </a:solidFill>
                <a:latin typeface="Calibri"/>
              </a:rPr>
              <a:t>/metrics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51760"/>
            <a:ext cx="4937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A97A6"/>
                </a:solidFill>
                <a:latin typeface="Calibri"/>
              </a:rPr>
              <a:t>RPS и латентность /ask · per-node latency графа · доля failed/low_confidence · token usage LLM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783080"/>
            <a:ext cx="5394960" cy="164592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9659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query_logs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33172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B199"/>
                </a:solidFill>
                <a:latin typeface="Calibri"/>
              </a:rPr>
              <a:t>журнал запросов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651760"/>
            <a:ext cx="4937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A97A6"/>
                </a:solidFill>
                <a:latin typeface="Calibri"/>
              </a:rPr>
              <a:t>Latency по узлам · тексты ошибок · полные трейсы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611880"/>
            <a:ext cx="5394960" cy="164592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7947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Grafana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16052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B199"/>
                </a:solidFill>
                <a:latin typeface="Calibri"/>
              </a:rPr>
              <a:t>порт 3001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480560"/>
            <a:ext cx="4937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A97A6"/>
                </a:solidFill>
                <a:latin typeface="Calibri"/>
              </a:rPr>
              <a:t>визуализация, подключена через provisioning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611880"/>
            <a:ext cx="5394960" cy="164592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7947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Логи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16052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B199"/>
                </a:solidFill>
                <a:latin typeface="Calibri"/>
              </a:rPr>
              <a:t>loguru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480560"/>
            <a:ext cx="4937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A97A6"/>
                </a:solidFill>
                <a:latin typeface="Calibri"/>
              </a:rPr>
              <a:t>собираются в Docker Compose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457200" cy="64008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ИНТЕРФЕЙС И НАБЛЮДАЕМОСТЬ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Безопасность и защита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EVRAZ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5394960" cy="1234440"/>
          </a:xfrm>
          <a:prstGeom prst="roundRect">
            <a:avLst>
              <a:gd name="adj" fmla="val 7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947672"/>
            <a:ext cx="49926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API-key auth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331720"/>
            <a:ext cx="499262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8A97A6"/>
                </a:solidFill>
                <a:latin typeface="Calibri"/>
              </a:rPr>
              <a:t>заголовок X-API-Key для /files/* и /ask/*; в dev — отключена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783080"/>
            <a:ext cx="5394960" cy="1234440"/>
          </a:xfrm>
          <a:prstGeom prst="roundRect">
            <a:avLst>
              <a:gd name="adj" fmla="val 7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947672"/>
            <a:ext cx="49926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Rate limiting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331720"/>
            <a:ext cx="499262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8A97A6"/>
                </a:solidFill>
                <a:latin typeface="Calibri"/>
              </a:rPr>
              <a:t>slowapi: RATE_LIMIT_ASK = 30/min, RATE_LIMIT_UPLOAD = 10/min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200400"/>
            <a:ext cx="5394960" cy="1234440"/>
          </a:xfrm>
          <a:prstGeom prst="roundRect">
            <a:avLst>
              <a:gd name="adj" fmla="val 7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364992"/>
            <a:ext cx="49926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Read-only 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749040"/>
            <a:ext cx="4992624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8A97A6"/>
                </a:solidFill>
                <a:latin typeface="Calibri"/>
              </a:rPr>
              <a:t>агент физически не может изменить данные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00400"/>
            <a:ext cx="5394960" cy="1234440"/>
          </a:xfrm>
          <a:prstGeom prst="roundRect">
            <a:avLst>
              <a:gd name="adj" fmla="val 7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3364992"/>
            <a:ext cx="49926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Секреты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3749040"/>
            <a:ext cx="4992624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8A97A6"/>
                </a:solidFill>
                <a:latin typeface="Calibri"/>
              </a:rPr>
              <a:t>только через .env; рекомендуется secrets-менеджер (Vault)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617720"/>
            <a:ext cx="5394960" cy="1234440"/>
          </a:xfrm>
          <a:prstGeom prst="roundRect">
            <a:avLst>
              <a:gd name="adj" fmla="val 7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4782312"/>
            <a:ext cx="49926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Устойчивость LLM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5166359"/>
            <a:ext cx="499262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8A97A6"/>
                </a:solidFill>
                <a:latin typeface="Calibri"/>
              </a:rPr>
              <a:t>ретраи при rate-limit, таймаутах и пустом ответе модели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4617720"/>
            <a:ext cx="5394960" cy="1234440"/>
          </a:xfrm>
          <a:prstGeom prst="roundRect">
            <a:avLst>
              <a:gd name="adj" fmla="val 7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3368" y="4782312"/>
            <a:ext cx="49926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Structured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5166359"/>
            <a:ext cx="499262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8A97A6"/>
                </a:solidFill>
                <a:latin typeface="Calibri"/>
              </a:rPr>
              <a:t>Pydantic для классификатора и планировщика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32004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0" b="1" i="0">
                <a:solidFill>
                  <a:srgbClr val="FF5A36"/>
                </a:solidFill>
                <a:latin typeface="Calibri"/>
              </a:rP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977639"/>
            <a:ext cx="1097280" cy="73152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1605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Качество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8A97A6"/>
                </a:solidFill>
                <a:latin typeface="Calibri"/>
              </a:rPr>
              <a:t>Тесты, golden-датасет для регрессионного контроля и CI/CD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EVRAZ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457200" cy="64008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КАЧЕСТВО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Качество: тесты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EVRAZ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31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83080"/>
          <a:ext cx="1106424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704088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Тест</a:t>
                      </a:r>
                    </a:p>
                  </a:txBody>
                  <a:tcPr marL="91440" marR="91440" marT="27432" marB="27432" anchor="ctr">
                    <a:solidFill>
                      <a:srgbClr val="1C729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Что проверяет</a:t>
                      </a:r>
                    </a:p>
                  </a:txBody>
                  <a:tcPr marL="91440" marR="91440" marT="27432" marB="27432" anchor="ctr">
                    <a:solidFill>
                      <a:srgbClr val="1C729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F24"/>
                          </a:solidFill>
                          <a:latin typeface="Calibri"/>
                        </a:rPr>
                        <a:t>test_sql_compiler.py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F24"/>
                          </a:solidFill>
                          <a:latin typeface="Calibri"/>
                        </a:rPr>
                        <a:t>безопасный компилятор SQL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F24"/>
                          </a:solidFill>
                          <a:latin typeface="Calibri"/>
                        </a:rPr>
                        <a:t>test_normalizer_dimension.py</a:t>
                      </a:r>
                    </a:p>
                  </a:txBody>
                  <a:tcPr marL="91440" marR="91440" marT="27432" marB="27432" anchor="ctr">
                    <a:solidFill>
                      <a:srgbClr val="F0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F24"/>
                          </a:solidFill>
                          <a:latin typeface="Calibri"/>
                        </a:rPr>
                        <a:t>нормализация измерений</a:t>
                      </a:r>
                    </a:p>
                  </a:txBody>
                  <a:tcPr marL="91440" marR="91440" marT="27432" marB="27432" anchor="ctr">
                    <a:solidFill>
                      <a:srgbClr val="F0F2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F24"/>
                          </a:solidFill>
                          <a:latin typeface="Calibri"/>
                        </a:rPr>
                        <a:t>test_classifier_domain.py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F24"/>
                          </a:solidFill>
                          <a:latin typeface="Calibri"/>
                        </a:rPr>
                        <a:t>классификатор доменов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F24"/>
                          </a:solidFill>
                          <a:latin typeface="Calibri"/>
                        </a:rPr>
                        <a:t>test_parser_header_detection.py</a:t>
                      </a:r>
                    </a:p>
                  </a:txBody>
                  <a:tcPr marL="91440" marR="91440" marT="27432" marB="27432" anchor="ctr">
                    <a:solidFill>
                      <a:srgbClr val="F0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F24"/>
                          </a:solidFill>
                          <a:latin typeface="Calibri"/>
                        </a:rPr>
                        <a:t>определение шапки Excel</a:t>
                      </a:r>
                    </a:p>
                  </a:txBody>
                  <a:tcPr marL="91440" marR="91440" marT="27432" marB="27432" anchor="ctr">
                    <a:solidFill>
                      <a:srgbClr val="F0F2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F24"/>
                          </a:solidFill>
                          <a:latin typeface="Calibri"/>
                        </a:rPr>
                        <a:t>test_sheet_kind_detector_domain.py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F24"/>
                          </a:solidFill>
                          <a:latin typeface="Calibri"/>
                        </a:rPr>
                        <a:t>детектор типа листа (prices/matrix/generic)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F24"/>
                          </a:solidFill>
                          <a:latin typeface="Calibri"/>
                        </a:rPr>
                        <a:t>test_golden_dataset.py</a:t>
                      </a:r>
                    </a:p>
                  </a:txBody>
                  <a:tcPr marL="91440" marR="91440" marT="27432" marB="27432" anchor="ctr">
                    <a:solidFill>
                      <a:srgbClr val="F0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F24"/>
                          </a:solidFill>
                          <a:latin typeface="Calibri"/>
                        </a:rPr>
                        <a:t>golden-датасет — эталонные вопросы (маркер golden)</a:t>
                      </a:r>
                    </a:p>
                  </a:txBody>
                  <a:tcPr marL="91440" marR="91440" marT="27432" marB="27432" anchor="ctr">
                    <a:solidFill>
                      <a:srgbClr val="F0F2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F24"/>
                          </a:solidFill>
                          <a:latin typeface="Calibri"/>
                        </a:rPr>
                        <a:t>tests/integration/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F24"/>
                          </a:solidFill>
                          <a:latin typeface="Calibri"/>
                        </a:rPr>
                        <a:t>интеграционные тесты с PostgreSQL (маркер integration)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892040"/>
            <a:ext cx="11064240" cy="118872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0749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B199"/>
                </a:solidFill>
                <a:latin typeface="Calibri"/>
              </a:rPr>
              <a:t>pytest tests/</a:t>
            </a:r>
            <a:r>
              <a:rPr sz="1300" b="0">
                <a:solidFill>
                  <a:srgbClr val="8A97A6"/>
                </a:solidFill>
                <a:latin typeface="Calibri"/>
              </a:rPr>
              <a:t>            # юнит-тесты (без LLM)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B199"/>
                </a:solidFill>
                <a:latin typeface="Calibri"/>
              </a:rPr>
              <a:t>pytest -m golden tests/</a:t>
            </a:r>
            <a:r>
              <a:rPr sz="1300" b="0">
                <a:solidFill>
                  <a:srgbClr val="8A97A6"/>
                </a:solidFill>
                <a:latin typeface="Calibri"/>
              </a:rPr>
              <a:t>  # интеграционные golden-тесты (LLM + данные)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8A97A6"/>
                </a:solidFill>
                <a:latin typeface="Calibri"/>
              </a:rPr>
              <a:t>Golden-датасет прогоняется в CI при каждом изменении промптов / схемы / нормализации.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457200" cy="64008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КАЧЕСТВО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Golden dataset и CI/CD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EVRAZ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Golden 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53035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5A36"/>
                </a:solidFill>
                <a:latin typeface="Calibri"/>
              </a:rPr>
              <a:t>•  </a:t>
            </a:r>
            <a:r>
              <a:rPr sz="1300" b="0">
                <a:solidFill>
                  <a:srgbClr val="8A97A6"/>
                </a:solidFill>
                <a:latin typeface="Calibri"/>
              </a:rPr>
              <a:t>tests/golden_questions.json — 30 эталонных вопросов (g001–g030)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5A36"/>
                </a:solidFill>
                <a:latin typeface="Calibri"/>
              </a:rPr>
              <a:t>•  </a:t>
            </a:r>
            <a:r>
              <a:rPr sz="1300" b="0">
                <a:solidFill>
                  <a:srgbClr val="8A97A6"/>
                </a:solidFill>
                <a:latin typeface="Calibri"/>
              </a:rPr>
              <a:t>ожидаемые SQL-сигнатуры (expected_sql_hint)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5A36"/>
                </a:solidFill>
                <a:latin typeface="Calibri"/>
              </a:rPr>
              <a:t>•  </a:t>
            </a:r>
            <a:r>
              <a:rPr sz="1300" b="0">
                <a:solidFill>
                  <a:srgbClr val="8A97A6"/>
                </a:solidFill>
                <a:latin typeface="Calibri"/>
              </a:rPr>
              <a:t>типы результата (expected_result_type)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5A36"/>
                </a:solidFill>
                <a:latin typeface="Calibri"/>
              </a:rPr>
              <a:t>•  </a:t>
            </a:r>
            <a:r>
              <a:rPr sz="1300" b="0">
                <a:solidFill>
                  <a:srgbClr val="8A97A6"/>
                </a:solidFill>
                <a:latin typeface="Calibri"/>
              </a:rPr>
              <a:t>прогон через агента (marker golden)</a:t>
            </a:r>
          </a:p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5A36"/>
                </a:solidFill>
                <a:latin typeface="Calibri"/>
              </a:rPr>
              <a:t>•  </a:t>
            </a:r>
            <a:r>
              <a:rPr sz="1300" b="0">
                <a:solidFill>
                  <a:srgbClr val="8A97A6"/>
                </a:solidFill>
                <a:latin typeface="Calibri"/>
              </a:rPr>
              <a:t>отчёт по точности: scripts/run_golden_report.py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73736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CI (ci.yml)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148840"/>
            <a:ext cx="5303520" cy="237744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377440"/>
            <a:ext cx="48463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0">
                <a:solidFill>
                  <a:srgbClr val="8A97A6"/>
                </a:solidFill>
                <a:latin typeface="Calibri"/>
              </a:rPr>
              <a:t>Триггер: push в main/master или pull_request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5A36"/>
                </a:solidFill>
                <a:latin typeface="Calibri"/>
              </a:rPr>
              <a:t>•  </a:t>
            </a:r>
            <a:r>
              <a:rPr sz="1250" b="0">
                <a:solidFill>
                  <a:srgbClr val="8A97A6"/>
                </a:solidFill>
                <a:latin typeface="Calibri"/>
              </a:rPr>
              <a:t>unit: pytest -m 'not golden and not integration' (Python 3.12, без БД)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5A36"/>
                </a:solidFill>
                <a:latin typeface="Calibri"/>
              </a:rPr>
              <a:t>•  </a:t>
            </a:r>
            <a:r>
              <a:rPr sz="1250" b="0">
                <a:solidFill>
                  <a:srgbClr val="8A97A6"/>
                </a:solidFill>
                <a:latin typeface="Calibri"/>
              </a:rPr>
              <a:t>integration: pytest tests/integration (postgres:16)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8A97A6"/>
                </a:solidFill>
                <a:latin typeface="Calibri"/>
              </a:rPr>
              <a:t>Golden-прогон в CI не запускается — только локально.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892040"/>
            <a:ext cx="11064240" cy="118872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0749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Подготовка golden-прогона: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FFB199"/>
                </a:solidFill>
                <a:latin typeface="Calibri"/>
              </a:rPr>
              <a:t>docker compose up -d  ·  alembic upgrade head  ·  python scripts/load_demo_data.py --check-mart  ·  python scripts/run_golden_report.py --json out/golden_report.json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457200" cy="64008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КАЧЕСТВО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CI/CD — диаграмма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EVRAZ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33</a:t>
            </a:r>
          </a:p>
        </p:txBody>
      </p:sp>
      <p:sp>
        <p:nvSpPr>
          <p:cNvPr id="8" name="Hexagon 7"/>
          <p:cNvSpPr/>
          <p:nvPr/>
        </p:nvSpPr>
        <p:spPr>
          <a:xfrm>
            <a:off x="731520" y="2194560"/>
            <a:ext cx="3291840" cy="640080"/>
          </a:xfrm>
          <a:prstGeom prst="hexagon">
            <a:avLst/>
          </a:prstGeom>
          <a:solidFill>
            <a:srgbClr val="262C33"/>
          </a:solidFill>
          <a:ln w="15240">
            <a:solidFill>
              <a:srgbClr val="FF5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push в main/master
или pull_request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23360" y="2514600"/>
            <a:ext cx="548640" cy="0"/>
          </a:xfrm>
          <a:prstGeom prst="line">
            <a:avLst/>
          </a:prstGeom>
          <a:ln w="19050">
            <a:solidFill>
              <a:srgbClr val="FF5A3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572000" y="1645920"/>
            <a:ext cx="6675120" cy="2926080"/>
          </a:xfrm>
          <a:prstGeom prst="roundRect">
            <a:avLst>
              <a:gd name="adj" fmla="val 5000"/>
            </a:avLst>
          </a:prstGeom>
          <a:solidFill>
            <a:srgbClr val="262C33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737360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B199"/>
                </a:solidFill>
                <a:latin typeface="Calibri"/>
              </a:rPr>
              <a:t>ci.yml — CI (unit + integration)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2148840"/>
            <a:ext cx="6126480" cy="822960"/>
          </a:xfrm>
          <a:prstGeom prst="roundRect">
            <a:avLst>
              <a:gd name="adj" fmla="val 8000"/>
            </a:avLst>
          </a:prstGeom>
          <a:solidFill>
            <a:srgbClr val="1B1F24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2286000"/>
            <a:ext cx="5760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FFFFFF"/>
                </a:solidFill>
                <a:latin typeface="Calibri"/>
              </a:rPr>
              <a:t>unit
pytest -m 'not golden and not integration' · Ubuntu, Python 3.12, без БД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995160" y="2971800"/>
            <a:ext cx="0" cy="274320"/>
          </a:xfrm>
          <a:prstGeom prst="line">
            <a:avLst/>
          </a:prstGeom>
          <a:ln w="19050">
            <a:solidFill>
              <a:srgbClr val="FF5A3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086600" y="3017520"/>
            <a:ext cx="1097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8A97A6"/>
                </a:solidFill>
                <a:latin typeface="Calibri"/>
              </a:rPr>
              <a:t>needs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46320" y="3246120"/>
            <a:ext cx="6126480" cy="822960"/>
          </a:xfrm>
          <a:prstGeom prst="roundRect">
            <a:avLst>
              <a:gd name="adj" fmla="val 8000"/>
            </a:avLst>
          </a:prstGeom>
          <a:solidFill>
            <a:srgbClr val="1B1F24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3383280"/>
            <a:ext cx="5760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FFFFFF"/>
                </a:solidFill>
                <a:latin typeface="Calibri"/>
              </a:rPr>
              <a:t>integration
pytest tests/integration · service: postgres:16, TEST_POSTGRES_URL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4754880"/>
            <a:ext cx="6675120" cy="548640"/>
          </a:xfrm>
          <a:prstGeom prst="roundRect">
            <a:avLst>
              <a:gd name="adj" fmla="val 10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0" y="4892040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Golden-прогон в CI не запускается — только локально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32004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0" b="1" i="0">
                <a:solidFill>
                  <a:srgbClr val="FF5A36"/>
                </a:solidFill>
                <a:latin typeface="Calibri"/>
              </a:rP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977639"/>
            <a:ext cx="1097280" cy="73152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1605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Демонстрация и развёртывание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8A97A6"/>
                </a:solidFill>
                <a:latin typeface="Calibri"/>
              </a:rPr>
              <a:t>Сценарий демонстрации, Docker Compose и быстрый старт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EVRAZ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457200" cy="64008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ДЕМОНСТРАЦИЯ И РАЗВЁРТЫВАНИЕ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Демонстрация — сценарий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EVRAZ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777240" cy="685800"/>
          </a:xfrm>
          <a:prstGeom prst="roundRect">
            <a:avLst>
              <a:gd name="adj" fmla="val 15000"/>
            </a:avLst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47672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Ш1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0136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Загрузка файла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1488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A97A6"/>
                </a:solidFill>
                <a:latin typeface="Calibri"/>
              </a:rPr>
              <a:t>Открываем «Файлы» → загружаем xlsx → система парсит, инферит схему, нормализует в витрину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51760"/>
            <a:ext cx="777240" cy="685800"/>
          </a:xfrm>
          <a:prstGeom prst="roundRect">
            <a:avLst>
              <a:gd name="adj" fmla="val 15000"/>
            </a:avLst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816352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Ш2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67004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Вопрос в чате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0175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A97A6"/>
                </a:solidFill>
                <a:latin typeface="Calibri"/>
              </a:rPr>
              <a:t>«Покажи среднюю цену лома меди у поставщика Сплав-21 за январь»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520439"/>
            <a:ext cx="777240" cy="685800"/>
          </a:xfrm>
          <a:prstGeom prst="roundRect">
            <a:avLst>
              <a:gd name="adj" fmla="val 15000"/>
            </a:avLst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685031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Ш3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538727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Наблюдаем агента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886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A97A6"/>
                </a:solidFill>
                <a:latin typeface="Calibri"/>
              </a:rPr>
              <a:t>Прогресс шагов: Classifier → Planner → CodeGen → Executor → Verifier → Answer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389120"/>
            <a:ext cx="777240" cy="685800"/>
          </a:xfrm>
          <a:prstGeom prst="roundRect">
            <a:avLst>
              <a:gd name="adj" fmla="val 15000"/>
            </a:avLst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553712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Ш4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407407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Проверяем прозрачность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548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A97A6"/>
                </a:solidFill>
                <a:latin typeface="Calibri"/>
              </a:rPr>
              <a:t>SQL-запрос, таблица/график с результатом, источники (листы и ячейки)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257800"/>
            <a:ext cx="777240" cy="685800"/>
          </a:xfrm>
          <a:prstGeom prst="roundRect">
            <a:avLst>
              <a:gd name="adj" fmla="val 15000"/>
            </a:avLst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422392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Ш5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527608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Метрики и трейсы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6235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A97A6"/>
                </a:solidFill>
                <a:latin typeface="Calibri"/>
              </a:rPr>
              <a:t>Latency узлов в Metrics и полный трейс запроса в Trace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457200" cy="64008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ДЕМОНСТРАЦИЯ И РАЗВЁРТЫВАНИЕ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Архитектура развёртывания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EVRAZ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36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8308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463040"/>
                <a:gridCol w="722376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Сервис</a:t>
                      </a:r>
                    </a:p>
                  </a:txBody>
                  <a:tcPr marL="91440" marR="91440" marT="27432" marB="27432" anchor="ctr">
                    <a:solidFill>
                      <a:srgbClr val="1C729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Порт</a:t>
                      </a:r>
                    </a:p>
                  </a:txBody>
                  <a:tcPr marL="91440" marR="91440" marT="27432" marB="27432" anchor="ctr">
                    <a:solidFill>
                      <a:srgbClr val="1C729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Назначение</a:t>
                      </a:r>
                    </a:p>
                  </a:txBody>
                  <a:tcPr marL="91440" marR="91440" marT="27432" marB="27432" anchor="ctr">
                    <a:solidFill>
                      <a:srgbClr val="1C729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1F24"/>
                          </a:solidFill>
                          <a:latin typeface="Calibri"/>
                        </a:rPr>
                        <a:t>postgres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1F24"/>
                          </a:solidFill>
                          <a:latin typeface="Calibri"/>
                        </a:rPr>
                        <a:t>5432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1F24"/>
                          </a:solidFill>
                          <a:latin typeface="Calibri"/>
                        </a:rPr>
                        <a:t>PostgreSQL 16 (+ pg_trgm)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1F24"/>
                          </a:solidFill>
                          <a:latin typeface="Calibri"/>
                        </a:rPr>
                        <a:t>service</a:t>
                      </a:r>
                    </a:p>
                  </a:txBody>
                  <a:tcPr marL="91440" marR="91440" marT="27432" marB="27432" anchor="ctr">
                    <a:solidFill>
                      <a:srgbClr val="F0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1F24"/>
                          </a:solidFill>
                          <a:latin typeface="Calibri"/>
                        </a:rPr>
                        <a:t>8000</a:t>
                      </a:r>
                    </a:p>
                  </a:txBody>
                  <a:tcPr marL="91440" marR="91440" marT="27432" marB="27432" anchor="ctr">
                    <a:solidFill>
                      <a:srgbClr val="F0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1F24"/>
                          </a:solidFill>
                          <a:latin typeface="Calibri"/>
                        </a:rPr>
                        <a:t>FastAPI-приложение (Swagger /docs)</a:t>
                      </a:r>
                    </a:p>
                  </a:txBody>
                  <a:tcPr marL="91440" marR="91440" marT="27432" marB="27432" anchor="ctr">
                    <a:solidFill>
                      <a:srgbClr val="F0F2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1F24"/>
                          </a:solidFill>
                          <a:latin typeface="Calibri"/>
                        </a:rPr>
                        <a:t>frontend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1F24"/>
                          </a:solidFill>
                          <a:latin typeface="Calibri"/>
                        </a:rPr>
                        <a:t>8080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1F24"/>
                          </a:solidFill>
                          <a:latin typeface="Calibri"/>
                        </a:rPr>
                        <a:t>React + Nginx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1F24"/>
                          </a:solidFill>
                          <a:latin typeface="Calibri"/>
                        </a:rPr>
                        <a:t>prometheus</a:t>
                      </a:r>
                    </a:p>
                  </a:txBody>
                  <a:tcPr marL="91440" marR="91440" marT="27432" marB="27432" anchor="ctr">
                    <a:solidFill>
                      <a:srgbClr val="F0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1F24"/>
                          </a:solidFill>
                          <a:latin typeface="Calibri"/>
                        </a:rPr>
                        <a:t>9090</a:t>
                      </a:r>
                    </a:p>
                  </a:txBody>
                  <a:tcPr marL="91440" marR="91440" marT="27432" marB="27432" anchor="ctr">
                    <a:solidFill>
                      <a:srgbClr val="F0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1F24"/>
                          </a:solidFill>
                          <a:latin typeface="Calibri"/>
                        </a:rPr>
                        <a:t>сбор метрик</a:t>
                      </a:r>
                    </a:p>
                  </a:txBody>
                  <a:tcPr marL="91440" marR="91440" marT="27432" marB="27432" anchor="ctr">
                    <a:solidFill>
                      <a:srgbClr val="F0F2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1F24"/>
                          </a:solidFill>
                          <a:latin typeface="Calibri"/>
                        </a:rPr>
                        <a:t>grafana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1F24"/>
                          </a:solidFill>
                          <a:latin typeface="Calibri"/>
                        </a:rPr>
                        <a:t>3001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1F24"/>
                          </a:solidFill>
                          <a:latin typeface="Calibri"/>
                        </a:rPr>
                        <a:t>дашборды (admin/admin)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70916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Запуск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120640"/>
            <a:ext cx="11064240" cy="100584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257800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B199"/>
                </a:solidFill>
                <a:latin typeface="Calibri"/>
              </a:rPr>
              <a:t>cp .env.example .env        # заполнить LLM_* и POSTGRES_*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B199"/>
                </a:solidFill>
                <a:latin typeface="Calibri"/>
              </a:rPr>
              <a:t>docker compose up --build -d</a:t>
            </a:r>
          </a:p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B199"/>
                </a:solidFill>
                <a:latin typeface="Calibri"/>
              </a:rPr>
              <a:t>docker compose exec service alembic upgrade head   # → http://localhost:8080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457200" cy="64008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ДЕМОНСТРАЦИЯ И РАЗВЁРТЫВАНИЕ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Развёртывание — диаграмма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EVRAZ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0" y="1554480"/>
            <a:ext cx="1737360" cy="457200"/>
          </a:xfrm>
          <a:prstGeom prst="roundRect">
            <a:avLst>
              <a:gd name="adj" fmla="val 15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0" y="162763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Браузер пользователя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80760" y="2011680"/>
            <a:ext cx="0" cy="274320"/>
          </a:xfrm>
          <a:prstGeom prst="line">
            <a:avLst/>
          </a:prstGeom>
          <a:ln w="19050">
            <a:solidFill>
              <a:srgbClr val="FF5A3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217920" y="2029968"/>
            <a:ext cx="1463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8A97A6"/>
                </a:solidFill>
                <a:latin typeface="Calibri"/>
              </a:rPr>
              <a:t>:8080 или :80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2286000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235915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Nginx :80/:8080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606040"/>
            <a:ext cx="1737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8A97A6"/>
                </a:solidFill>
                <a:latin typeface="Calibri"/>
              </a:rPr>
              <a:t>React static build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80760" y="2834640"/>
            <a:ext cx="0" cy="274320"/>
          </a:xfrm>
          <a:prstGeom prst="line">
            <a:avLst/>
          </a:prstGeom>
          <a:ln w="19050">
            <a:solidFill>
              <a:srgbClr val="FF5A3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217920" y="2852928"/>
            <a:ext cx="1463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8A97A6"/>
                </a:solidFill>
                <a:latin typeface="Calibri"/>
              </a:rPr>
              <a:t>/api → :8000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12080" y="3108960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0" y="318211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service :8000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3429000"/>
            <a:ext cx="1737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8A97A6"/>
                </a:solidFill>
                <a:latin typeface="Calibri"/>
              </a:rPr>
              <a:t>uvicorn src.main:app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63040" y="4023360"/>
            <a:ext cx="2743200" cy="82296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54480" y="411480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postgres:16-alpine :5432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38912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8A97A6"/>
                </a:solidFill>
                <a:latin typeface="Calibri"/>
              </a:rPr>
              <a:t>scripts/init-db →
docker-entrypoint-initdb.d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2834640" y="3657600"/>
            <a:ext cx="3246120" cy="365760"/>
          </a:xfrm>
          <a:prstGeom prst="line">
            <a:avLst/>
          </a:prstGeom>
          <a:ln w="19050">
            <a:solidFill>
              <a:srgbClr val="FF5A3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840480" y="3703320"/>
            <a:ext cx="1463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8A97A6"/>
                </a:solidFill>
                <a:latin typeface="Calibri"/>
              </a:rPr>
              <a:t>:5432, asyncpg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55279" y="4023360"/>
            <a:ext cx="2743200" cy="82296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0" y="411480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prometheus :9090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438912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8A97A6"/>
                </a:solidFill>
                <a:latin typeface="Calibri"/>
              </a:rPr>
              <a:t>grafana :3001 (admin/admin)
datasource provisioning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80760" y="3657600"/>
            <a:ext cx="1874519" cy="365760"/>
          </a:xfrm>
          <a:prstGeom prst="line">
            <a:avLst/>
          </a:prstGeom>
          <a:ln w="19050">
            <a:solidFill>
              <a:srgbClr val="FF5A3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400800" y="3703320"/>
            <a:ext cx="1463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8A97A6"/>
                </a:solidFill>
                <a:latin typeface="Calibri"/>
              </a:rPr>
              <a:t>/metrics :8000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212080" y="5120640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12080" y="519379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LLM API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80" y="5440680"/>
            <a:ext cx="1737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8A97A6"/>
                </a:solidFill>
                <a:latin typeface="Calibri"/>
              </a:rPr>
              <a:t>OpenAI-совместимый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080760" y="3657600"/>
            <a:ext cx="0" cy="1463040"/>
          </a:xfrm>
          <a:prstGeom prst="line">
            <a:avLst/>
          </a:prstGeom>
          <a:ln w="19050">
            <a:solidFill>
              <a:srgbClr val="FF5A3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217920" y="4206240"/>
            <a:ext cx="1463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8A97A6"/>
                </a:solidFill>
                <a:latin typeface="Calibri"/>
              </a:rPr>
              <a:t>LLM_BASE_URL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7955279" y="4572000"/>
            <a:ext cx="0" cy="274320"/>
          </a:xfrm>
          <a:prstGeom prst="line">
            <a:avLst/>
          </a:prstGeom>
          <a:ln w="12700">
            <a:solidFill>
              <a:srgbClr val="8A97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046720" y="4617720"/>
            <a:ext cx="1463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8A97A6"/>
                </a:solidFill>
                <a:latin typeface="Calibri"/>
              </a:rPr>
              <a:t>datasource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457200" cy="64008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ДЕМОНСТРАЦИЯ И РАЗВЁРТЫВАНИЕ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Быстрый старт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EVRAZ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38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783080"/>
            <a:ext cx="640080" cy="5943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74519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80136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Конфигурация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130552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A97A6"/>
                </a:solidFill>
                <a:latin typeface="Calibri"/>
              </a:rPr>
              <a:t>cp .env.example .env → заполнить LLM_* и POSTGRES_*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560320"/>
            <a:ext cx="640080" cy="5943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651760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57860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Запуск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907791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A97A6"/>
                </a:solidFill>
                <a:latin typeface="Calibri"/>
              </a:rPr>
              <a:t>docker compose up --build -d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337560"/>
            <a:ext cx="640080" cy="5943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429000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35584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Миграции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685032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A97A6"/>
                </a:solidFill>
                <a:latin typeface="Calibri"/>
              </a:rPr>
              <a:t>docker compose exec service alembic upgrade head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4114800"/>
            <a:ext cx="640080" cy="5943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206240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133087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Данные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462272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A97A6"/>
                </a:solidFill>
                <a:latin typeface="Calibri"/>
              </a:rPr>
              <a:t>загрузить Excel через страницу «Файлы»</a:t>
            </a:r>
          </a:p>
        </p:txBody>
      </p:sp>
      <p:sp>
        <p:nvSpPr>
          <p:cNvPr id="24" name="Oval 23"/>
          <p:cNvSpPr/>
          <p:nvPr/>
        </p:nvSpPr>
        <p:spPr>
          <a:xfrm>
            <a:off x="548640" y="4892040"/>
            <a:ext cx="640080" cy="5943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983479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4910327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Вопросы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5239512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A97A6"/>
                </a:solidFill>
                <a:latin typeface="Calibri"/>
              </a:rPr>
              <a:t>задавать вопросы в «Чате»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760720"/>
            <a:ext cx="11064240" cy="640080"/>
          </a:xfrm>
          <a:prstGeom prst="roundRect">
            <a:avLst>
              <a:gd name="adj" fmla="val 12000"/>
            </a:avLst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Backend: :8000/docs (Swagger)  ·  Frontend: :8080  ·  Prometheus: :9090  ·  Grafana: :3001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32004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0" b="1" i="0">
                <a:solidFill>
                  <a:srgbClr val="FF5A36"/>
                </a:solidFill>
                <a:latin typeface="Calibri"/>
              </a:rPr>
              <a:t>08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977639"/>
            <a:ext cx="1097280" cy="73152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1605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Итоги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8A97A6"/>
                </a:solidFill>
                <a:latin typeface="Calibri"/>
              </a:rPr>
              <a:t>Что сделано, ключевые принципы и перспективы развития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EVRAZ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457200" cy="64008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ИТОГИ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Итоги и перспективы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EVRAZ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Что сделано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539496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2E7D32"/>
                </a:solidFill>
                <a:latin typeface="Calibri"/>
              </a:rPr>
              <a:t>✓  </a:t>
            </a:r>
            <a:r>
              <a:rPr sz="1300" b="0">
                <a:solidFill>
                  <a:srgbClr val="8A97A6"/>
                </a:solidFill>
                <a:latin typeface="Calibri"/>
              </a:rPr>
              <a:t>Асинхронный ingestion Excel → нормализованная витрина данных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2E7D32"/>
                </a:solidFill>
                <a:latin typeface="Calibri"/>
              </a:rPr>
              <a:t>✓  </a:t>
            </a:r>
            <a:r>
              <a:rPr sz="1300" b="0">
                <a:solidFill>
                  <a:srgbClr val="8A97A6"/>
                </a:solidFill>
                <a:latin typeface="Calibri"/>
              </a:rPr>
              <a:t>LangGraph-агент «вопрос → SQL → ответ» с полным трейсом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2E7D32"/>
                </a:solidFill>
                <a:latin typeface="Calibri"/>
              </a:rPr>
              <a:t>✓  </a:t>
            </a:r>
            <a:r>
              <a:rPr sz="1300" b="0">
                <a:solidFill>
                  <a:srgbClr val="8A97A6"/>
                </a:solidFill>
                <a:latin typeface="Calibri"/>
              </a:rPr>
              <a:t>Безопасная генерация SQL (whitelist + blacklist + валидация)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2E7D32"/>
                </a:solidFill>
                <a:latin typeface="Calibri"/>
              </a:rPr>
              <a:t>✓  </a:t>
            </a:r>
            <a:r>
              <a:rPr sz="1300" b="0">
                <a:solidFill>
                  <a:srgbClr val="8A97A6"/>
                </a:solidFill>
                <a:latin typeface="Calibri"/>
              </a:rPr>
              <a:t>Entity Resolution для точного сопоставления сущностей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2E7D32"/>
                </a:solidFill>
                <a:latin typeface="Calibri"/>
              </a:rPr>
              <a:t>✓  </a:t>
            </a:r>
            <a:r>
              <a:rPr sz="1300" b="0">
                <a:solidFill>
                  <a:srgbClr val="8A97A6"/>
                </a:solidFill>
                <a:latin typeface="Calibri"/>
              </a:rPr>
              <a:t>Современный React-интерфейс (чат, файлы, метрики, трейсы)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2E7D32"/>
                </a:solidFill>
                <a:latin typeface="Calibri"/>
              </a:rPr>
              <a:t>✓  </a:t>
            </a:r>
            <a:r>
              <a:rPr sz="1300" b="0">
                <a:solidFill>
                  <a:srgbClr val="8A97A6"/>
                </a:solidFill>
                <a:latin typeface="Calibri"/>
              </a:rPr>
              <a:t>Наблюдаемость: Prometheus + Grafana + журнал запросов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2E7D32"/>
                </a:solidFill>
                <a:latin typeface="Calibri"/>
              </a:rPr>
              <a:t>✓  </a:t>
            </a:r>
            <a:r>
              <a:rPr sz="1300" b="0">
                <a:solidFill>
                  <a:srgbClr val="8A97A6"/>
                </a:solidFill>
                <a:latin typeface="Calibri"/>
              </a:rPr>
              <a:t>Golden-датасет и тесты для контроля качества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73736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Ключевые принципы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148840"/>
            <a:ext cx="5303520" cy="137160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377440"/>
            <a:ext cx="48463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Нормализация вместо векторного поиска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Детерминизм вместо «магии» LLM</a:t>
            </a:r>
          </a:p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Прозрачность каждого ответа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749039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Перспективы развития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4160520"/>
            <a:ext cx="53949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FF5A36"/>
                </a:solidFill>
                <a:latin typeface="Calibri"/>
              </a:rPr>
              <a:t>•  </a:t>
            </a:r>
            <a:r>
              <a:rPr sz="1300" b="0">
                <a:solidFill>
                  <a:srgbClr val="8A97A6"/>
                </a:solidFill>
                <a:latin typeface="Calibri"/>
              </a:rPr>
              <a:t>Расширение типов вопросов и golden-датасета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FF5A36"/>
                </a:solidFill>
                <a:latin typeface="Calibri"/>
              </a:rPr>
              <a:t>•  </a:t>
            </a:r>
            <a:r>
              <a:rPr sz="1300" b="0">
                <a:solidFill>
                  <a:srgbClr val="8A97A6"/>
                </a:solidFill>
                <a:latin typeface="Calibri"/>
              </a:rPr>
              <a:t>Поддержка новых форматов листов (Schema Inference готов)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FF5A36"/>
                </a:solidFill>
                <a:latin typeface="Calibri"/>
              </a:rPr>
              <a:t>•  </a:t>
            </a:r>
            <a:r>
              <a:rPr sz="1300" b="0">
                <a:solidFill>
                  <a:srgbClr val="8A97A6"/>
                </a:solidFill>
                <a:latin typeface="Calibri"/>
              </a:rPr>
              <a:t>Secrets-менеджер (Vault) для прод-контура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FF5A36"/>
                </a:solidFill>
                <a:latin typeface="Calibri"/>
              </a:rPr>
              <a:t>•  </a:t>
            </a:r>
            <a:r>
              <a:rPr sz="1300" b="0">
                <a:solidFill>
                  <a:srgbClr val="8A97A6"/>
                </a:solidFill>
                <a:latin typeface="Calibri"/>
              </a:rPr>
              <a:t>Интеграция с корпоративной авторизацией (SSO)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FF5A36"/>
                </a:solidFill>
                <a:latin typeface="Calibri"/>
              </a:rPr>
              <a:t>•  </a:t>
            </a:r>
            <a:r>
              <a:rPr sz="1300" b="0">
                <a:solidFill>
                  <a:srgbClr val="8A97A6"/>
                </a:solidFill>
                <a:latin typeface="Calibri"/>
              </a:rPr>
              <a:t>Автоматические алерты в Grafana по качеству ответов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FF5A36"/>
                </a:solidFill>
                <a:latin typeface="Calibri"/>
              </a:rPr>
              <a:t>•  </a:t>
            </a:r>
            <a:r>
              <a:rPr sz="1300" b="0">
                <a:solidFill>
                  <a:srgbClr val="8A97A6"/>
                </a:solidFill>
                <a:latin typeface="Calibri"/>
              </a:rPr>
              <a:t>Мобильный клиент и экспорт отчётов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286000"/>
            <a:ext cx="457200" cy="64008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4231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B199"/>
                </a:solidFill>
                <a:latin typeface="Calibri"/>
              </a:rPr>
              <a:t>СПАСИБО ЗА ВНИМАНИЕ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346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 i="0">
                <a:solidFill>
                  <a:srgbClr val="FFFFFF"/>
                </a:solidFill>
                <a:latin typeface="Calibri"/>
              </a:rPr>
              <a:t>EVRAZ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8A97A6"/>
                </a:solidFill>
                <a:latin typeface="Calibri"/>
              </a:rPr>
              <a:t>AI-агент для интеллектуальной работы с Excel-файлами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720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B199"/>
                </a:solidFill>
                <a:latin typeface="Calibri"/>
              </a:rPr>
              <a:t>Вопросы?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4864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7A6"/>
                </a:solidFill>
                <a:latin typeface="Calibri"/>
              </a:rPr>
              <a:t>Подробности:  README.md  ·  PROJECT.md  ·  INSTRUCTIONS.md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EVRAZ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41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