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5" r:id="rId4"/>
    <p:sldId id="277" r:id="rId5"/>
    <p:sldId id="259" r:id="rId6"/>
    <p:sldId id="276" r:id="rId7"/>
    <p:sldId id="278" r:id="rId8"/>
    <p:sldId id="262" r:id="rId9"/>
    <p:sldId id="264" r:id="rId10"/>
    <p:sldId id="266" r:id="rId11"/>
    <p:sldId id="267" r:id="rId12"/>
    <p:sldId id="263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9327-E8A3-415C-A891-4B227273A86B}" type="datetimeFigureOut">
              <a:rPr lang="ru-RU" smtClean="0"/>
              <a:t>22.10.2026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F4842-1234-4207-91BD-833873F52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9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4842-1234-4207-91BD-833873F52AB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91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4842-1234-4207-91BD-833873F52AB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473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EVRAZ  ·  ДЕМОНСТРАЦИЯ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EVRAZ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8A97A6"/>
                </a:solidFill>
                <a:latin typeface="Calibri"/>
              </a:rPr>
              <a:t>ИИ-помощник для работы с Excel-файлами цен на цветные металлы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B199"/>
                </a:solidFill>
                <a:latin typeface="Calibri"/>
              </a:rPr>
              <a:t>Отвечает на вопросы специалистов простым языком — по данным, которые уже есть у компании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0474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Загрузил файл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413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Система сама разобрала структуру таблиц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50474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Задал вопрос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5413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Обычным языком, как коллеге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50474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Получил ответ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541324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Цифра · график · источник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</a:t>
            </a:r>
          </a:p>
        </p:txBody>
      </p:sp>
      <p:pic>
        <p:nvPicPr>
          <p:cNvPr id="23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-86868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Задача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Сделать работу с данными о ценах простой и быстрой: </a:t>
            </a:r>
            <a:r>
              <a:rPr sz="1800" b="1">
                <a:solidFill>
                  <a:srgbClr val="8A97A6"/>
                </a:solidFill>
                <a:latin typeface="Calibri"/>
              </a:rPr>
              <a:t>загрузил файл — задал вопрос — получил проверяемый ответ.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8775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Загрузил файл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сама разбирает файлы и приводит данные к единому виду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87752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Спросил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Вопрос обычным языком — ответ с цифрами, графиком и пояснением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Проверил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Всегда видно, откуда взялась цифра: файл, лист, период, строка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50791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Не переживаешь за данные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только читает данные, ничего не изменяет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≥ 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6692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Целевая точность ответов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6692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Ответов — с указанием источника</a:t>
            </a:r>
          </a:p>
        </p:txBody>
      </p:sp>
      <p:pic>
        <p:nvPicPr>
          <p:cNvPr id="31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0" y="-3429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Решение — обзор</a:t>
            </a:r>
            <a:endParaRPr lang="en-US" sz="3200" dirty="0"/>
          </a:p>
        </p:txBody>
      </p:sp>
      <p:sp>
        <p:nvSpPr>
          <p:cNvPr id="102" name="Node Excel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Excel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Excel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файл</a:t>
            </a:r>
            <a:endParaRPr lang="en-US" sz="1500" dirty="0"/>
          </a:p>
        </p:txBody>
      </p:sp>
      <p:sp>
        <p:nvSpPr>
          <p:cNvPr id="104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Парсинг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Парсинг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Парсинг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src/core/excel</a:t>
            </a:r>
            <a:endParaRPr lang="en-US" sz="1500" dirty="0"/>
          </a:p>
        </p:txBody>
      </p:sp>
      <p:sp>
        <p:nvSpPr>
          <p:cNvPr id="107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RAW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RAW"/>
          <p:cNvSpPr txBox="1"/>
          <p:nvPr/>
        </p:nvSpPr>
        <p:spPr>
          <a:xfrm>
            <a:off x="442569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RAW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таблицы public</a:t>
            </a:r>
            <a:endParaRPr lang="en-US" sz="1500" dirty="0"/>
          </a:p>
        </p:txBody>
      </p:sp>
      <p:sp>
        <p:nvSpPr>
          <p:cNvPr id="110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Нормализация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Нормализация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Нормализация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витрина mart</a:t>
            </a:r>
            <a:endParaRPr lang="en-US" sz="1500" dirty="0"/>
          </a:p>
        </p:txBody>
      </p:sp>
      <p:sp>
        <p:nvSpPr>
          <p:cNvPr id="113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LangGraph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LangGraph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LangGraph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агент</a:t>
            </a:r>
            <a:endParaRPr lang="en-US" sz="1500" dirty="0"/>
          </a:p>
        </p:txBody>
      </p:sp>
      <p:sp>
        <p:nvSpPr>
          <p:cNvPr id="116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Безопасный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Безопасный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Безопасный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SELECT</a:t>
            </a:r>
            <a:endParaRPr lang="en-US" sz="1500" dirty="0"/>
          </a:p>
        </p:txBody>
      </p:sp>
      <p:sp>
        <p:nvSpPr>
          <p:cNvPr id="119" name="Text 19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9B4C0"/>
                </a:solidFill>
              </a:rPr>
              <a:t>Вопрос пользователя → агент планирует и выполняет SQL → ответ + SQL + источники (PostgreSQL)</a:t>
            </a:r>
            <a:endParaRPr lang="en-US" sz="15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32130"/>
              </p:ext>
            </p:extLst>
          </p:nvPr>
        </p:nvGraphicFramePr>
        <p:xfrm>
          <a:off x="548640" y="3383280"/>
          <a:ext cx="11064240" cy="23957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Часть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Технологии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FastAPI, LangGraph, SQLAlchemy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API, парсинг, агент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React 18 + TypeScript + Vite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Чат, файлы, дашборд, метрики, трейсы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Инфраструктура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Docker Compose, Nginx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PostgreSQL, Prometheus, Grafana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3</a:t>
            </a:r>
          </a:p>
        </p:txBody>
      </p:sp>
      <p:pic>
        <p:nvPicPr>
          <p:cNvPr id="122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-10287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102" name="Card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Backend (Python ≥ 3.12)</a:t>
            </a:r>
            <a:endParaRPr lang="en-US" sz="1800" dirty="0"/>
          </a:p>
        </p:txBody>
      </p:sp>
      <p:sp>
        <p:nvSpPr>
          <p:cNvPr id="104" name="Text 4"/>
          <p:cNvSpPr txBox="1"/>
          <p:nvPr/>
        </p:nvSpPr>
        <p:spPr>
          <a:xfrm>
            <a:off x="8229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FastAPI + uvicorn — REST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LangGraph + checkpoint-postgres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langchain-openai — structured output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SQLAlchemy 2.0 (async) + Alembic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openpyxl, pandas — Excel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rapidfuzz — fuzzy 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loguru, prometheus-client, slowapi</a:t>
            </a:r>
            <a:endParaRPr lang="en-US" sz="1500" dirty="0"/>
          </a:p>
        </p:txBody>
      </p:sp>
      <p:sp>
        <p:nvSpPr>
          <p:cNvPr id="105" name="Card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6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Frontend (React)</a:t>
            </a:r>
            <a:endParaRPr lang="en-US" sz="1800" dirty="0"/>
          </a:p>
        </p:txBody>
      </p:sp>
      <p:sp>
        <p:nvSpPr>
          <p:cNvPr id="107" name="Text 7"/>
          <p:cNvSpPr txBox="1"/>
          <p:nvPr/>
        </p:nvSpPr>
        <p:spPr>
          <a:xfrm>
            <a:off x="457200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React 18 + TypeScript + Vite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react-router-dom — роутинг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chart.js — графики результатов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framer-motion — анимации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lucide-react — иконки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react-markdown — рендер ответов</a:t>
            </a:r>
            <a:endParaRPr lang="en-US" sz="1500" dirty="0"/>
          </a:p>
        </p:txBody>
      </p:sp>
      <p:sp>
        <p:nvSpPr>
          <p:cNvPr id="108" name="Card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9"/>
          <p:cNvSpPr txBox="1"/>
          <p:nvPr/>
        </p:nvSpPr>
        <p:spPr>
          <a:xfrm>
            <a:off x="8321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Инфраструктура (Docker)</a:t>
            </a:r>
            <a:endParaRPr lang="en-US" sz="1800" dirty="0"/>
          </a:p>
        </p:txBody>
      </p:sp>
      <p:sp>
        <p:nvSpPr>
          <p:cNvPr id="110" name="Text 10"/>
          <p:cNvSpPr txBox="1"/>
          <p:nvPr/>
        </p:nvSpPr>
        <p:spPr>
          <a:xfrm>
            <a:off x="832104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postgres:16-alpine — БД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service — FastAPI (:8000)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frontend — Nginx (:8080)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prometheus — метрики (:9090)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grafana — дашборды (:3001)</a:t>
            </a:r>
            <a:endParaRPr lang="en-US" sz="1500" dirty="0"/>
          </a:p>
        </p:txBody>
      </p:sp>
      <p:sp>
        <p:nvSpPr>
          <p:cNvPr id="1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4</a:t>
            </a:r>
          </a:p>
        </p:txBody>
      </p:sp>
      <p:pic>
        <p:nvPicPr>
          <p:cNvPr id="112" name="EVRAZ_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2789" y="-140478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Парсинг и нормализация: таблицы приводятся в порядок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2423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solidFill>
                  <a:srgbClr val="FFFFFF"/>
                </a:solidFill>
                <a:latin typeface="Calibri"/>
              </a:rPr>
              <a:t>1.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Читает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Находит все листы и ячейки — не пропускает объединённые и пустые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80360"/>
            <a:ext cx="1737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3317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2487168"/>
            <a:ext cx="2423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solidFill>
                  <a:srgbClr val="FFFFFF"/>
                </a:solidFill>
                <a:latin typeface="Calibri"/>
              </a:rPr>
              <a:t>2.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Понимает</a:t>
            </a:r>
            <a:r>
              <a:rPr sz="13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i="0" dirty="0" err="1">
                <a:solidFill>
                  <a:srgbClr val="FFFFFF"/>
                </a:solidFill>
                <a:latin typeface="Calibri"/>
              </a:rPr>
              <a:t>структуру</a:t>
            </a:r>
            <a:endParaRPr sz="13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8803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Определяет тип листа: цены, матрица поставщиков или производственные показатели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880360"/>
            <a:ext cx="173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317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487168"/>
            <a:ext cx="2423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3. Нормализует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Единые названия материалов и поставщиков, цена — руб./тн, привязка к месяцу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880360"/>
            <a:ext cx="17373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33172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2487168"/>
            <a:ext cx="24231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solidFill>
                  <a:srgbClr val="FFFFFF"/>
                </a:solidFill>
                <a:latin typeface="Calibri"/>
              </a:rPr>
              <a:t>4.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Собирает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в «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витрину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83814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8A97A6"/>
                </a:solidFill>
                <a:latin typeface="Calibri"/>
              </a:rPr>
              <a:t>Все данные складываются в одну понятную таблицу внутри компании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Важные принципы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4599431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Единые названия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983479"/>
            <a:ext cx="31638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«Ферроком», «ООО Ферроком», «Ферроком (ООО)» — для системы это один поставщик; так же и с материалами.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434840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4599431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Распознаёт знакомое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983479"/>
            <a:ext cx="31638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Файл, похожий на уже разобранный, разбирается автоматически — специалист подтверждает только что-то новое.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34840"/>
            <a:ext cx="3566160" cy="137160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4599431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Файлы не трогает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4983479"/>
            <a:ext cx="316382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Исходные Excel остаются без изменений: система только читает их и строит своё хранилище.</a:t>
            </a:r>
          </a:p>
        </p:txBody>
      </p:sp>
      <p:pic>
        <p:nvPicPr>
          <p:cNvPr id="36" name="EVRAZ_LOGO" descr="evraz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488" y="-73152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LLM-АГЕНТ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Как агент отвечает на вопрос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48640" y="2286000"/>
            <a:ext cx="1645920" cy="15544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40080" y="24323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36"/>
                </a:solidFill>
                <a:latin typeface="Calibri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8368" y="2743200"/>
            <a:ext cx="14264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FFFFFF"/>
                </a:solidFill>
                <a:latin typeface="Calibri"/>
              </a:rPr>
              <a:t>Вопрос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658368" y="315468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что спрашивают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12848" y="285292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432304" y="2286000"/>
            <a:ext cx="1645920" cy="15544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2523744" y="24323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36"/>
                </a:solidFill>
                <a:latin typeface="Calibri"/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42032" y="2743200"/>
            <a:ext cx="142646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Классификация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42032" y="315468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тип и домен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096511" y="285292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315968" y="2286000"/>
            <a:ext cx="1645920" cy="15544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407407" y="24323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36"/>
                </a:solidFill>
                <a:latin typeface="Calibri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425696" y="2743200"/>
            <a:ext cx="14264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FFFFFF"/>
                </a:solidFill>
                <a:latin typeface="Calibri"/>
              </a:rPr>
              <a:t>План</a:t>
            </a:r>
            <a:endParaRPr sz="14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4425696" y="315468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какие данные нужны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980175" y="285292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199631" y="2286000"/>
            <a:ext cx="1645920" cy="15544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291071" y="24323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36"/>
                </a:solidFill>
                <a:latin typeface="Calibri"/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09359" y="2743200"/>
            <a:ext cx="14264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309359" y="315468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только SELECT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863840" y="285292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083296" y="2286000"/>
            <a:ext cx="1645920" cy="15544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174736" y="24323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36"/>
                </a:solidFill>
                <a:latin typeface="Calibri"/>
              </a:rPr>
              <a:t>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193023" y="2743200"/>
            <a:ext cx="14264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Проверка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193023" y="315468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ответ сходится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747504" y="2852928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5A36"/>
                </a:solidFill>
                <a:latin typeface="Calibri"/>
              </a:rPr>
              <a:t>→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9966960" y="2286000"/>
            <a:ext cx="1645920" cy="155448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058400" y="243230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5A36"/>
                </a:solidFill>
                <a:latin typeface="Calibri"/>
              </a:rPr>
              <a:t>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076688" y="2743200"/>
            <a:ext cx="14264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Ответ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076688" y="3154680"/>
            <a:ext cx="14264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цифра + график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822959" y="4288536"/>
            <a:ext cx="10515600" cy="5212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Неоднозначный вопрос — агент переспросит. Ошибка в SQL или слабая уверенность — исправит и повторит (до 3 попыток). Данные только читаются.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48640" y="525780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777240" y="545896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Самопроверка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77240" y="5897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Пустой SQL или ошибка запроса — агент замечает и переделывает запрос.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343400" y="525780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4572000" y="545896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Только чтение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572000" y="5897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Изменение или удаление данных технически невозможно.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8138160" y="525780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8366760" y="545896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Ответ с источником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66760" y="58978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К каждому ответу — файл · лист · строка, которые можно открыть.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pic>
        <p:nvPicPr>
          <p:cNvPr id="147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160" y="-82960"/>
            <a:ext cx="1828800" cy="1028700"/>
          </a:xfrm>
          <a:prstGeom prst="rect">
            <a:avLst/>
          </a:prstGeom>
        </p:spPr>
      </p:pic>
      <p:sp>
        <p:nvSpPr>
          <p:cNvPr id="1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Безопасная генерация SQL</a:t>
            </a:r>
            <a:endParaRPr lang="en-US" sz="3200" dirty="0"/>
          </a:p>
        </p:txBody>
      </p:sp>
      <p:sp>
        <p:nvSpPr>
          <p:cNvPr id="102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Детерминированные правки в codegen</a:t>
            </a:r>
            <a:endParaRPr lang="en-US" sz="1800" dirty="0"/>
          </a:p>
        </p:txBody>
      </p:sp>
      <p:sp>
        <p:nvSpPr>
          <p:cNvPr id="103" name="Node «Все виды меди»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Label «Все виды меди»"/>
          <p:cNvSpPr txBox="1"/>
          <p:nvPr/>
        </p:nvSpPr>
        <p:spPr>
          <a:xfrm>
            <a:off x="621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«Все виды меди»</a:t>
            </a:r>
            <a:endParaRPr lang="en-US" sz="1600" dirty="0"/>
          </a:p>
        </p:txBody>
      </p:sp>
      <p:sp>
        <p:nvSpPr>
          <p:cNvPr id="105" name="Arrow"/>
          <p:cNvSpPr/>
          <p:nvPr/>
        </p:nvSpPr>
        <p:spPr>
          <a:xfrm>
            <a:off x="214884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6" name="Node item_name ILIKE 'Лом меди%'"/>
          <p:cNvSpPr/>
          <p:nvPr/>
        </p:nvSpPr>
        <p:spPr>
          <a:xfrm>
            <a:off x="251460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item_name ILIKE 'Лом меди%'"/>
          <p:cNvSpPr txBox="1"/>
          <p:nvPr/>
        </p:nvSpPr>
        <p:spPr>
          <a:xfrm>
            <a:off x="258775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item_name ILIKE 'Лом меди%'</a:t>
            </a:r>
            <a:endParaRPr lang="en-US" sz="1600" dirty="0"/>
          </a:p>
        </p:txBody>
      </p:sp>
      <p:sp>
        <p:nvSpPr>
          <p:cNvPr id="108" name="Node Поставщик «Сплав-21»"/>
          <p:cNvSpPr/>
          <p:nvPr/>
        </p:nvSpPr>
        <p:spPr>
          <a:xfrm>
            <a:off x="4297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Поставщик «Сплав-21»"/>
          <p:cNvSpPr txBox="1"/>
          <p:nvPr/>
        </p:nvSpPr>
        <p:spPr>
          <a:xfrm>
            <a:off x="4370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Поставщик «Сплав-21»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89788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'%сплав21%'"/>
          <p:cNvSpPr/>
          <p:nvPr/>
        </p:nvSpPr>
        <p:spPr>
          <a:xfrm>
            <a:off x="6263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'%сплав21%'"/>
          <p:cNvSpPr txBox="1"/>
          <p:nvPr/>
        </p:nvSpPr>
        <p:spPr>
          <a:xfrm>
            <a:off x="6336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'%сплав21%'</a:t>
            </a:r>
            <a:endParaRPr lang="en-US" sz="1600" dirty="0"/>
          </a:p>
        </p:txBody>
      </p:sp>
      <p:sp>
        <p:nvSpPr>
          <p:cNvPr id="113" name="Node Булевы поля is_blank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Label Булевы поля is_blank"/>
          <p:cNvSpPr txBox="1"/>
          <p:nvPr/>
        </p:nvSpPr>
        <p:spPr>
          <a:xfrm>
            <a:off x="811987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Булевы поля is_blank</a:t>
            </a:r>
            <a:endParaRPr lang="en-US" sz="1600" dirty="0"/>
          </a:p>
        </p:txBody>
      </p:sp>
      <p:sp>
        <p:nvSpPr>
          <p:cNvPr id="115" name="Arrow"/>
          <p:cNvSpPr/>
          <p:nvPr/>
        </p:nvSpPr>
        <p:spPr>
          <a:xfrm>
            <a:off x="964692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Node целые 0 / 1"/>
          <p:cNvSpPr/>
          <p:nvPr/>
        </p:nvSpPr>
        <p:spPr>
          <a:xfrm>
            <a:off x="10012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Label целые 0 / 1"/>
          <p:cNvSpPr txBox="1"/>
          <p:nvPr/>
        </p:nvSpPr>
        <p:spPr>
          <a:xfrm>
            <a:off x="10085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целые 0 / 1</a:t>
            </a:r>
            <a:endParaRPr lang="en-US" sz="1600" dirty="0"/>
          </a:p>
        </p:txBody>
      </p:sp>
      <p:sp>
        <p:nvSpPr>
          <p:cNvPr id="118" name="Text 1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Валидация перед выполнением</a:t>
            </a:r>
            <a:endParaRPr lang="en-US" sz="1800" dirty="0"/>
          </a:p>
        </p:txBody>
      </p:sp>
      <p:sp>
        <p:nvSpPr>
          <p:cNvPr id="119" name="Card"/>
          <p:cNvSpPr/>
          <p:nvPr/>
        </p:nvSpPr>
        <p:spPr>
          <a:xfrm>
            <a:off x="548640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Badge 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21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1</a:t>
            </a:r>
            <a:endParaRPr lang="en-US" sz="1600" dirty="0"/>
          </a:p>
        </p:txBody>
      </p:sp>
      <p:sp>
        <p:nvSpPr>
          <p:cNvPr id="122" name="Text 22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Только SELECT</a:t>
            </a:r>
            <a:endParaRPr lang="en-US" sz="1500" dirty="0"/>
          </a:p>
        </p:txBody>
      </p:sp>
      <p:sp>
        <p:nvSpPr>
          <p:cNvPr id="123" name="Text 23"/>
          <p:cNvSpPr txBox="1"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whitelist таблиц mart.*</a:t>
            </a:r>
            <a:endParaRPr lang="en-US" sz="1200" dirty="0"/>
          </a:p>
        </p:txBody>
      </p:sp>
      <p:sp>
        <p:nvSpPr>
          <p:cNvPr id="124" name="Card"/>
          <p:cNvSpPr/>
          <p:nvPr/>
        </p:nvSpPr>
        <p:spPr>
          <a:xfrm>
            <a:off x="3364992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Badge 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Text 26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2</a:t>
            </a:r>
            <a:endParaRPr lang="en-US" sz="1600" dirty="0"/>
          </a:p>
        </p:txBody>
      </p:sp>
      <p:sp>
        <p:nvSpPr>
          <p:cNvPr id="127" name="Text 27"/>
          <p:cNvSpPr txBox="1"/>
          <p:nvPr/>
        </p:nvSpPr>
        <p:spPr>
          <a:xfrm>
            <a:off x="354787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Blacklist</a:t>
            </a:r>
            <a:endParaRPr lang="en-US" sz="1500" dirty="0"/>
          </a:p>
        </p:txBody>
      </p:sp>
      <p:sp>
        <p:nvSpPr>
          <p:cNvPr id="128" name="Text 28"/>
          <p:cNvSpPr txBox="1"/>
          <p:nvPr/>
        </p:nvSpPr>
        <p:spPr>
          <a:xfrm>
            <a:off x="3547872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INSERT · UPDATE · DELETE · DROP · ALTER</a:t>
            </a:r>
            <a:endParaRPr lang="en-US" sz="1200" dirty="0"/>
          </a:p>
        </p:txBody>
      </p:sp>
      <p:sp>
        <p:nvSpPr>
          <p:cNvPr id="129" name="Card"/>
          <p:cNvSpPr/>
          <p:nvPr/>
        </p:nvSpPr>
        <p:spPr>
          <a:xfrm>
            <a:off x="6181344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Badge 3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31"/>
          <p:cNvSpPr txBox="1"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3</a:t>
            </a:r>
            <a:endParaRPr lang="en-US" sz="1600" dirty="0"/>
          </a:p>
        </p:txBody>
      </p:sp>
      <p:sp>
        <p:nvSpPr>
          <p:cNvPr id="132" name="Text 32"/>
          <p:cNvSpPr txBox="1"/>
          <p:nvPr/>
        </p:nvSpPr>
        <p:spPr>
          <a:xfrm>
            <a:off x="6364224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Баланс скобок и кавычек</a:t>
            </a:r>
            <a:endParaRPr lang="en-US" sz="1500" dirty="0"/>
          </a:p>
        </p:txBody>
      </p:sp>
      <p:sp>
        <p:nvSpPr>
          <p:cNvPr id="133" name="Text 33"/>
          <p:cNvSpPr txBox="1"/>
          <p:nvPr/>
        </p:nvSpPr>
        <p:spPr>
          <a:xfrm>
            <a:off x="6364224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детекция обрезанного SQL</a:t>
            </a:r>
            <a:endParaRPr lang="en-US" sz="1200" dirty="0"/>
          </a:p>
        </p:txBody>
      </p:sp>
      <p:sp>
        <p:nvSpPr>
          <p:cNvPr id="134" name="Card"/>
          <p:cNvSpPr/>
          <p:nvPr/>
        </p:nvSpPr>
        <p:spPr>
          <a:xfrm>
            <a:off x="8997696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Badge 4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Text 36"/>
          <p:cNvSpPr txBox="1"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4</a:t>
            </a:r>
            <a:endParaRPr lang="en-US" sz="1600" dirty="0"/>
          </a:p>
        </p:txBody>
      </p:sp>
      <p:sp>
        <p:nvSpPr>
          <p:cNvPr id="137" name="Text 37"/>
          <p:cNvSpPr txBox="1"/>
          <p:nvPr/>
        </p:nvSpPr>
        <p:spPr>
          <a:xfrm>
            <a:off x="9180576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statement_timeout</a:t>
            </a:r>
            <a:endParaRPr lang="en-US" sz="1500" dirty="0"/>
          </a:p>
        </p:txBody>
      </p:sp>
      <p:sp>
        <p:nvSpPr>
          <p:cNvPr id="138" name="Text 38"/>
          <p:cNvSpPr txBox="1"/>
          <p:nvPr/>
        </p:nvSpPr>
        <p:spPr>
          <a:xfrm>
            <a:off x="9180576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30 секунд</a:t>
            </a:r>
            <a:endParaRPr lang="en-US" sz="1200" dirty="0"/>
          </a:p>
        </p:txBody>
      </p:sp>
      <p:sp>
        <p:nvSpPr>
          <p:cNvPr id="139" name="Card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Text 4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sql_compiler.py — альтернатива LLM: компилирует структурированную спеку в безопасный SELECT без модели.</a:t>
            </a:r>
            <a:endParaRPr lang="en-US" sz="1500" dirty="0"/>
          </a:p>
        </p:txBody>
      </p:sp>
      <p:sp>
        <p:nvSpPr>
          <p:cNvPr id="1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7</a:t>
            </a:r>
          </a:p>
        </p:txBody>
      </p:sp>
      <p:pic>
        <p:nvPicPr>
          <p:cNvPr id="142" name="EVRAZ_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-10287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Что умеет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3163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Вопросы простым языком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«Дельта цен между поставщиками в феврале?» — система понимает обычные формулировки и деловые термины.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63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 err="1">
                <a:solidFill>
                  <a:srgbClr val="FFFFFF"/>
                </a:solidFill>
                <a:latin typeface="Calibri"/>
              </a:rPr>
              <a:t>Графики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3317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Если ответ — динамика за месяцы, рядом сразу строится график.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947672"/>
            <a:ext cx="3163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Расчёты автоматически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3317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Средние, минимум/максимум, разница, рост за период — без ручных вычислений.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3163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Сравнение поставщиков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891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Разные поставщики и позиции в одном вопросе — без поиска по каждому листу.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404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4005072"/>
            <a:ext cx="3163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Уточняющие вопросы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3891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Если формулировка неоднозначна, система переспросит — и продолжит с ответом.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4005072"/>
            <a:ext cx="31638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Новые форматы файлов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3891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Структуру нового файла система распознаёт сама; при необходимости её подтверждает специалист.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6153912"/>
            <a:ext cx="105156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 err="1">
                <a:solidFill>
                  <a:srgbClr val="FFFFFF"/>
                </a:solidFill>
                <a:latin typeface="Calibri"/>
              </a:rPr>
              <a:t>Один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помощник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вместо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десятков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открытых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файлов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рабочем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столе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28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488" y="-8001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Трейсы, метрики и дашборды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97A6"/>
                </a:solidFill>
                <a:latin typeface="Calibri"/>
              </a:rPr>
              <a:t>Каждый ответ можно разобрать по шагам, а состояние системы — увидеть в реальном времени, без доступа к коду.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33172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2532888"/>
            <a:ext cx="4937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Трейсы запросов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2971800"/>
            <a:ext cx="4937760" cy="2606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Каждый вопрос получает request_id — журнал хранит весь путь ответа.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•  Шаги агента: классификация → план → SQL → выполнение → проверка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361188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•  Время каждого шага, итоговый SQL и уверенность ответа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25196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•  Просмотр в интерфейсе и через API: /trace/{request_id}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45352" y="233172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3952" y="253288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 dirty="0">
                <a:solidFill>
                  <a:srgbClr val="FFFFFF"/>
                </a:solidFill>
                <a:latin typeface="Calibri"/>
              </a:rPr>
              <a:t>Prometheus —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метрики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порт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 9090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297180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Сервис отдаёт метрики на /metrics: число запросов, статусы, задержки, токены LLM. Открыть: http://localhost:9090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5352" y="411480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73952" y="4315968"/>
            <a:ext cx="49377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 i="0">
                <a:solidFill>
                  <a:srgbClr val="FFFFFF"/>
                </a:solidFill>
                <a:latin typeface="Calibri"/>
              </a:rPr>
              <a:t>Grafana — дашборды · порт 3001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4754880"/>
            <a:ext cx="4937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A97A6"/>
                </a:solidFill>
                <a:latin typeface="Calibri"/>
              </a:rPr>
              <a:t>Дашборды и графики на метриках Prometheus. Открыть: http://localhost:3001 (admin / admin)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59" y="6117336"/>
            <a:ext cx="10515600" cy="2926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Стек мониторинга запускается вместе с проектом в Docker — панели доступны сразу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pic>
        <p:nvPicPr>
          <p:cNvPr id="37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487" y="-116586"/>
            <a:ext cx="1828800" cy="1028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Бенчмарк заказчика: контрольный прогон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7A6"/>
                </a:solidFill>
                <a:latin typeface="Calibri"/>
              </a:rPr>
              <a:t>Контрольный прогон по запросам заказчика: </a:t>
            </a:r>
            <a:r>
              <a:rPr sz="1600" b="1">
                <a:solidFill>
                  <a:srgbClr val="FFFFFF"/>
                </a:solidFill>
                <a:latin typeface="Calibri"/>
              </a:rPr>
              <a:t>5 из 5 запросов прошли</a:t>
            </a:r>
            <a:r>
              <a:rPr sz="1600" b="0">
                <a:solidFill>
                  <a:srgbClr val="8A97A6"/>
                </a:solidFill>
                <a:latin typeface="Calibri"/>
              </a:rPr>
              <a:t> — каждый ответ сверен с эталоном (допуск 1%).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FF5A36"/>
                </a:solidFill>
                <a:latin typeface="Calibri"/>
              </a:rPr>
              <a:t>5 из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2395728" cy="244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i="0" dirty="0" err="1">
                <a:solidFill>
                  <a:srgbClr val="FFFFFF"/>
                </a:solidFill>
                <a:latin typeface="Calibri"/>
              </a:rPr>
              <a:t>Запросов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прошли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—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все ответы совпали с эталоном (допуск 1%)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8416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1C7293"/>
                </a:solidFill>
                <a:latin typeface="Calibri"/>
              </a:rPr>
              <a:t>~35 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907792"/>
            <a:ext cx="2395728" cy="244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Среднее время ответа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медиана ~33 с · разброс 0,02–84 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9631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1C7293"/>
                </a:solidFill>
                <a:latin typeface="Calibri"/>
              </a:rPr>
              <a:t>~36 тыс.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90779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b="1" i="0" dirty="0" err="1">
                <a:solidFill>
                  <a:srgbClr val="FFFFFF"/>
                </a:solidFill>
                <a:latin typeface="Calibri"/>
              </a:rPr>
              <a:t>Токенов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запрос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суммарно ≈181 тыс. на 5 запросов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9408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907792"/>
            <a:ext cx="2395728" cy="244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Ошибок и расхождений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каждую цифру можно перепроверить по источнику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Детализация прогона (время — фактическое, токены — оценка)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15968"/>
            <a:ext cx="10561320" cy="301752"/>
          </a:xfrm>
          <a:prstGeom prst="rect">
            <a:avLst/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4370831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4370831"/>
            <a:ext cx="58887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Вопрос заказчика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4370831"/>
            <a:ext cx="10424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Результат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4370831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Время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48672" y="4370831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Токены*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1436"/>
            <a:ext cx="10561320" cy="301752"/>
          </a:xfrm>
          <a:prstGeom prst="rect">
            <a:avLst/>
          </a:prstGeom>
          <a:solidFill>
            <a:srgbClr val="1B1F24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" y="4677155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4677155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Среднерыночная цена лома твёрдых сплавов · дек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4668012"/>
            <a:ext cx="1042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4677155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0,2 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4677155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≈ 9 тыс.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946903"/>
            <a:ext cx="10561320" cy="301752"/>
          </a:xfrm>
          <a:prstGeom prst="rect">
            <a:avLst/>
          </a:prstGeom>
          <a:solidFill>
            <a:srgbClr val="262C33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" y="4992623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992623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Макс. аукционная цена лома латуни ЛАЖМц · за 2025 год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4983479"/>
            <a:ext cx="1042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4992623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33 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8672" y="4992623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≈ 50 тыс.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262371"/>
            <a:ext cx="10561320" cy="301752"/>
          </a:xfrm>
          <a:prstGeom prst="rect">
            <a:avLst/>
          </a:prstGeom>
          <a:solidFill>
            <a:srgbClr val="1B1F24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" y="5308091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" y="5308091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Средняя цена медного лома у «Ферроком» · фев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1192" y="5298947"/>
            <a:ext cx="1042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7072" y="5308091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56 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8672" y="5308091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≈ 52 тыс.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577839"/>
            <a:ext cx="10561320" cy="301752"/>
          </a:xfrm>
          <a:prstGeom prst="rect">
            <a:avLst/>
          </a:prstGeom>
          <a:solidFill>
            <a:srgbClr val="262C33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3504" y="5623559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" y="5623559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Дельта мин/макс медного лома у 4 поставщиков · фев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5614415"/>
            <a:ext cx="1042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77072" y="5623559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84 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5623559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≈ 62 тыс.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893307"/>
            <a:ext cx="10561320" cy="301752"/>
          </a:xfrm>
          <a:prstGeom prst="rect">
            <a:avLst/>
          </a:prstGeom>
          <a:solidFill>
            <a:srgbClr val="1B1F24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" y="5939027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" y="5939027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Минимальная цена на цинковый лом за все месяцы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51192" y="5929883"/>
            <a:ext cx="1042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77072" y="5939027"/>
            <a:ext cx="11338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0,02 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48672" y="5939027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≈ 8 тыс.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263640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7A6"/>
                </a:solidFill>
                <a:latin typeface="Calibri"/>
              </a:rPr>
              <a:t>* Токены — оценка суммарного трафика LLM-вызовов агента: классификация, план, SQL, проверка, ответ.</a:t>
            </a:r>
          </a:p>
        </p:txBody>
      </p:sp>
      <p:pic>
        <p:nvPicPr>
          <p:cNvPr id="63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488" y="-96011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Расширенный бенчмарк: первый прогон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24762"/>
            <a:ext cx="11064240" cy="275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 err="1">
                <a:solidFill>
                  <a:srgbClr val="8A97A6"/>
                </a:solidFill>
                <a:latin typeface="Calibri"/>
              </a:rPr>
              <a:t>Набор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из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50 </a:t>
            </a:r>
            <a:r>
              <a:rPr sz="1600" b="1" dirty="0" err="1">
                <a:solidFill>
                  <a:srgbClr val="FFFFFF"/>
                </a:solidFill>
                <a:latin typeface="Calibri"/>
              </a:rPr>
              <a:t>запросов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реальные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сценарии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).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Показатели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предварительные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—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для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оценки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порядка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величин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FF5A36"/>
                </a:solidFill>
                <a:latin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Запросов в наборе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 dirty="0" err="1">
                <a:solidFill>
                  <a:srgbClr val="8A97A6"/>
                </a:solidFill>
                <a:latin typeface="Calibri"/>
              </a:rPr>
              <a:t>простые</a:t>
            </a:r>
            <a:r>
              <a:rPr sz="9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900" b="0" i="0" dirty="0" err="1">
                <a:solidFill>
                  <a:srgbClr val="8A97A6"/>
                </a:solidFill>
                <a:latin typeface="Calibri"/>
              </a:rPr>
              <a:t>агрегации</a:t>
            </a:r>
            <a:r>
              <a:rPr sz="9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900" b="0" i="0" dirty="0" err="1">
                <a:solidFill>
                  <a:srgbClr val="8A97A6"/>
                </a:solidFill>
                <a:latin typeface="Calibri"/>
              </a:rPr>
              <a:t>дельты</a:t>
            </a:r>
            <a:r>
              <a:rPr sz="9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900" b="0" i="0" dirty="0" err="1">
                <a:solidFill>
                  <a:srgbClr val="8A97A6"/>
                </a:solidFill>
                <a:latin typeface="Calibri"/>
              </a:rPr>
              <a:t>составные</a:t>
            </a:r>
            <a:endParaRPr sz="9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28416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2359152"/>
            <a:ext cx="2487168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 dirty="0">
                <a:solidFill>
                  <a:srgbClr val="2E7D32"/>
                </a:solidFill>
                <a:latin typeface="Calibri"/>
              </a:rPr>
              <a:t>4</a:t>
            </a:r>
            <a:r>
              <a:rPr lang="ru-RU" sz="2900" b="1" i="0" dirty="0">
                <a:solidFill>
                  <a:srgbClr val="2E7D32"/>
                </a:solidFill>
                <a:latin typeface="Calibri"/>
              </a:rPr>
              <a:t>6</a:t>
            </a:r>
            <a:endParaRPr sz="29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65576" y="290779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Прошли успешно — 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6 запросов требуют доработки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9631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1C7293"/>
                </a:solidFill>
                <a:latin typeface="Calibri"/>
              </a:rPr>
              <a:t>~38 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90779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Среднее время ответа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медиана ~25 с · разброс 0,5–90 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240280"/>
            <a:ext cx="2670048" cy="164592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9408" y="2359152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900" b="1" i="0">
                <a:solidFill>
                  <a:srgbClr val="1C7293"/>
                </a:solidFill>
                <a:latin typeface="Calibri"/>
              </a:rPr>
              <a:t>≈1,8 млн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290779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Токенов суммарно 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3383280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8A97A6"/>
                </a:solidFill>
                <a:latin typeface="Calibri"/>
              </a:rPr>
              <a:t>≈36 тыс. на запрос (оценка)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02336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 err="1">
                <a:solidFill>
                  <a:srgbClr val="FFFFFF"/>
                </a:solidFill>
                <a:latin typeface="Calibri"/>
              </a:rPr>
              <a:t>Точность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по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типам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запросов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315968"/>
            <a:ext cx="10607040" cy="301752"/>
          </a:xfrm>
          <a:prstGeom prst="rect">
            <a:avLst/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4370831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Тип вопросов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4370831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Запросов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4370831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Прошло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4370831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B199"/>
                </a:solidFill>
                <a:latin typeface="Calibri"/>
              </a:rPr>
              <a:t>Точность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31436"/>
            <a:ext cx="10607040" cy="301752"/>
          </a:xfrm>
          <a:prstGeom prst="rect">
            <a:avLst/>
          </a:prstGeom>
          <a:solidFill>
            <a:srgbClr val="1B1F24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677155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Простой поиск цены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4677155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4677155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Calibri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4677155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46903"/>
            <a:ext cx="10607040" cy="301752"/>
          </a:xfrm>
          <a:prstGeom prst="rect">
            <a:avLst/>
          </a:prstGeom>
          <a:solidFill>
            <a:srgbClr val="262C33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4992623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Средние, мин/макс по периодам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25312" y="4992623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4992623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Calibri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4992623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94%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262371"/>
            <a:ext cx="10607040" cy="301752"/>
          </a:xfrm>
          <a:prstGeom prst="rect">
            <a:avLst/>
          </a:prstGeom>
          <a:solidFill>
            <a:srgbClr val="1B1F24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308091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Сравнение и дельты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5312" y="5308091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4112" y="5308091"/>
            <a:ext cx="140817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sz="1000" b="1" dirty="0">
                <a:solidFill>
                  <a:srgbClr val="2E7D32"/>
                </a:solidFill>
                <a:latin typeface="Calibri"/>
              </a:rPr>
              <a:t>10</a:t>
            </a:r>
            <a:endParaRPr sz="10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00032" y="5308091"/>
            <a:ext cx="168249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sz="1000" b="1" dirty="0">
                <a:solidFill>
                  <a:srgbClr val="FFFFFF"/>
                </a:solidFill>
                <a:latin typeface="Calibri"/>
              </a:rPr>
              <a:t>83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577839"/>
            <a:ext cx="10607040" cy="301752"/>
          </a:xfrm>
          <a:prstGeom prst="rect">
            <a:avLst/>
          </a:prstGeom>
          <a:solidFill>
            <a:srgbClr val="262C33"/>
          </a:solidFill>
          <a:ln w="9525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" y="5623559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Составные: поставщики + периоды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25312" y="5623559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5623559"/>
            <a:ext cx="140817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sz="1000" b="1" dirty="0">
                <a:solidFill>
                  <a:srgbClr val="2E7D32"/>
                </a:solidFill>
                <a:latin typeface="Calibri"/>
              </a:rPr>
              <a:t>5</a:t>
            </a:r>
            <a:endParaRPr sz="10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400032" y="5623559"/>
            <a:ext cx="168249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ru-RU" sz="1000" b="1" dirty="0">
                <a:solidFill>
                  <a:srgbClr val="FFFFFF"/>
                </a:solidFill>
                <a:latin typeface="Calibri"/>
              </a:rPr>
              <a:t>83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893307"/>
            <a:ext cx="10607040" cy="301752"/>
          </a:xfrm>
          <a:prstGeom prst="rect">
            <a:avLst/>
          </a:prstGeom>
          <a:solidFill>
            <a:srgbClr val="262C33"/>
          </a:solidFill>
          <a:ln w="12700">
            <a:solidFill>
              <a:srgbClr val="FF5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1792" y="5939027"/>
            <a:ext cx="50657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Итого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25312" y="5939027"/>
            <a:ext cx="1591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7A6"/>
                </a:solidFill>
                <a:latin typeface="Calibri"/>
              </a:rPr>
              <a:t>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4112" y="5939027"/>
            <a:ext cx="140817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 dirty="0">
                <a:solidFill>
                  <a:srgbClr val="2E7D32"/>
                </a:solidFill>
                <a:latin typeface="Calibri"/>
              </a:rPr>
              <a:t>4</a:t>
            </a:r>
            <a:r>
              <a:rPr lang="ru-RU" sz="1050" b="1" i="0" dirty="0">
                <a:solidFill>
                  <a:srgbClr val="2E7D32"/>
                </a:solidFill>
                <a:latin typeface="Calibri"/>
              </a:rPr>
              <a:t>6</a:t>
            </a:r>
            <a:endParaRPr sz="105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400032" y="5939027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FF5A36"/>
                </a:solidFill>
                <a:latin typeface="Calibri"/>
              </a:rPr>
              <a:t>88%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17919"/>
            <a:ext cx="11064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7A6"/>
                </a:solidFill>
                <a:latin typeface="Calibri"/>
              </a:rPr>
              <a:t>Следующий шаг: разобрать 6 неуспешных запросов и довести точность до ≥ 90% · токены — оценка LLM-трафика.</a:t>
            </a:r>
          </a:p>
        </p:txBody>
      </p:sp>
      <p:pic>
        <p:nvPicPr>
          <p:cNvPr id="57" name="EVRAZ_LOGO" descr="evraz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160" y="-61008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Примеры вопросов и ответов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8A97A6"/>
                </a:solidFill>
                <a:latin typeface="Calibri"/>
              </a:rPr>
              <a:t>Реальные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запросы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которые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уже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проходят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через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систему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демонстрационные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данные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алюминия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ноябре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153 369,75 ₽/тн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Средняя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Ферроком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696 625,15 ₽/тн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Дельта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между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мин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и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ценой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4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поставщиков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438 350,10 ₽/тн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Максимальная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меди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кусок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»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год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906 729,75 ₽/тн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5833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Каждый ответ сопровождается источником: файл · лист · период · строка</a:t>
            </a:r>
          </a:p>
        </p:txBody>
      </p:sp>
      <p:pic>
        <p:nvPicPr>
          <p:cNvPr id="23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488" y="-95545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ВЫГОДЫ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Что решение даёт компании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947672"/>
            <a:ext cx="31638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Скорость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 dirty="0" err="1">
                <a:solidFill>
                  <a:srgbClr val="8A97A6"/>
                </a:solidFill>
                <a:latin typeface="Calibri"/>
              </a:rPr>
              <a:t>Ответ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за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секунды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вместо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часов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ручного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поиска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по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файлам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8A97A6"/>
                </a:solidFill>
                <a:latin typeface="Calibri"/>
              </a:rPr>
              <a:t>листам</a:t>
            </a:r>
            <a:r>
              <a:rPr sz="1200" b="0" i="0" dirty="0">
                <a:solidFill>
                  <a:srgbClr val="8A97A6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638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Точность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23317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Расчёты выполняет система — без ошибок ручного копирования цифр.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830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947672"/>
            <a:ext cx="31638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Прозрачность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9328" y="23317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Каждая цифра проверяема: видно, откуда она взялась и как посчитана.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31638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Единый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источник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8" y="43891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Все данные о ценах — в одном месте, вопросы и ответы — в журнале.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404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4568" y="4005072"/>
            <a:ext cx="31638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Экономия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времени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44568" y="43891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Специалисты занимаются анализом и решениями, а не поиском.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3566160" cy="1874519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8" y="4005072"/>
            <a:ext cx="31638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Безопасность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39328" y="4389120"/>
            <a:ext cx="3163824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8A97A6"/>
                </a:solidFill>
                <a:latin typeface="Calibri"/>
              </a:rPr>
              <a:t>Данные остаются внутри компании; доступ — под контролем.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6153912"/>
            <a:ext cx="105156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Компания получает «цифрового аналитика», который работает с теми же файлами</a:t>
            </a:r>
          </a:p>
        </p:txBody>
      </p:sp>
      <p:pic>
        <p:nvPicPr>
          <p:cNvPr id="28" name="EVRAZ_LOGO" descr="evraz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287" y="-96233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1503</Words>
  <Application>Microsoft Office PowerPoint</Application>
  <PresentationFormat>Широкоэкранный</PresentationFormat>
  <Paragraphs>322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Решение — обзор</vt:lpstr>
      <vt:lpstr>Технологический стек</vt:lpstr>
      <vt:lpstr>Презентация PowerPoint</vt:lpstr>
      <vt:lpstr>Презентация PowerPoint</vt:lpstr>
      <vt:lpstr>Безопасная генерация SQL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Костя Баландин</cp:lastModifiedBy>
  <cp:revision>18</cp:revision>
  <dcterms:created xsi:type="dcterms:W3CDTF">2013-01-27T09:14:16Z</dcterms:created>
  <dcterms:modified xsi:type="dcterms:W3CDTF">2026-10-22T15:57:28Z</dcterms:modified>
  <cp:category/>
</cp:coreProperties>
</file>