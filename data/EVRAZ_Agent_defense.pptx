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75" r:id="rId4"/>
    <p:sldId id="277" r:id="rId5"/>
    <p:sldId id="259" r:id="rId6"/>
    <p:sldId id="276" r:id="rId7"/>
    <p:sldId id="278" r:id="rId8"/>
    <p:sldId id="262" r:id="rId9"/>
    <p:sldId id="264" r:id="rId10"/>
    <p:sldId id="266" r:id="rId11"/>
    <p:sldId id="267" r:id="rId12"/>
    <p:sldId id="263" r:id="rId13"/>
    <p:sldId id="274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7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A89327-E8A3-415C-A891-4B227273A86B}" type="datetimeFigureOut">
              <a:rPr lang="ru-RU" smtClean="0"/>
              <a:t>22.10.2026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AF4842-1234-4207-91BD-833873F52AB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126969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AF4842-1234-4207-91BD-833873F52ABD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5911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AF4842-1234-4207-91BD-833873F52ABD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654734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6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920240"/>
            <a:ext cx="457200" cy="64008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205740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B199"/>
                </a:solidFill>
                <a:latin typeface="Calibri"/>
              </a:rPr>
              <a:t>EVRAZ  ·  ДЕМОНСТРАЦИЯ ПРОЕКТА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68880"/>
            <a:ext cx="109728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 i="0">
                <a:solidFill>
                  <a:srgbClr val="FFFFFF"/>
                </a:solidFill>
                <a:latin typeface="Calibri"/>
              </a:rPr>
              <a:t>EVRAZ 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6616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 i="0">
                <a:solidFill>
                  <a:srgbClr val="8A97A6"/>
                </a:solidFill>
                <a:latin typeface="Calibri"/>
              </a:rPr>
              <a:t>ИИ-помощник для работы с Excel-файлами цен на цветные металлы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605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FB199"/>
                </a:solidFill>
                <a:latin typeface="Calibri"/>
              </a:rPr>
              <a:t>Отвечает на вопросы специалистов простым языком — по данным, которые уже есть у компании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892040"/>
            <a:ext cx="3566160" cy="1143000"/>
          </a:xfrm>
          <a:prstGeom prst="roundRect">
            <a:avLst>
              <a:gd name="adj" fmla="val 8000"/>
            </a:avLst>
          </a:prstGeom>
          <a:solidFill>
            <a:srgbClr val="1B1F24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49808" y="5047488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Загрузил файл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5413248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8A97A6"/>
                </a:solidFill>
                <a:latin typeface="Calibri"/>
              </a:rPr>
              <a:t>Система сама разобрала структуру таблиц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4892040"/>
            <a:ext cx="3566160" cy="1143000"/>
          </a:xfrm>
          <a:prstGeom prst="roundRect">
            <a:avLst>
              <a:gd name="adj" fmla="val 8000"/>
            </a:avLst>
          </a:prstGeom>
          <a:solidFill>
            <a:srgbClr val="1B1F24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44568" y="5047488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Задал вопрос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4568" y="5413248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8A97A6"/>
                </a:solidFill>
                <a:latin typeface="Calibri"/>
              </a:rPr>
              <a:t>Обычным языком, как коллеге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4892040"/>
            <a:ext cx="3566160" cy="1143000"/>
          </a:xfrm>
          <a:prstGeom prst="roundRect">
            <a:avLst>
              <a:gd name="adj" fmla="val 8000"/>
            </a:avLst>
          </a:prstGeom>
          <a:solidFill>
            <a:srgbClr val="1B1F24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39328" y="5047488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Получил ответ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9328" y="5413248"/>
            <a:ext cx="3200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8A97A6"/>
                </a:solidFill>
                <a:latin typeface="Calibri"/>
              </a:rPr>
              <a:t>Цифра · график · источник данных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EVRAZ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7395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1</a:t>
            </a:r>
          </a:p>
        </p:txBody>
      </p:sp>
      <p:pic>
        <p:nvPicPr>
          <p:cNvPr id="23" name="EVRAZ_LOGO" descr="evraz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-86868"/>
            <a:ext cx="1828800" cy="10287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457200" cy="64008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C7293"/>
                </a:solidFill>
                <a:latin typeface="Calibri"/>
              </a:rPr>
              <a:t>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Задача проекта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EVRAZ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Calibri"/>
              </a:rPr>
              <a:t>Сделать работу с данными о ценах простой и быстрой: </a:t>
            </a:r>
            <a:r>
              <a:rPr sz="1800" b="1">
                <a:solidFill>
                  <a:srgbClr val="8A97A6"/>
                </a:solidFill>
                <a:latin typeface="Calibri"/>
              </a:rPr>
              <a:t>загрузил файл — задал вопрос — получил проверяемый ответ.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23160"/>
            <a:ext cx="5394960" cy="1280160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9808" y="2587752"/>
            <a:ext cx="548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1C7293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87752"/>
            <a:ext cx="4526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Загрузил файл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971800"/>
            <a:ext cx="4526280" cy="548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8A97A6"/>
                </a:solidFill>
                <a:latin typeface="Calibri"/>
              </a:rPr>
              <a:t>Система сама разбирает файлы и приводит данные к единому виду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423160"/>
            <a:ext cx="5394960" cy="1280160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73368" y="2587752"/>
            <a:ext cx="548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1C7293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587752"/>
            <a:ext cx="4526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Спросил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2971800"/>
            <a:ext cx="4526280" cy="548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8A97A6"/>
                </a:solidFill>
                <a:latin typeface="Calibri"/>
              </a:rPr>
              <a:t>Вопрос обычным языком — ответ с цифрами, графиком и пояснением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886200"/>
            <a:ext cx="5394960" cy="1280160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49808" y="4050791"/>
            <a:ext cx="548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1C7293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050791"/>
            <a:ext cx="4526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Проверил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4434840"/>
            <a:ext cx="4526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8A97A6"/>
                </a:solidFill>
                <a:latin typeface="Calibri"/>
              </a:rPr>
              <a:t>Всегда видно, откуда взялась цифра: файл, лист, период, строка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3886200"/>
            <a:ext cx="5394960" cy="1280160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73368" y="4050791"/>
            <a:ext cx="548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1C7293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4050791"/>
            <a:ext cx="4526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Не переживаешь за данные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4434840"/>
            <a:ext cx="4526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8A97A6"/>
                </a:solidFill>
                <a:latin typeface="Calibri"/>
              </a:rPr>
              <a:t>Система только читает данные, ничего не изменяет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532120"/>
            <a:ext cx="5394960" cy="82296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77240" y="5641848"/>
            <a:ext cx="23774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5A36"/>
                </a:solidFill>
                <a:latin typeface="Calibri"/>
              </a:rPr>
              <a:t>≥ 80%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5669280"/>
            <a:ext cx="2514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Целевая точность ответов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5532120"/>
            <a:ext cx="5394960" cy="82296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92240" y="5641848"/>
            <a:ext cx="237744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5A36"/>
                </a:solidFill>
                <a:latin typeface="Calibri"/>
              </a:rPr>
              <a:t>100%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15400" y="5669280"/>
            <a:ext cx="2514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Ответов — с указанием источника</a:t>
            </a:r>
          </a:p>
        </p:txBody>
      </p:sp>
      <p:pic>
        <p:nvPicPr>
          <p:cNvPr id="31" name="EVRAZ_LOGO" descr="evraz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2700" y="-34290"/>
            <a:ext cx="1828800" cy="10287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FF5A36"/>
                </a:solidFill>
              </a:rPr>
              <a:t>РЕШЕНИЕ И АРХИТЕКТУРА</a:t>
            </a:r>
            <a:endParaRPr lang="en-US" sz="1200" dirty="0"/>
          </a:p>
        </p:txBody>
      </p:sp>
      <p:sp>
        <p:nvSpPr>
          <p:cNvPr id="101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</a:rPr>
              <a:t>Решение — обзор</a:t>
            </a:r>
            <a:endParaRPr lang="en-US" sz="3200" dirty="0"/>
          </a:p>
        </p:txBody>
      </p:sp>
      <p:sp>
        <p:nvSpPr>
          <p:cNvPr id="102" name="Node Excel"/>
          <p:cNvSpPr/>
          <p:nvPr/>
        </p:nvSpPr>
        <p:spPr>
          <a:xfrm>
            <a:off x="548640" y="155448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3" name="Label Excel"/>
          <p:cNvSpPr txBox="1"/>
          <p:nvPr/>
        </p:nvSpPr>
        <p:spPr>
          <a:xfrm>
            <a:off x="621792" y="1554480"/>
            <a:ext cx="1408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Excel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9B4C0"/>
                </a:solidFill>
              </a:rPr>
              <a:t>файл</a:t>
            </a:r>
            <a:endParaRPr lang="en-US" sz="1500" dirty="0"/>
          </a:p>
        </p:txBody>
      </p:sp>
      <p:sp>
        <p:nvSpPr>
          <p:cNvPr id="104" name="Arrow"/>
          <p:cNvSpPr/>
          <p:nvPr/>
        </p:nvSpPr>
        <p:spPr>
          <a:xfrm>
            <a:off x="2103120" y="2011680"/>
            <a:ext cx="347472" cy="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5" name="Node Парсинг"/>
          <p:cNvSpPr/>
          <p:nvPr/>
        </p:nvSpPr>
        <p:spPr>
          <a:xfrm>
            <a:off x="2450592" y="155448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6" name="Label Парсинг"/>
          <p:cNvSpPr txBox="1"/>
          <p:nvPr/>
        </p:nvSpPr>
        <p:spPr>
          <a:xfrm>
            <a:off x="2523744" y="1554480"/>
            <a:ext cx="1408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Парсинг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9B4C0"/>
                </a:solidFill>
              </a:rPr>
              <a:t>src/core/excel</a:t>
            </a:r>
            <a:endParaRPr lang="en-US" sz="1500" dirty="0"/>
          </a:p>
        </p:txBody>
      </p:sp>
      <p:sp>
        <p:nvSpPr>
          <p:cNvPr id="107" name="Arrow"/>
          <p:cNvSpPr/>
          <p:nvPr/>
        </p:nvSpPr>
        <p:spPr>
          <a:xfrm>
            <a:off x="4005072" y="2011680"/>
            <a:ext cx="347472" cy="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8" name="Node RAW"/>
          <p:cNvSpPr/>
          <p:nvPr/>
        </p:nvSpPr>
        <p:spPr>
          <a:xfrm>
            <a:off x="4352544" y="155448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9" name="Label RAW"/>
          <p:cNvSpPr txBox="1"/>
          <p:nvPr/>
        </p:nvSpPr>
        <p:spPr>
          <a:xfrm>
            <a:off x="4425696" y="1554480"/>
            <a:ext cx="1408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RAW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9B4C0"/>
                </a:solidFill>
              </a:rPr>
              <a:t>таблицы public</a:t>
            </a:r>
            <a:endParaRPr lang="en-US" sz="1500" dirty="0"/>
          </a:p>
        </p:txBody>
      </p:sp>
      <p:sp>
        <p:nvSpPr>
          <p:cNvPr id="110" name="Arrow"/>
          <p:cNvSpPr/>
          <p:nvPr/>
        </p:nvSpPr>
        <p:spPr>
          <a:xfrm>
            <a:off x="5907024" y="2011680"/>
            <a:ext cx="347472" cy="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11" name="Node Нормализация"/>
          <p:cNvSpPr/>
          <p:nvPr/>
        </p:nvSpPr>
        <p:spPr>
          <a:xfrm>
            <a:off x="6254496" y="155448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2" name="Label Нормализация"/>
          <p:cNvSpPr txBox="1"/>
          <p:nvPr/>
        </p:nvSpPr>
        <p:spPr>
          <a:xfrm>
            <a:off x="6327648" y="1554480"/>
            <a:ext cx="1408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Нормализация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9B4C0"/>
                </a:solidFill>
              </a:rPr>
              <a:t>витрина mart</a:t>
            </a:r>
            <a:endParaRPr lang="en-US" sz="1500" dirty="0"/>
          </a:p>
        </p:txBody>
      </p:sp>
      <p:sp>
        <p:nvSpPr>
          <p:cNvPr id="113" name="Arrow"/>
          <p:cNvSpPr/>
          <p:nvPr/>
        </p:nvSpPr>
        <p:spPr>
          <a:xfrm>
            <a:off x="7808976" y="2011680"/>
            <a:ext cx="347472" cy="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14" name="Node LangGraph"/>
          <p:cNvSpPr/>
          <p:nvPr/>
        </p:nvSpPr>
        <p:spPr>
          <a:xfrm>
            <a:off x="8156448" y="155448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5" name="Label LangGraph"/>
          <p:cNvSpPr txBox="1"/>
          <p:nvPr/>
        </p:nvSpPr>
        <p:spPr>
          <a:xfrm>
            <a:off x="8229600" y="1554480"/>
            <a:ext cx="1408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LangGraph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9B4C0"/>
                </a:solidFill>
              </a:rPr>
              <a:t>агент</a:t>
            </a:r>
            <a:endParaRPr lang="en-US" sz="1500" dirty="0"/>
          </a:p>
        </p:txBody>
      </p:sp>
      <p:sp>
        <p:nvSpPr>
          <p:cNvPr id="116" name="Arrow"/>
          <p:cNvSpPr/>
          <p:nvPr/>
        </p:nvSpPr>
        <p:spPr>
          <a:xfrm>
            <a:off x="9710928" y="2011680"/>
            <a:ext cx="347472" cy="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17" name="Node Безопасный"/>
          <p:cNvSpPr/>
          <p:nvPr/>
        </p:nvSpPr>
        <p:spPr>
          <a:xfrm>
            <a:off x="10058400" y="155448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FF5A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8" name="Label Безопасный"/>
          <p:cNvSpPr txBox="1"/>
          <p:nvPr/>
        </p:nvSpPr>
        <p:spPr>
          <a:xfrm>
            <a:off x="10131552" y="1554480"/>
            <a:ext cx="14081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Безопасный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9B4C0"/>
                </a:solidFill>
              </a:rPr>
              <a:t>SELECT</a:t>
            </a:r>
            <a:endParaRPr lang="en-US" sz="1500" dirty="0"/>
          </a:p>
        </p:txBody>
      </p:sp>
      <p:sp>
        <p:nvSpPr>
          <p:cNvPr id="119" name="Text 19"/>
          <p:cNvSpPr txBox="1"/>
          <p:nvPr/>
        </p:nvSpPr>
        <p:spPr>
          <a:xfrm>
            <a:off x="548640" y="2743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rgbClr val="A9B4C0"/>
                </a:solidFill>
              </a:rPr>
              <a:t>Вопрос пользователя → агент планирует и выполняет SQL → ответ + SQL + источники (PostgreSQL)</a:t>
            </a:r>
            <a:endParaRPr lang="en-US" sz="1500" dirty="0"/>
          </a:p>
        </p:txBody>
      </p:sp>
      <p:graphicFrame>
        <p:nvGraphicFramePr>
          <p:cNvPr id="1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732130"/>
              </p:ext>
            </p:extLst>
          </p:nvPr>
        </p:nvGraphicFramePr>
        <p:xfrm>
          <a:off x="548640" y="3383280"/>
          <a:ext cx="11064240" cy="2395728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3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89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5A36"/>
                          </a:solidFill>
                        </a:rPr>
                        <a:t>Часть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5A36"/>
                          </a:solidFill>
                        </a:rPr>
                        <a:t>Технологии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5A36"/>
                          </a:solidFill>
                        </a:rPr>
                        <a:t>Назначение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89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Backend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</a:rPr>
                        <a:t>FastAPI, LangGraph, SQLAlchemy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</a:rPr>
                        <a:t>API, парсинг, агент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89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Frontend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</a:rPr>
                        <a:t>React 18 + TypeScript + Vite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</a:rPr>
                        <a:t>Чат, файлы, дашборд, метрики, трейсы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7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89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Инфраструктура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</a:rPr>
                        <a:t>Docker Compose, Nginx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FFFFFF"/>
                          </a:solidFill>
                        </a:rPr>
                        <a:t>PostgreSQL, Prometheus, Grafana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43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C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4C0"/>
                </a:solidFill>
              </a:defRPr>
            </a:lvl1pPr>
          </a:lstStyle>
          <a:p>
            <a:r>
              <a:t>3</a:t>
            </a:r>
          </a:p>
        </p:txBody>
      </p:sp>
      <p:pic>
        <p:nvPicPr>
          <p:cNvPr id="122" name="EVRAZ_LOGO" descr="evraz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1552" y="-102870"/>
            <a:ext cx="1828800" cy="10287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FF5A36"/>
                </a:solidFill>
              </a:rPr>
              <a:t>РЕШЕНИЕ И АРХИТЕКТУРА</a:t>
            </a:r>
            <a:endParaRPr lang="en-US" sz="1200" dirty="0"/>
          </a:p>
        </p:txBody>
      </p:sp>
      <p:sp>
        <p:nvSpPr>
          <p:cNvPr id="101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</a:rPr>
              <a:t>Технологический стек</a:t>
            </a:r>
            <a:endParaRPr lang="en-US" sz="3200" dirty="0"/>
          </a:p>
        </p:txBody>
      </p:sp>
      <p:sp>
        <p:nvSpPr>
          <p:cNvPr id="102" name="Card"/>
          <p:cNvSpPr/>
          <p:nvPr/>
        </p:nvSpPr>
        <p:spPr>
          <a:xfrm>
            <a:off x="548640" y="1554480"/>
            <a:ext cx="3566160" cy="4480560"/>
          </a:xfrm>
          <a:prstGeom prst="roundRect">
            <a:avLst>
              <a:gd name="adj" fmla="val 2051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3" name="Text 3"/>
          <p:cNvSpPr txBox="1"/>
          <p:nvPr/>
        </p:nvSpPr>
        <p:spPr>
          <a:xfrm>
            <a:off x="822960" y="17373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5A36"/>
                </a:solidFill>
              </a:rPr>
              <a:t>Backend (Python ≥ 3.12)</a:t>
            </a:r>
            <a:endParaRPr lang="en-US" sz="1800" dirty="0"/>
          </a:p>
        </p:txBody>
      </p:sp>
      <p:sp>
        <p:nvSpPr>
          <p:cNvPr id="104" name="Text 4"/>
          <p:cNvSpPr txBox="1"/>
          <p:nvPr/>
        </p:nvSpPr>
        <p:spPr>
          <a:xfrm>
            <a:off x="822960" y="2286000"/>
            <a:ext cx="3063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</a:rPr>
              <a:t>FastAPI + uvicorn — REST API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</a:rPr>
              <a:t>LangGraph + checkpoint-postgres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</a:rPr>
              <a:t>langchain-openai — structured output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</a:rPr>
              <a:t>SQLAlchemy 2.0 (async) + Alembic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</a:rPr>
              <a:t>openpyxl, pandas — Excel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</a:rPr>
              <a:t>rapidfuzz — fuzzy match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</a:rPr>
              <a:t>loguru, prometheus-client, slowapi</a:t>
            </a:r>
            <a:endParaRPr lang="en-US" sz="1500" dirty="0"/>
          </a:p>
        </p:txBody>
      </p:sp>
      <p:sp>
        <p:nvSpPr>
          <p:cNvPr id="105" name="Card"/>
          <p:cNvSpPr/>
          <p:nvPr/>
        </p:nvSpPr>
        <p:spPr>
          <a:xfrm>
            <a:off x="4297680" y="1554480"/>
            <a:ext cx="3566160" cy="4480560"/>
          </a:xfrm>
          <a:prstGeom prst="roundRect">
            <a:avLst>
              <a:gd name="adj" fmla="val 2051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6" name="Text 6"/>
          <p:cNvSpPr txBox="1"/>
          <p:nvPr/>
        </p:nvSpPr>
        <p:spPr>
          <a:xfrm>
            <a:off x="4572000" y="17373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5A36"/>
                </a:solidFill>
              </a:rPr>
              <a:t>Frontend (React)</a:t>
            </a:r>
            <a:endParaRPr lang="en-US" sz="1800" dirty="0"/>
          </a:p>
        </p:txBody>
      </p:sp>
      <p:sp>
        <p:nvSpPr>
          <p:cNvPr id="107" name="Text 7"/>
          <p:cNvSpPr txBox="1"/>
          <p:nvPr/>
        </p:nvSpPr>
        <p:spPr>
          <a:xfrm>
            <a:off x="4572000" y="2286000"/>
            <a:ext cx="3063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</a:rPr>
              <a:t>React 18 + TypeScript + Vite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</a:rPr>
              <a:t>react-router-dom — роутинг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</a:rPr>
              <a:t>chart.js — графики результатов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</a:rPr>
              <a:t>framer-motion — анимации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</a:rPr>
              <a:t>lucide-react — иконки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</a:rPr>
              <a:t>react-markdown — рендер ответов</a:t>
            </a:r>
            <a:endParaRPr lang="en-US" sz="1500" dirty="0"/>
          </a:p>
        </p:txBody>
      </p:sp>
      <p:sp>
        <p:nvSpPr>
          <p:cNvPr id="108" name="Card"/>
          <p:cNvSpPr/>
          <p:nvPr/>
        </p:nvSpPr>
        <p:spPr>
          <a:xfrm>
            <a:off x="8046720" y="1554480"/>
            <a:ext cx="3566160" cy="4480560"/>
          </a:xfrm>
          <a:prstGeom prst="roundRect">
            <a:avLst>
              <a:gd name="adj" fmla="val 2051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9" name="Text 9"/>
          <p:cNvSpPr txBox="1"/>
          <p:nvPr/>
        </p:nvSpPr>
        <p:spPr>
          <a:xfrm>
            <a:off x="8321040" y="17373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5A36"/>
                </a:solidFill>
              </a:rPr>
              <a:t>Инфраструктура (Docker)</a:t>
            </a:r>
            <a:endParaRPr lang="en-US" sz="1800" dirty="0"/>
          </a:p>
        </p:txBody>
      </p:sp>
      <p:sp>
        <p:nvSpPr>
          <p:cNvPr id="110" name="Text 10"/>
          <p:cNvSpPr txBox="1"/>
          <p:nvPr/>
        </p:nvSpPr>
        <p:spPr>
          <a:xfrm>
            <a:off x="8321040" y="2286000"/>
            <a:ext cx="3063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</a:rPr>
              <a:t>postgres:16-alpine — БД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</a:rPr>
              <a:t>service — FastAPI (:8000)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</a:rPr>
              <a:t>frontend — Nginx (:8080)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</a:rPr>
              <a:t>prometheus — метрики (:9090)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</a:rPr>
              <a:t>grafana — дашборды (:3001)</a:t>
            </a:r>
            <a:endParaRPr lang="en-US" sz="1500" dirty="0"/>
          </a:p>
        </p:txBody>
      </p:sp>
      <p:sp>
        <p:nvSpPr>
          <p:cNvPr id="11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9B4C0"/>
                </a:solidFill>
              </a:defRPr>
            </a:lvl1pPr>
          </a:lstStyle>
          <a:p>
            <a:r>
              <a:t>4</a:t>
            </a:r>
          </a:p>
        </p:txBody>
      </p:sp>
      <p:pic>
        <p:nvPicPr>
          <p:cNvPr id="112" name="EVRAZ_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2789" y="-140478"/>
            <a:ext cx="1828800" cy="10287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457200" cy="64008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C7293"/>
                </a:solidFill>
                <a:latin typeface="Calibri"/>
              </a:rPr>
              <a:t>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Парсинг и нормализация: таблицы приводятся в порядок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EVRAZ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2697480" cy="146304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2487168"/>
            <a:ext cx="24231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b="1" i="0" dirty="0">
                <a:solidFill>
                  <a:srgbClr val="FFFFFF"/>
                </a:solidFill>
                <a:latin typeface="Calibri"/>
              </a:rPr>
              <a:t>1. </a:t>
            </a:r>
            <a:r>
              <a:rPr b="1" i="0" dirty="0" err="1">
                <a:solidFill>
                  <a:srgbClr val="FFFFFF"/>
                </a:solidFill>
                <a:latin typeface="Calibri"/>
              </a:rPr>
              <a:t>Читает</a:t>
            </a:r>
            <a:r>
              <a:rPr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b="1" i="0" dirty="0" err="1">
                <a:solidFill>
                  <a:srgbClr val="FFFFFF"/>
                </a:solidFill>
                <a:latin typeface="Calibri"/>
              </a:rPr>
              <a:t>файл</a:t>
            </a:r>
            <a:endParaRPr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31520" y="2880360"/>
            <a:ext cx="2331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8A97A6"/>
                </a:solidFill>
                <a:latin typeface="Calibri"/>
              </a:rPr>
              <a:t>Находит все листы и ячейки — не пропускает объединённые и пустые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2880360"/>
            <a:ext cx="17373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5A36"/>
                </a:solidFill>
                <a:latin typeface="Calibr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2331720"/>
            <a:ext cx="2697480" cy="146304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20440" y="2487168"/>
            <a:ext cx="24231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b="1" i="0" dirty="0">
                <a:solidFill>
                  <a:srgbClr val="FFFFFF"/>
                </a:solidFill>
                <a:latin typeface="Calibri"/>
              </a:rPr>
              <a:t>2. </a:t>
            </a:r>
            <a:r>
              <a:rPr b="1" i="0" dirty="0" err="1">
                <a:solidFill>
                  <a:srgbClr val="FFFFFF"/>
                </a:solidFill>
                <a:latin typeface="Calibri"/>
              </a:rPr>
              <a:t>Понимает</a:t>
            </a:r>
            <a:r>
              <a:rPr sz="135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350" b="1" i="0" dirty="0" err="1">
                <a:solidFill>
                  <a:srgbClr val="FFFFFF"/>
                </a:solidFill>
                <a:latin typeface="Calibri"/>
              </a:rPr>
              <a:t>структуру</a:t>
            </a:r>
            <a:endParaRPr sz="135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566160" y="2880360"/>
            <a:ext cx="2331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8A97A6"/>
                </a:solidFill>
                <a:latin typeface="Calibri"/>
              </a:rPr>
              <a:t>Определяет тип листа: цены, матрица поставщиков или производственные показатели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60" y="2880360"/>
            <a:ext cx="17373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5A36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2331720"/>
            <a:ext cx="2697480" cy="146304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55080" y="2487168"/>
            <a:ext cx="24231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b="1" i="0">
                <a:solidFill>
                  <a:srgbClr val="FFFFFF"/>
                </a:solidFill>
                <a:latin typeface="Calibri"/>
              </a:rPr>
              <a:t>3. Нормализует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880360"/>
            <a:ext cx="2331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8A97A6"/>
                </a:solidFill>
                <a:latin typeface="Calibri"/>
              </a:rPr>
              <a:t>Единые названия материалов и поставщиков, цена — руб./тн, привязка к месяцу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2880360"/>
            <a:ext cx="17373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5A36"/>
                </a:solidFill>
                <a:latin typeface="Calibri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52560" y="2331720"/>
            <a:ext cx="2697480" cy="146304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189720" y="2487168"/>
            <a:ext cx="242316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b="1" i="0" dirty="0">
                <a:solidFill>
                  <a:srgbClr val="FFFFFF"/>
                </a:solidFill>
                <a:latin typeface="Calibri"/>
              </a:rPr>
              <a:t>4. </a:t>
            </a:r>
            <a:r>
              <a:rPr b="1" i="0" dirty="0" err="1">
                <a:solidFill>
                  <a:srgbClr val="FFFFFF"/>
                </a:solidFill>
                <a:latin typeface="Calibri"/>
              </a:rPr>
              <a:t>Собирает</a:t>
            </a:r>
            <a:r>
              <a:rPr b="1" i="0" dirty="0">
                <a:solidFill>
                  <a:srgbClr val="FFFFFF"/>
                </a:solidFill>
                <a:latin typeface="Calibri"/>
              </a:rPr>
              <a:t> в «</a:t>
            </a:r>
            <a:r>
              <a:rPr b="1" i="0" dirty="0" err="1">
                <a:solidFill>
                  <a:srgbClr val="FFFFFF"/>
                </a:solidFill>
                <a:latin typeface="Calibri"/>
              </a:rPr>
              <a:t>витрину</a:t>
            </a:r>
            <a:r>
              <a:rPr b="1" i="0" dirty="0">
                <a:solidFill>
                  <a:srgbClr val="FFFFFF"/>
                </a:solidFill>
                <a:latin typeface="Calibri"/>
              </a:rPr>
              <a:t>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3083814"/>
            <a:ext cx="2331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 i="0">
                <a:solidFill>
                  <a:srgbClr val="8A97A6"/>
                </a:solidFill>
                <a:latin typeface="Calibri"/>
              </a:rPr>
              <a:t>Все данные складываются в одну понятную таблицу внутри компании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069080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Важные принципы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434840"/>
            <a:ext cx="3566160" cy="1371600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49808" y="4599431"/>
            <a:ext cx="31638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Единые названия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4983479"/>
            <a:ext cx="3163824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A97A6"/>
                </a:solidFill>
                <a:latin typeface="Calibri"/>
              </a:rPr>
              <a:t>«Ферроком», «ООО Ферроком», «Ферроком (ООО)» — для системы это один поставщик; так же и с материалами.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434840"/>
            <a:ext cx="3566160" cy="1371600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44568" y="4599431"/>
            <a:ext cx="31638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Распознаёт знакомое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44568" y="4983479"/>
            <a:ext cx="3163824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A97A6"/>
                </a:solidFill>
                <a:latin typeface="Calibri"/>
              </a:rPr>
              <a:t>Файл, похожий на уже разобранный, разбирается автоматически — специалист подтверждает только что-то новое.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38160" y="4434840"/>
            <a:ext cx="3566160" cy="1371600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339328" y="4599431"/>
            <a:ext cx="316382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Файлы не трогает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9328" y="4983479"/>
            <a:ext cx="3163824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A97A6"/>
                </a:solidFill>
                <a:latin typeface="Calibri"/>
              </a:rPr>
              <a:t>Исходные Excel остаются без изменений: система только читает их и строит своё хранилище.</a:t>
            </a:r>
          </a:p>
        </p:txBody>
      </p:sp>
      <p:pic>
        <p:nvPicPr>
          <p:cNvPr id="36" name="EVRAZ_LOGO" descr="evraz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3488" y="-73152"/>
            <a:ext cx="1828800" cy="10287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Rectangle 14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Rectangle 148"/>
          <p:cNvSpPr/>
          <p:nvPr/>
        </p:nvSpPr>
        <p:spPr>
          <a:xfrm>
            <a:off x="548640" y="457200"/>
            <a:ext cx="457200" cy="64008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TextBox 149"/>
          <p:cNvSpPr txBox="1"/>
          <p:nvPr/>
        </p:nvSpPr>
        <p:spPr>
          <a:xfrm>
            <a:off x="548640" y="5669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C7293"/>
                </a:solidFill>
                <a:latin typeface="Calibri"/>
              </a:rPr>
              <a:t>LLM-АГЕНТ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548640" y="86868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Как агент отвечает на вопрос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548640" y="2286000"/>
            <a:ext cx="1645920" cy="155448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TextBox 152"/>
          <p:cNvSpPr txBox="1"/>
          <p:nvPr/>
        </p:nvSpPr>
        <p:spPr>
          <a:xfrm>
            <a:off x="640080" y="2432304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5A36"/>
                </a:solidFill>
                <a:latin typeface="Calibri"/>
              </a:rPr>
              <a:t>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58368" y="2743200"/>
            <a:ext cx="1426464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b="1" i="0" dirty="0" err="1">
                <a:solidFill>
                  <a:srgbClr val="FFFFFF"/>
                </a:solidFill>
                <a:latin typeface="Calibri"/>
              </a:rPr>
              <a:t>Вопрос</a:t>
            </a:r>
            <a:endParaRPr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5" name="TextBox 154"/>
          <p:cNvSpPr txBox="1"/>
          <p:nvPr/>
        </p:nvSpPr>
        <p:spPr>
          <a:xfrm>
            <a:off x="658368" y="3154680"/>
            <a:ext cx="14264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8A97A6"/>
                </a:solidFill>
                <a:latin typeface="Calibri"/>
              </a:rPr>
              <a:t>что спрашивают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212848" y="2852928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5A36"/>
                </a:solidFill>
                <a:latin typeface="Calibri"/>
              </a:rPr>
              <a:t>→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2432304" y="2286000"/>
            <a:ext cx="1645920" cy="155448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TextBox 157"/>
          <p:cNvSpPr txBox="1"/>
          <p:nvPr/>
        </p:nvSpPr>
        <p:spPr>
          <a:xfrm>
            <a:off x="2523744" y="2432304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5A36"/>
                </a:solidFill>
                <a:latin typeface="Calibri"/>
              </a:rPr>
              <a:t>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2542032" y="2743200"/>
            <a:ext cx="1426464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Классификация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2542032" y="3154680"/>
            <a:ext cx="14264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8A97A6"/>
                </a:solidFill>
                <a:latin typeface="Calibri"/>
              </a:rPr>
              <a:t>тип и домен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096511" y="2852928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5A36"/>
                </a:solidFill>
                <a:latin typeface="Calibri"/>
              </a:rPr>
              <a:t>→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4315968" y="2286000"/>
            <a:ext cx="1645920" cy="155448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TextBox 162"/>
          <p:cNvSpPr txBox="1"/>
          <p:nvPr/>
        </p:nvSpPr>
        <p:spPr>
          <a:xfrm>
            <a:off x="4407407" y="2432304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5A36"/>
                </a:solidFill>
                <a:latin typeface="Calibri"/>
              </a:rPr>
              <a:t>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425696" y="2743200"/>
            <a:ext cx="1426464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b="1" i="0" dirty="0" err="1">
                <a:solidFill>
                  <a:srgbClr val="FFFFFF"/>
                </a:solidFill>
                <a:latin typeface="Calibri"/>
              </a:rPr>
              <a:t>План</a:t>
            </a:r>
            <a:endParaRPr sz="145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65" name="TextBox 164"/>
          <p:cNvSpPr txBox="1"/>
          <p:nvPr/>
        </p:nvSpPr>
        <p:spPr>
          <a:xfrm>
            <a:off x="4425696" y="3154680"/>
            <a:ext cx="14264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8A97A6"/>
                </a:solidFill>
                <a:latin typeface="Calibri"/>
              </a:rPr>
              <a:t>какие данные нужны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5980175" y="2852928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5A36"/>
                </a:solidFill>
                <a:latin typeface="Calibri"/>
              </a:rPr>
              <a:t>→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6199631" y="2286000"/>
            <a:ext cx="1645920" cy="155448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TextBox 167"/>
          <p:cNvSpPr txBox="1"/>
          <p:nvPr/>
        </p:nvSpPr>
        <p:spPr>
          <a:xfrm>
            <a:off x="6291071" y="2432304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5A36"/>
                </a:solidFill>
                <a:latin typeface="Calibri"/>
              </a:rPr>
              <a:t>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309359" y="2743200"/>
            <a:ext cx="1426464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b="1" i="0">
                <a:solidFill>
                  <a:srgbClr val="FFFFFF"/>
                </a:solidFill>
                <a:latin typeface="Calibri"/>
              </a:rPr>
              <a:t>SQL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309359" y="3154680"/>
            <a:ext cx="14264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8A97A6"/>
                </a:solidFill>
                <a:latin typeface="Calibri"/>
              </a:rPr>
              <a:t>только SELECT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7863840" y="2852928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5A36"/>
                </a:solidFill>
                <a:latin typeface="Calibri"/>
              </a:rPr>
              <a:t>→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8083296" y="2286000"/>
            <a:ext cx="1645920" cy="155448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TextBox 172"/>
          <p:cNvSpPr txBox="1"/>
          <p:nvPr/>
        </p:nvSpPr>
        <p:spPr>
          <a:xfrm>
            <a:off x="8174736" y="2432304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5A36"/>
                </a:solidFill>
                <a:latin typeface="Calibri"/>
              </a:rPr>
              <a:t>5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8193023" y="2743200"/>
            <a:ext cx="1426464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b="1" i="0">
                <a:solidFill>
                  <a:srgbClr val="FFFFFF"/>
                </a:solidFill>
                <a:latin typeface="Calibri"/>
              </a:rPr>
              <a:t>Проверка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193023" y="3154680"/>
            <a:ext cx="14264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8A97A6"/>
                </a:solidFill>
                <a:latin typeface="Calibri"/>
              </a:rPr>
              <a:t>ответ сходится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9747504" y="2852928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5A36"/>
                </a:solidFill>
                <a:latin typeface="Calibri"/>
              </a:rPr>
              <a:t>→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9966960" y="2286000"/>
            <a:ext cx="1645920" cy="155448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TextBox 177"/>
          <p:cNvSpPr txBox="1"/>
          <p:nvPr/>
        </p:nvSpPr>
        <p:spPr>
          <a:xfrm>
            <a:off x="10058400" y="2432304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5A36"/>
                </a:solidFill>
                <a:latin typeface="Calibri"/>
              </a:rPr>
              <a:t>6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0076688" y="2743200"/>
            <a:ext cx="1426464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b="1" i="0">
                <a:solidFill>
                  <a:srgbClr val="FFFFFF"/>
                </a:solidFill>
                <a:latin typeface="Calibri"/>
              </a:rPr>
              <a:t>Ответ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0076688" y="3154680"/>
            <a:ext cx="142646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8A97A6"/>
                </a:solidFill>
                <a:latin typeface="Calibri"/>
              </a:rPr>
              <a:t>цифра + график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548640" y="4160520"/>
            <a:ext cx="11064240" cy="777240"/>
          </a:xfrm>
          <a:prstGeom prst="roundRect">
            <a:avLst>
              <a:gd name="adj" fmla="val 12000"/>
            </a:avLst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2" name="TextBox 181"/>
          <p:cNvSpPr txBox="1"/>
          <p:nvPr/>
        </p:nvSpPr>
        <p:spPr>
          <a:xfrm>
            <a:off x="822959" y="4288536"/>
            <a:ext cx="10515600" cy="52120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Неоднозначный вопрос — агент переспросит. Ошибка в SQL или слабая уверенность — исправит и повторит (до 3 попыток). Данные только читаются.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548640" y="5257800"/>
            <a:ext cx="3566160" cy="1188720"/>
          </a:xfrm>
          <a:prstGeom prst="roundRect">
            <a:avLst>
              <a:gd name="adj" fmla="val 6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4" name="TextBox 183"/>
          <p:cNvSpPr txBox="1"/>
          <p:nvPr/>
        </p:nvSpPr>
        <p:spPr>
          <a:xfrm>
            <a:off x="777240" y="5458968"/>
            <a:ext cx="31089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FFFFF"/>
                </a:solidFill>
                <a:latin typeface="Calibri"/>
              </a:rPr>
              <a:t>Самопроверка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777240" y="5897880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A97A6"/>
                </a:solidFill>
                <a:latin typeface="Calibri"/>
              </a:rPr>
              <a:t>Пустой SQL или ошибка запроса — агент замечает и переделывает запрос.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4343400" y="5257800"/>
            <a:ext cx="3566160" cy="1188720"/>
          </a:xfrm>
          <a:prstGeom prst="roundRect">
            <a:avLst>
              <a:gd name="adj" fmla="val 6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7" name="TextBox 186"/>
          <p:cNvSpPr txBox="1"/>
          <p:nvPr/>
        </p:nvSpPr>
        <p:spPr>
          <a:xfrm>
            <a:off x="4572000" y="5458968"/>
            <a:ext cx="31089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FFFFF"/>
                </a:solidFill>
                <a:latin typeface="Calibri"/>
              </a:rPr>
              <a:t>Только чтение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4572000" y="5897880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A97A6"/>
                </a:solidFill>
                <a:latin typeface="Calibri"/>
              </a:rPr>
              <a:t>Изменение или удаление данных технически невозможно.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8138160" y="5257800"/>
            <a:ext cx="3566160" cy="1188720"/>
          </a:xfrm>
          <a:prstGeom prst="roundRect">
            <a:avLst>
              <a:gd name="adj" fmla="val 6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0" name="TextBox 189"/>
          <p:cNvSpPr txBox="1"/>
          <p:nvPr/>
        </p:nvSpPr>
        <p:spPr>
          <a:xfrm>
            <a:off x="8366760" y="5458968"/>
            <a:ext cx="31089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FFFFF"/>
                </a:solidFill>
                <a:latin typeface="Calibri"/>
              </a:rPr>
              <a:t>Ответ с источником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8366760" y="5897880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A97A6"/>
                </a:solidFill>
                <a:latin typeface="Calibri"/>
              </a:rPr>
              <a:t>К каждому ответу — файл · лист · строка, которые можно открыть.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EVRAZ Agent</a:t>
            </a:r>
          </a:p>
        </p:txBody>
      </p:sp>
      <p:pic>
        <p:nvPicPr>
          <p:cNvPr id="147" name="EVRAZ_LOGO" descr="evraz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3160" y="-82960"/>
            <a:ext cx="1828800" cy="1028700"/>
          </a:xfrm>
          <a:prstGeom prst="rect">
            <a:avLst/>
          </a:prstGeom>
        </p:spPr>
      </p:pic>
      <p:sp>
        <p:nvSpPr>
          <p:cNvPr id="14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4C0"/>
                </a:solidFill>
              </a:defRPr>
            </a:lvl1pPr>
          </a:lstStyle>
          <a:p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 2"/>
          <p:cNvSpPr>
            <a:spLocks noGrp="1"/>
          </p:cNvSpPr>
          <p:nvPr>
            <p:ph type="body" idx="102" hasCustomPrompt="1"/>
          </p:nvPr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FF5A36"/>
                </a:solidFill>
              </a:rPr>
              <a:t>LLM-АГЕНТ</a:t>
            </a:r>
            <a:endParaRPr lang="en-US" sz="1200" dirty="0"/>
          </a:p>
        </p:txBody>
      </p:sp>
      <p:sp>
        <p:nvSpPr>
          <p:cNvPr id="101" name="Text 2"/>
          <p:cNvSpPr>
            <a:spLocks noGrp="1"/>
          </p:cNvSpPr>
          <p:nvPr>
            <p:ph type="title" idx="103" hasCustomPrompt="1"/>
          </p:nvPr>
        </p:nvSpPr>
        <p:spPr>
          <a:xfrm>
            <a:off x="548640" y="6858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</a:rPr>
              <a:t>Безопасная генерация SQL</a:t>
            </a:r>
            <a:endParaRPr lang="en-US" sz="3200" dirty="0"/>
          </a:p>
        </p:txBody>
      </p:sp>
      <p:sp>
        <p:nvSpPr>
          <p:cNvPr id="102" name="Text 2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5A36"/>
                </a:solidFill>
              </a:rPr>
              <a:t>Детерминированные правки в codegen</a:t>
            </a:r>
            <a:endParaRPr lang="en-US" sz="1800" dirty="0"/>
          </a:p>
        </p:txBody>
      </p:sp>
      <p:sp>
        <p:nvSpPr>
          <p:cNvPr id="103" name="Node «Все виды меди»"/>
          <p:cNvSpPr/>
          <p:nvPr/>
        </p:nvSpPr>
        <p:spPr>
          <a:xfrm>
            <a:off x="548640" y="1920240"/>
            <a:ext cx="1600200" cy="91440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4" name="Label «Все виды меди»"/>
          <p:cNvSpPr txBox="1"/>
          <p:nvPr/>
        </p:nvSpPr>
        <p:spPr>
          <a:xfrm>
            <a:off x="621792" y="1920240"/>
            <a:ext cx="1453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«Все виды меди»</a:t>
            </a:r>
            <a:endParaRPr lang="en-US" sz="1600" dirty="0"/>
          </a:p>
        </p:txBody>
      </p:sp>
      <p:sp>
        <p:nvSpPr>
          <p:cNvPr id="105" name="Arrow"/>
          <p:cNvSpPr/>
          <p:nvPr/>
        </p:nvSpPr>
        <p:spPr>
          <a:xfrm>
            <a:off x="2148840" y="2377440"/>
            <a:ext cx="365760" cy="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6" name="Node item_name ILIKE 'Лом меди%'"/>
          <p:cNvSpPr/>
          <p:nvPr/>
        </p:nvSpPr>
        <p:spPr>
          <a:xfrm>
            <a:off x="2514600" y="1920240"/>
            <a:ext cx="1600200" cy="91440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FBF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7" name="Label item_name ILIKE 'Лом меди%'"/>
          <p:cNvSpPr txBox="1"/>
          <p:nvPr/>
        </p:nvSpPr>
        <p:spPr>
          <a:xfrm>
            <a:off x="2587752" y="1920240"/>
            <a:ext cx="1453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item_name ILIKE 'Лом меди%'</a:t>
            </a:r>
            <a:endParaRPr lang="en-US" sz="1600" dirty="0"/>
          </a:p>
        </p:txBody>
      </p:sp>
      <p:sp>
        <p:nvSpPr>
          <p:cNvPr id="108" name="Node Поставщик «Сплав-21»"/>
          <p:cNvSpPr/>
          <p:nvPr/>
        </p:nvSpPr>
        <p:spPr>
          <a:xfrm>
            <a:off x="4297680" y="1920240"/>
            <a:ext cx="1600200" cy="91440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9" name="Label Поставщик «Сплав-21»"/>
          <p:cNvSpPr txBox="1"/>
          <p:nvPr/>
        </p:nvSpPr>
        <p:spPr>
          <a:xfrm>
            <a:off x="4370832" y="1920240"/>
            <a:ext cx="1453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Поставщик «Сплав-21»</a:t>
            </a:r>
            <a:endParaRPr lang="en-US" sz="1600" dirty="0"/>
          </a:p>
        </p:txBody>
      </p:sp>
      <p:sp>
        <p:nvSpPr>
          <p:cNvPr id="110" name="Arrow"/>
          <p:cNvSpPr/>
          <p:nvPr/>
        </p:nvSpPr>
        <p:spPr>
          <a:xfrm>
            <a:off x="5897880" y="2377440"/>
            <a:ext cx="365760" cy="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11" name="Node '%сплав21%'"/>
          <p:cNvSpPr/>
          <p:nvPr/>
        </p:nvSpPr>
        <p:spPr>
          <a:xfrm>
            <a:off x="6263640" y="1920240"/>
            <a:ext cx="1600200" cy="91440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FBF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2" name="Label '%сплав21%'"/>
          <p:cNvSpPr txBox="1"/>
          <p:nvPr/>
        </p:nvSpPr>
        <p:spPr>
          <a:xfrm>
            <a:off x="6336792" y="1920240"/>
            <a:ext cx="1453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'%сплав21%'</a:t>
            </a:r>
            <a:endParaRPr lang="en-US" sz="1600" dirty="0"/>
          </a:p>
        </p:txBody>
      </p:sp>
      <p:sp>
        <p:nvSpPr>
          <p:cNvPr id="113" name="Node Булевы поля is_blank"/>
          <p:cNvSpPr/>
          <p:nvPr/>
        </p:nvSpPr>
        <p:spPr>
          <a:xfrm>
            <a:off x="8046720" y="1920240"/>
            <a:ext cx="1600200" cy="91440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4" name="Label Булевы поля is_blank"/>
          <p:cNvSpPr txBox="1"/>
          <p:nvPr/>
        </p:nvSpPr>
        <p:spPr>
          <a:xfrm>
            <a:off x="8119872" y="1920240"/>
            <a:ext cx="1453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Булевы поля is_blank</a:t>
            </a:r>
            <a:endParaRPr lang="en-US" sz="1600" dirty="0"/>
          </a:p>
        </p:txBody>
      </p:sp>
      <p:sp>
        <p:nvSpPr>
          <p:cNvPr id="115" name="Arrow"/>
          <p:cNvSpPr/>
          <p:nvPr/>
        </p:nvSpPr>
        <p:spPr>
          <a:xfrm>
            <a:off x="9646920" y="2377440"/>
            <a:ext cx="365760" cy="0"/>
          </a:xfrm>
          <a:prstGeom prst="line">
            <a:avLst/>
          </a:prstGeom>
          <a:noFill/>
          <a:ln w="22225">
            <a:solidFill>
              <a:srgbClr val="FF5A36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16" name="Node целые 0 / 1"/>
          <p:cNvSpPr/>
          <p:nvPr/>
        </p:nvSpPr>
        <p:spPr>
          <a:xfrm>
            <a:off x="10012680" y="1920240"/>
            <a:ext cx="1600200" cy="91440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FBF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7" name="Label целые 0 / 1"/>
          <p:cNvSpPr txBox="1"/>
          <p:nvPr/>
        </p:nvSpPr>
        <p:spPr>
          <a:xfrm>
            <a:off x="10085832" y="1920240"/>
            <a:ext cx="1453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целые 0 / 1</a:t>
            </a:r>
            <a:endParaRPr lang="en-US" sz="1600" dirty="0"/>
          </a:p>
        </p:txBody>
      </p:sp>
      <p:sp>
        <p:nvSpPr>
          <p:cNvPr id="118" name="Text 18"/>
          <p:cNvSpPr txBox="1"/>
          <p:nvPr/>
        </p:nvSpPr>
        <p:spPr>
          <a:xfrm>
            <a:off x="548640" y="3337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5A36"/>
                </a:solidFill>
              </a:rPr>
              <a:t>Валидация перед выполнением</a:t>
            </a:r>
            <a:endParaRPr lang="en-US" sz="1800" dirty="0"/>
          </a:p>
        </p:txBody>
      </p:sp>
      <p:sp>
        <p:nvSpPr>
          <p:cNvPr id="119" name="Card"/>
          <p:cNvSpPr/>
          <p:nvPr/>
        </p:nvSpPr>
        <p:spPr>
          <a:xfrm>
            <a:off x="548640" y="3794760"/>
            <a:ext cx="2633472" cy="1417320"/>
          </a:xfrm>
          <a:prstGeom prst="roundRect">
            <a:avLst>
              <a:gd name="adj" fmla="val 5161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0" name="Badge 1"/>
          <p:cNvSpPr/>
          <p:nvPr/>
        </p:nvSpPr>
        <p:spPr>
          <a:xfrm>
            <a:off x="731520" y="3931920"/>
            <a:ext cx="365760" cy="365760"/>
          </a:xfrm>
          <a:prstGeom prst="ellipse">
            <a:avLst/>
          </a:prstGeom>
          <a:solidFill>
            <a:srgbClr val="FF5A36"/>
          </a:solidFill>
          <a:ln w="6350">
            <a:solidFill>
              <a:srgbClr val="FF5A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1" name="Text 21"/>
          <p:cNvSpPr txBox="1"/>
          <p:nvPr/>
        </p:nvSpPr>
        <p:spPr>
          <a:xfrm>
            <a:off x="731520" y="3931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1F24"/>
                </a:solidFill>
              </a:rPr>
              <a:t>1</a:t>
            </a:r>
            <a:endParaRPr lang="en-US" sz="1600" dirty="0"/>
          </a:p>
        </p:txBody>
      </p:sp>
      <p:sp>
        <p:nvSpPr>
          <p:cNvPr id="122" name="Text 22"/>
          <p:cNvSpPr txBox="1"/>
          <p:nvPr/>
        </p:nvSpPr>
        <p:spPr>
          <a:xfrm>
            <a:off x="731520" y="4434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Только SELECT</a:t>
            </a:r>
            <a:endParaRPr lang="en-US" sz="1500" dirty="0"/>
          </a:p>
        </p:txBody>
      </p:sp>
      <p:sp>
        <p:nvSpPr>
          <p:cNvPr id="123" name="Text 23"/>
          <p:cNvSpPr txBox="1"/>
          <p:nvPr/>
        </p:nvSpPr>
        <p:spPr>
          <a:xfrm>
            <a:off x="731520" y="47548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9B4C0"/>
                </a:solidFill>
              </a:rPr>
              <a:t>whitelist таблиц mart.*</a:t>
            </a:r>
            <a:endParaRPr lang="en-US" sz="1200" dirty="0"/>
          </a:p>
        </p:txBody>
      </p:sp>
      <p:sp>
        <p:nvSpPr>
          <p:cNvPr id="124" name="Card"/>
          <p:cNvSpPr/>
          <p:nvPr/>
        </p:nvSpPr>
        <p:spPr>
          <a:xfrm>
            <a:off x="3364992" y="3794760"/>
            <a:ext cx="2633472" cy="1417320"/>
          </a:xfrm>
          <a:prstGeom prst="roundRect">
            <a:avLst>
              <a:gd name="adj" fmla="val 5161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5" name="Badge 2"/>
          <p:cNvSpPr/>
          <p:nvPr/>
        </p:nvSpPr>
        <p:spPr>
          <a:xfrm>
            <a:off x="3547872" y="3931920"/>
            <a:ext cx="365760" cy="365760"/>
          </a:xfrm>
          <a:prstGeom prst="ellipse">
            <a:avLst/>
          </a:prstGeom>
          <a:solidFill>
            <a:srgbClr val="FF5A36"/>
          </a:solidFill>
          <a:ln w="6350">
            <a:solidFill>
              <a:srgbClr val="FF5A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6" name="Text 26"/>
          <p:cNvSpPr txBox="1"/>
          <p:nvPr/>
        </p:nvSpPr>
        <p:spPr>
          <a:xfrm>
            <a:off x="3547872" y="3931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1F24"/>
                </a:solidFill>
              </a:rPr>
              <a:t>2</a:t>
            </a:r>
            <a:endParaRPr lang="en-US" sz="1600" dirty="0"/>
          </a:p>
        </p:txBody>
      </p:sp>
      <p:sp>
        <p:nvSpPr>
          <p:cNvPr id="127" name="Text 27"/>
          <p:cNvSpPr txBox="1"/>
          <p:nvPr/>
        </p:nvSpPr>
        <p:spPr>
          <a:xfrm>
            <a:off x="3547872" y="4434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Blacklist</a:t>
            </a:r>
            <a:endParaRPr lang="en-US" sz="1500" dirty="0"/>
          </a:p>
        </p:txBody>
      </p:sp>
      <p:sp>
        <p:nvSpPr>
          <p:cNvPr id="128" name="Text 28"/>
          <p:cNvSpPr txBox="1"/>
          <p:nvPr/>
        </p:nvSpPr>
        <p:spPr>
          <a:xfrm>
            <a:off x="3547872" y="47548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9B4C0"/>
                </a:solidFill>
              </a:rPr>
              <a:t>INSERT · UPDATE · DELETE · DROP · ALTER</a:t>
            </a:r>
            <a:endParaRPr lang="en-US" sz="1200" dirty="0"/>
          </a:p>
        </p:txBody>
      </p:sp>
      <p:sp>
        <p:nvSpPr>
          <p:cNvPr id="129" name="Card"/>
          <p:cNvSpPr/>
          <p:nvPr/>
        </p:nvSpPr>
        <p:spPr>
          <a:xfrm>
            <a:off x="6181344" y="3794760"/>
            <a:ext cx="2633472" cy="1417320"/>
          </a:xfrm>
          <a:prstGeom prst="roundRect">
            <a:avLst>
              <a:gd name="adj" fmla="val 5161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0" name="Badge 3"/>
          <p:cNvSpPr/>
          <p:nvPr/>
        </p:nvSpPr>
        <p:spPr>
          <a:xfrm>
            <a:off x="6364224" y="3931920"/>
            <a:ext cx="365760" cy="365760"/>
          </a:xfrm>
          <a:prstGeom prst="ellipse">
            <a:avLst/>
          </a:prstGeom>
          <a:solidFill>
            <a:srgbClr val="FF5A36"/>
          </a:solidFill>
          <a:ln w="6350">
            <a:solidFill>
              <a:srgbClr val="FF5A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1" name="Text 31"/>
          <p:cNvSpPr txBox="1"/>
          <p:nvPr/>
        </p:nvSpPr>
        <p:spPr>
          <a:xfrm>
            <a:off x="6364224" y="3931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1F24"/>
                </a:solidFill>
              </a:rPr>
              <a:t>3</a:t>
            </a:r>
            <a:endParaRPr lang="en-US" sz="1600" dirty="0"/>
          </a:p>
        </p:txBody>
      </p:sp>
      <p:sp>
        <p:nvSpPr>
          <p:cNvPr id="132" name="Text 32"/>
          <p:cNvSpPr txBox="1"/>
          <p:nvPr/>
        </p:nvSpPr>
        <p:spPr>
          <a:xfrm>
            <a:off x="6364224" y="4434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Баланс скобок и кавычек</a:t>
            </a:r>
            <a:endParaRPr lang="en-US" sz="1500" dirty="0"/>
          </a:p>
        </p:txBody>
      </p:sp>
      <p:sp>
        <p:nvSpPr>
          <p:cNvPr id="133" name="Text 33"/>
          <p:cNvSpPr txBox="1"/>
          <p:nvPr/>
        </p:nvSpPr>
        <p:spPr>
          <a:xfrm>
            <a:off x="6364224" y="47548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9B4C0"/>
                </a:solidFill>
              </a:rPr>
              <a:t>детекция обрезанного SQL</a:t>
            </a:r>
            <a:endParaRPr lang="en-US" sz="1200" dirty="0"/>
          </a:p>
        </p:txBody>
      </p:sp>
      <p:sp>
        <p:nvSpPr>
          <p:cNvPr id="134" name="Card"/>
          <p:cNvSpPr/>
          <p:nvPr/>
        </p:nvSpPr>
        <p:spPr>
          <a:xfrm>
            <a:off x="8997696" y="3794760"/>
            <a:ext cx="2633472" cy="1417320"/>
          </a:xfrm>
          <a:prstGeom prst="roundRect">
            <a:avLst>
              <a:gd name="adj" fmla="val 5161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5" name="Badge 4"/>
          <p:cNvSpPr/>
          <p:nvPr/>
        </p:nvSpPr>
        <p:spPr>
          <a:xfrm>
            <a:off x="9180576" y="3931920"/>
            <a:ext cx="365760" cy="365760"/>
          </a:xfrm>
          <a:prstGeom prst="ellipse">
            <a:avLst/>
          </a:prstGeom>
          <a:solidFill>
            <a:srgbClr val="FF5A36"/>
          </a:solidFill>
          <a:ln w="6350">
            <a:solidFill>
              <a:srgbClr val="FF5A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6" name="Text 36"/>
          <p:cNvSpPr txBox="1"/>
          <p:nvPr/>
        </p:nvSpPr>
        <p:spPr>
          <a:xfrm>
            <a:off x="9180576" y="3931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1F24"/>
                </a:solidFill>
              </a:rPr>
              <a:t>4</a:t>
            </a:r>
            <a:endParaRPr lang="en-US" sz="1600" dirty="0"/>
          </a:p>
        </p:txBody>
      </p:sp>
      <p:sp>
        <p:nvSpPr>
          <p:cNvPr id="137" name="Text 37"/>
          <p:cNvSpPr txBox="1"/>
          <p:nvPr/>
        </p:nvSpPr>
        <p:spPr>
          <a:xfrm>
            <a:off x="9180576" y="4434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statement_timeout</a:t>
            </a:r>
            <a:endParaRPr lang="en-US" sz="1500" dirty="0"/>
          </a:p>
        </p:txBody>
      </p:sp>
      <p:sp>
        <p:nvSpPr>
          <p:cNvPr id="138" name="Text 38"/>
          <p:cNvSpPr txBox="1"/>
          <p:nvPr/>
        </p:nvSpPr>
        <p:spPr>
          <a:xfrm>
            <a:off x="9180576" y="47548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9B4C0"/>
                </a:solidFill>
              </a:rPr>
              <a:t>30 секунд</a:t>
            </a:r>
            <a:endParaRPr lang="en-US" sz="1200" dirty="0"/>
          </a:p>
        </p:txBody>
      </p:sp>
      <p:sp>
        <p:nvSpPr>
          <p:cNvPr id="139" name="Card"/>
          <p:cNvSpPr/>
          <p:nvPr/>
        </p:nvSpPr>
        <p:spPr>
          <a:xfrm>
            <a:off x="548640" y="5440680"/>
            <a:ext cx="11064240" cy="640080"/>
          </a:xfrm>
          <a:prstGeom prst="roundRect">
            <a:avLst>
              <a:gd name="adj" fmla="val 11429"/>
            </a:avLst>
          </a:prstGeom>
          <a:solidFill>
            <a:srgbClr val="262C33"/>
          </a:solidFill>
          <a:ln w="12700">
            <a:solidFill>
              <a:srgbClr val="3A43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0" name="Text 40"/>
          <p:cNvSpPr txBox="1"/>
          <p:nvPr/>
        </p:nvSpPr>
        <p:spPr>
          <a:xfrm>
            <a:off x="822960" y="54406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</a:rPr>
              <a:t>sql_compiler.py — альтернатива LLM: компилирует структурированную спеку в безопасный SELECT без модели.</a:t>
            </a:r>
            <a:endParaRPr lang="en-US" sz="1500" dirty="0"/>
          </a:p>
        </p:txBody>
      </p:sp>
      <p:sp>
        <p:nvSpPr>
          <p:cNvPr id="14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9B4C0"/>
                </a:solidFill>
              </a:defRPr>
            </a:lvl1pPr>
          </a:lstStyle>
          <a:p>
            <a:r>
              <a:t>7</a:t>
            </a:r>
          </a:p>
        </p:txBody>
      </p:sp>
      <p:pic>
        <p:nvPicPr>
          <p:cNvPr id="142" name="EVRAZ_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2680" y="-102870"/>
            <a:ext cx="1828800" cy="10287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457200" cy="64008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C7293"/>
                </a:solidFill>
                <a:latin typeface="Calibri"/>
              </a:rPr>
              <a:t>ВОЗМОЖНОСТИ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Что умеет система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EVRAZ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3566160" cy="1874519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9808" y="1947672"/>
            <a:ext cx="3163824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b="1" i="0">
                <a:solidFill>
                  <a:srgbClr val="FFFFFF"/>
                </a:solidFill>
                <a:latin typeface="Calibri"/>
              </a:rPr>
              <a:t>Вопросы простым языком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331720"/>
            <a:ext cx="316382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8A97A6"/>
                </a:solidFill>
                <a:latin typeface="Calibri"/>
              </a:rPr>
              <a:t>«Дельта цен между поставщиками в феврале?» — система понимает обычные формулировки и деловые термины.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783080"/>
            <a:ext cx="3566160" cy="1874519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44568" y="1947672"/>
            <a:ext cx="3163824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b="1" i="0" dirty="0" err="1">
                <a:solidFill>
                  <a:srgbClr val="FFFFFF"/>
                </a:solidFill>
                <a:latin typeface="Calibri"/>
              </a:rPr>
              <a:t>Графики</a:t>
            </a:r>
            <a:endParaRPr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544568" y="2331720"/>
            <a:ext cx="316382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8A97A6"/>
                </a:solidFill>
                <a:latin typeface="Calibri"/>
              </a:rPr>
              <a:t>Если ответ — динамика за месяцы, рядом сразу строится график.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783080"/>
            <a:ext cx="3566160" cy="1874519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39328" y="1947672"/>
            <a:ext cx="3163824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b="1" i="0">
                <a:solidFill>
                  <a:srgbClr val="FFFFFF"/>
                </a:solidFill>
                <a:latin typeface="Calibri"/>
              </a:rPr>
              <a:t>Расчёты автоматически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9328" y="2331720"/>
            <a:ext cx="316382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8A97A6"/>
                </a:solidFill>
                <a:latin typeface="Calibri"/>
              </a:rPr>
              <a:t>Средние, минимум/максимум, разница, рост за период — без ручных вычислений.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840480"/>
            <a:ext cx="3566160" cy="1874519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49808" y="4005072"/>
            <a:ext cx="3163824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b="1" i="0">
                <a:solidFill>
                  <a:srgbClr val="FFFFFF"/>
                </a:solidFill>
                <a:latin typeface="Calibri"/>
              </a:rPr>
              <a:t>Сравнение поставщиков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4389120"/>
            <a:ext cx="316382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8A97A6"/>
                </a:solidFill>
                <a:latin typeface="Calibri"/>
              </a:rPr>
              <a:t>Разные поставщики и позиции в одном вопросе — без поиска по каждому листу.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400" y="3840480"/>
            <a:ext cx="3566160" cy="1874519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44568" y="4005072"/>
            <a:ext cx="3163824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b="1" i="0">
                <a:solidFill>
                  <a:srgbClr val="FFFFFF"/>
                </a:solidFill>
                <a:latin typeface="Calibri"/>
              </a:rPr>
              <a:t>Уточняющие вопросы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44568" y="4389120"/>
            <a:ext cx="316382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8A97A6"/>
                </a:solidFill>
                <a:latin typeface="Calibri"/>
              </a:rPr>
              <a:t>Если формулировка неоднозначна, система переспросит — и продолжит с ответом.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8160" y="3840480"/>
            <a:ext cx="3566160" cy="1874519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339328" y="4005072"/>
            <a:ext cx="3163824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b="1" i="0">
                <a:solidFill>
                  <a:srgbClr val="FFFFFF"/>
                </a:solidFill>
                <a:latin typeface="Calibri"/>
              </a:rPr>
              <a:t>Новые форматы файлов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9328" y="4389120"/>
            <a:ext cx="316382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8A97A6"/>
                </a:solidFill>
                <a:latin typeface="Calibri"/>
              </a:rPr>
              <a:t>Структуру нового файла система распознаёт сама; при необходимости её подтверждает специалист.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989320"/>
            <a:ext cx="11064240" cy="594360"/>
          </a:xfrm>
          <a:prstGeom prst="roundRect">
            <a:avLst>
              <a:gd name="adj" fmla="val 12000"/>
            </a:avLst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2959" y="6153912"/>
            <a:ext cx="10515600" cy="2651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 dirty="0" err="1">
                <a:solidFill>
                  <a:srgbClr val="FFFFFF"/>
                </a:solidFill>
                <a:latin typeface="Calibri"/>
              </a:rPr>
              <a:t>Один</a:t>
            </a:r>
            <a:r>
              <a:rPr sz="14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400" b="1" i="0" dirty="0" err="1">
                <a:solidFill>
                  <a:srgbClr val="FFFFFF"/>
                </a:solidFill>
                <a:latin typeface="Calibri"/>
              </a:rPr>
              <a:t>помощник</a:t>
            </a:r>
            <a:r>
              <a:rPr sz="14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400" b="1" i="0" dirty="0" err="1">
                <a:solidFill>
                  <a:srgbClr val="FFFFFF"/>
                </a:solidFill>
                <a:latin typeface="Calibri"/>
              </a:rPr>
              <a:t>вместо</a:t>
            </a:r>
            <a:r>
              <a:rPr sz="14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400" b="1" i="0" dirty="0" err="1">
                <a:solidFill>
                  <a:srgbClr val="FFFFFF"/>
                </a:solidFill>
                <a:latin typeface="Calibri"/>
              </a:rPr>
              <a:t>десятков</a:t>
            </a:r>
            <a:r>
              <a:rPr sz="14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400" b="1" i="0" dirty="0" err="1">
                <a:solidFill>
                  <a:srgbClr val="FFFFFF"/>
                </a:solidFill>
                <a:latin typeface="Calibri"/>
              </a:rPr>
              <a:t>открытых</a:t>
            </a:r>
            <a:r>
              <a:rPr sz="14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400" b="1" i="0" dirty="0" err="1">
                <a:solidFill>
                  <a:srgbClr val="FFFFFF"/>
                </a:solidFill>
                <a:latin typeface="Calibri"/>
              </a:rPr>
              <a:t>файлов</a:t>
            </a:r>
            <a:r>
              <a:rPr sz="14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400" b="1" i="0" dirty="0" err="1">
                <a:solidFill>
                  <a:srgbClr val="FFFFFF"/>
                </a:solidFill>
                <a:latin typeface="Calibri"/>
              </a:rPr>
              <a:t>на</a:t>
            </a:r>
            <a:r>
              <a:rPr sz="14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400" b="1" i="0" dirty="0" err="1">
                <a:solidFill>
                  <a:srgbClr val="FFFFFF"/>
                </a:solidFill>
                <a:latin typeface="Calibri"/>
              </a:rPr>
              <a:t>рабочем</a:t>
            </a:r>
            <a:r>
              <a:rPr sz="14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400" b="1" i="0" dirty="0" err="1">
                <a:solidFill>
                  <a:srgbClr val="FFFFFF"/>
                </a:solidFill>
                <a:latin typeface="Calibri"/>
              </a:rPr>
              <a:t>столе</a:t>
            </a:r>
            <a:endParaRPr sz="1400" b="1" i="0" dirty="0">
              <a:solidFill>
                <a:srgbClr val="FFFFFF"/>
              </a:solidFill>
              <a:latin typeface="Calibri"/>
            </a:endParaRPr>
          </a:p>
        </p:txBody>
      </p:sp>
      <p:pic>
        <p:nvPicPr>
          <p:cNvPr id="28" name="EVRAZ_LOGO" descr="evraz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3488" y="-80010"/>
            <a:ext cx="1828800" cy="10287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3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548640" y="457200"/>
            <a:ext cx="457200" cy="64008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48640" y="5669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C7293"/>
                </a:solidFill>
                <a:latin typeface="Calibri"/>
              </a:rPr>
              <a:t>НАБЛЮДАЕМОСТЬ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86868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Трейсы, метрики и дашборды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169164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8A97A6"/>
                </a:solidFill>
                <a:latin typeface="Calibri"/>
              </a:rPr>
              <a:t>Каждый ответ можно разобрать по шагам, а состояние системы — увидеть в реальном времени, без доступа к коду.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" y="2331720"/>
            <a:ext cx="5394960" cy="3429000"/>
          </a:xfrm>
          <a:prstGeom prst="roundRect">
            <a:avLst>
              <a:gd name="adj" fmla="val 6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77240" y="2532888"/>
            <a:ext cx="493776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Трейсы запросов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2971800"/>
            <a:ext cx="4937760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8A97A6"/>
                </a:solidFill>
                <a:latin typeface="Calibri"/>
              </a:rPr>
              <a:t>Каждый вопрос получает request_id — журнал хранит весь путь ответа.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320040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8A97A6"/>
                </a:solidFill>
                <a:latin typeface="Calibri"/>
              </a:rPr>
              <a:t>•  Шаги агента: классификация → план → SQL → выполнение → проверка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" y="3611880"/>
            <a:ext cx="48463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97A6"/>
                </a:solidFill>
                <a:latin typeface="Calibri"/>
              </a:rPr>
              <a:t>•  Время каждого шага, итоговый SQL и уверенность ответа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4251960"/>
            <a:ext cx="48463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8A97A6"/>
                </a:solidFill>
                <a:latin typeface="Calibri"/>
              </a:rPr>
              <a:t>•  Просмотр в интерфейсе и через API: /trace/{request_id}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45352" y="2331720"/>
            <a:ext cx="5394960" cy="1645920"/>
          </a:xfrm>
          <a:prstGeom prst="roundRect">
            <a:avLst>
              <a:gd name="adj" fmla="val 6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73952" y="2532888"/>
            <a:ext cx="49377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b="1" i="0" dirty="0">
                <a:solidFill>
                  <a:srgbClr val="FFFFFF"/>
                </a:solidFill>
                <a:latin typeface="Calibri"/>
              </a:rPr>
              <a:t>Prometheus — </a:t>
            </a:r>
            <a:r>
              <a:rPr b="1" i="0" dirty="0" err="1">
                <a:solidFill>
                  <a:srgbClr val="FFFFFF"/>
                </a:solidFill>
                <a:latin typeface="Calibri"/>
              </a:rPr>
              <a:t>метрики</a:t>
            </a:r>
            <a:r>
              <a:rPr b="1" i="0" dirty="0">
                <a:solidFill>
                  <a:srgbClr val="FFFFFF"/>
                </a:solidFill>
                <a:latin typeface="Calibri"/>
              </a:rPr>
              <a:t> · </a:t>
            </a:r>
            <a:r>
              <a:rPr b="1" i="0" dirty="0" err="1">
                <a:solidFill>
                  <a:srgbClr val="FFFFFF"/>
                </a:solidFill>
                <a:latin typeface="Calibri"/>
              </a:rPr>
              <a:t>порт</a:t>
            </a:r>
            <a:r>
              <a:rPr b="1" i="0" dirty="0">
                <a:solidFill>
                  <a:srgbClr val="FFFFFF"/>
                </a:solidFill>
                <a:latin typeface="Calibri"/>
              </a:rPr>
              <a:t> 9090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73952" y="2971800"/>
            <a:ext cx="49377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A97A6"/>
                </a:solidFill>
                <a:latin typeface="Calibri"/>
              </a:rPr>
              <a:t>Сервис отдаёт метрики на /metrics: число запросов, статусы, задержки, токены LLM. Открыть: http://localhost:9090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45352" y="4114800"/>
            <a:ext cx="5394960" cy="1645920"/>
          </a:xfrm>
          <a:prstGeom prst="roundRect">
            <a:avLst>
              <a:gd name="adj" fmla="val 6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473952" y="4315968"/>
            <a:ext cx="49377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b="1" i="0">
                <a:solidFill>
                  <a:srgbClr val="FFFFFF"/>
                </a:solidFill>
                <a:latin typeface="Calibri"/>
              </a:rPr>
              <a:t>Grafana — дашборды · порт 3001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73952" y="4754880"/>
            <a:ext cx="49377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A97A6"/>
                </a:solidFill>
                <a:latin typeface="Calibri"/>
              </a:rPr>
              <a:t>Дашборды и графики на метриках Prometheus. Открыть: http://localhost:3001 (admin / admin)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48640" y="5989320"/>
            <a:ext cx="11064240" cy="548640"/>
          </a:xfrm>
          <a:prstGeom prst="roundRect">
            <a:avLst>
              <a:gd name="adj" fmla="val 12000"/>
            </a:avLst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22959" y="6117336"/>
            <a:ext cx="10515600" cy="29260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Стек мониторинга запускается вместе с проектом в Docker — панели доступны сразу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EVRAZ Agent</a:t>
            </a:r>
          </a:p>
        </p:txBody>
      </p:sp>
      <p:pic>
        <p:nvPicPr>
          <p:cNvPr id="37" name="EVRAZ_LOGO" descr="evraz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3487" y="-116586"/>
            <a:ext cx="1828800" cy="10287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881360" y="647395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457200" cy="64008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C7293"/>
                </a:solidFill>
                <a:latin typeface="Calibri"/>
              </a:rPr>
              <a:t>РЕЗУЛЬТАТЫ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Бенчмарк заказчика: контрольный прогон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EVRAZ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8A97A6"/>
                </a:solidFill>
                <a:latin typeface="Calibri"/>
              </a:rPr>
              <a:t>Контрольный прогон по запросам заказчика: </a:t>
            </a:r>
            <a:r>
              <a:rPr sz="1600" b="1">
                <a:solidFill>
                  <a:srgbClr val="FFFFFF"/>
                </a:solidFill>
                <a:latin typeface="Calibri"/>
              </a:rPr>
              <a:t>5 из 5 запросов прошли</a:t>
            </a:r>
            <a:r>
              <a:rPr sz="1600" b="0">
                <a:solidFill>
                  <a:srgbClr val="8A97A6"/>
                </a:solidFill>
                <a:latin typeface="Calibri"/>
              </a:rPr>
              <a:t> — каждый ответ сверен с эталоном (допуск 1%).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2670048" cy="1645920"/>
          </a:xfrm>
          <a:prstGeom prst="roundRect">
            <a:avLst>
              <a:gd name="adj" fmla="val 6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359152"/>
            <a:ext cx="248716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900" b="1" i="0">
                <a:solidFill>
                  <a:srgbClr val="FF5A36"/>
                </a:solidFill>
                <a:latin typeface="Calibri"/>
              </a:rPr>
              <a:t>5 из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907792"/>
            <a:ext cx="2395728" cy="2443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3000"/>
              </a:lnSpc>
            </a:pPr>
            <a:r>
              <a:rPr sz="1600" b="1" i="0" dirty="0" err="1">
                <a:solidFill>
                  <a:srgbClr val="FFFFFF"/>
                </a:solidFill>
                <a:latin typeface="Calibri"/>
              </a:rPr>
              <a:t>Запросов</a:t>
            </a:r>
            <a:r>
              <a:rPr sz="16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600" b="1" i="0" dirty="0" err="1">
                <a:solidFill>
                  <a:srgbClr val="FFFFFF"/>
                </a:solidFill>
                <a:latin typeface="Calibri"/>
              </a:rPr>
              <a:t>прошли</a:t>
            </a:r>
            <a:r>
              <a:rPr sz="1600" b="1" i="0" dirty="0">
                <a:solidFill>
                  <a:srgbClr val="FFFFFF"/>
                </a:solidFill>
                <a:latin typeface="Calibri"/>
              </a:rPr>
              <a:t> — 100%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383280"/>
            <a:ext cx="245059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0" i="0">
                <a:solidFill>
                  <a:srgbClr val="8A97A6"/>
                </a:solidFill>
                <a:latin typeface="Calibri"/>
              </a:rPr>
              <a:t>все ответы совпали с эталоном (допуск 1%)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8416" y="2240280"/>
            <a:ext cx="2670048" cy="1645920"/>
          </a:xfrm>
          <a:prstGeom prst="roundRect">
            <a:avLst>
              <a:gd name="adj" fmla="val 6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19856" y="2359152"/>
            <a:ext cx="248716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900" b="1" i="0">
                <a:solidFill>
                  <a:srgbClr val="1C7293"/>
                </a:solidFill>
                <a:latin typeface="Calibri"/>
              </a:rPr>
              <a:t>~35 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5576" y="2907792"/>
            <a:ext cx="2395728" cy="2443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3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Среднее время ответа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38144" y="3383280"/>
            <a:ext cx="245059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0" i="0">
                <a:solidFill>
                  <a:srgbClr val="8A97A6"/>
                </a:solidFill>
                <a:latin typeface="Calibri"/>
              </a:rPr>
              <a:t>медиана ~33 с · разброс 0,02–84 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08192" y="2240280"/>
            <a:ext cx="2670048" cy="1645920"/>
          </a:xfrm>
          <a:prstGeom prst="roundRect">
            <a:avLst>
              <a:gd name="adj" fmla="val 6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99631" y="2359152"/>
            <a:ext cx="248716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900" b="1" i="0">
                <a:solidFill>
                  <a:srgbClr val="1C7293"/>
                </a:solidFill>
                <a:latin typeface="Calibri"/>
              </a:rPr>
              <a:t>~36 тыс.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5352" y="2907792"/>
            <a:ext cx="23957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3000"/>
              </a:lnSpc>
            </a:pPr>
            <a:r>
              <a:rPr sz="1200" b="1" i="0" dirty="0" err="1">
                <a:solidFill>
                  <a:srgbClr val="FFFFFF"/>
                </a:solidFill>
                <a:latin typeface="Calibri"/>
              </a:rPr>
              <a:t>Токенов</a:t>
            </a:r>
            <a:r>
              <a:rPr sz="12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Calibri"/>
              </a:rPr>
              <a:t>на</a:t>
            </a:r>
            <a:r>
              <a:rPr sz="12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Calibri"/>
              </a:rPr>
              <a:t>запрос</a:t>
            </a:r>
            <a:r>
              <a:rPr sz="1200" b="1" i="0" dirty="0">
                <a:solidFill>
                  <a:srgbClr val="FFFFFF"/>
                </a:solidFill>
                <a:latin typeface="Calibri"/>
              </a:rPr>
              <a:t> *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3383280"/>
            <a:ext cx="245059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0" i="0">
                <a:solidFill>
                  <a:srgbClr val="8A97A6"/>
                </a:solidFill>
                <a:latin typeface="Calibri"/>
              </a:rPr>
              <a:t>суммарно ≈181 тыс. на 5 запросов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887968" y="2240280"/>
            <a:ext cx="2670048" cy="1645920"/>
          </a:xfrm>
          <a:prstGeom prst="roundRect">
            <a:avLst>
              <a:gd name="adj" fmla="val 6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979408" y="2359152"/>
            <a:ext cx="248716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900" b="1" i="0">
                <a:solidFill>
                  <a:srgbClr val="2E7D32"/>
                </a:solidFill>
                <a:latin typeface="Calibri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25128" y="2907792"/>
            <a:ext cx="2395728" cy="2443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3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Ошибок и расхождений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97696" y="3383280"/>
            <a:ext cx="245059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0" i="0">
                <a:solidFill>
                  <a:srgbClr val="8A97A6"/>
                </a:solidFill>
                <a:latin typeface="Calibri"/>
              </a:rPr>
              <a:t>каждую цифру можно перепроверить по источнику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023360"/>
            <a:ext cx="1106424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Calibri"/>
              </a:rPr>
              <a:t>Детализация прогона (время — фактическое, токены — оценка)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315968"/>
            <a:ext cx="10561320" cy="301752"/>
          </a:xfrm>
          <a:prstGeom prst="rect">
            <a:avLst/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21792" y="4370831"/>
            <a:ext cx="31089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B199"/>
                </a:solidFill>
                <a:latin typeface="Calibri"/>
              </a:rPr>
              <a:t>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" y="4370831"/>
            <a:ext cx="588873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B199"/>
                </a:solidFill>
                <a:latin typeface="Calibri"/>
              </a:rPr>
              <a:t>Вопрос заказчика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51192" y="4370831"/>
            <a:ext cx="104241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B199"/>
                </a:solidFill>
                <a:latin typeface="Calibri"/>
              </a:rPr>
              <a:t>Результат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77072" y="4370831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B199"/>
                </a:solidFill>
                <a:latin typeface="Calibri"/>
              </a:rPr>
              <a:t>Время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48672" y="4370831"/>
            <a:ext cx="108813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B199"/>
                </a:solidFill>
                <a:latin typeface="Calibri"/>
              </a:rPr>
              <a:t>Токены*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4631436"/>
            <a:ext cx="10561320" cy="301752"/>
          </a:xfrm>
          <a:prstGeom prst="rect">
            <a:avLst/>
          </a:prstGeom>
          <a:solidFill>
            <a:srgbClr val="1B1F24"/>
          </a:solidFill>
          <a:ln w="9525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03504" y="4677155"/>
            <a:ext cx="3657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" y="4677155"/>
            <a:ext cx="5943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Среднерыночная цена лома твёрдых сплавов · дек 2025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51192" y="4668012"/>
            <a:ext cx="104241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2E7D32"/>
                </a:solidFill>
                <a:latin typeface="Calibri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77072" y="4677155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0,2 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48672" y="4677155"/>
            <a:ext cx="108813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≈ 9 тыс.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4946903"/>
            <a:ext cx="10561320" cy="301752"/>
          </a:xfrm>
          <a:prstGeom prst="rect">
            <a:avLst/>
          </a:prstGeom>
          <a:solidFill>
            <a:srgbClr val="262C33"/>
          </a:solidFill>
          <a:ln w="9525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03504" y="4992623"/>
            <a:ext cx="3657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24712" y="4992623"/>
            <a:ext cx="5943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Макс. аукционная цена лома латуни ЛАЖМц · за 2025 год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51192" y="4983479"/>
            <a:ext cx="104241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2E7D32"/>
                </a:solidFill>
                <a:latin typeface="Calibri"/>
              </a:rP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77072" y="4992623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33 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48672" y="4992623"/>
            <a:ext cx="108813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≈ 50 тыс.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8640" y="5262371"/>
            <a:ext cx="10561320" cy="301752"/>
          </a:xfrm>
          <a:prstGeom prst="rect">
            <a:avLst/>
          </a:prstGeom>
          <a:solidFill>
            <a:srgbClr val="1B1F24"/>
          </a:solidFill>
          <a:ln w="9525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03504" y="5308091"/>
            <a:ext cx="3657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24712" y="5308091"/>
            <a:ext cx="5943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Средняя цена медного лома у «Ферроком» · фев 2025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51192" y="5298947"/>
            <a:ext cx="104241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2E7D32"/>
                </a:solidFill>
                <a:latin typeface="Calibri"/>
              </a:rPr>
              <a:t>✓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77072" y="5308091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56 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48672" y="5308091"/>
            <a:ext cx="108813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≈ 52 тыс.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40" y="5577839"/>
            <a:ext cx="10561320" cy="301752"/>
          </a:xfrm>
          <a:prstGeom prst="rect">
            <a:avLst/>
          </a:prstGeom>
          <a:solidFill>
            <a:srgbClr val="262C33"/>
          </a:solidFill>
          <a:ln w="9525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03504" y="5623559"/>
            <a:ext cx="3657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24712" y="5623559"/>
            <a:ext cx="5943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Дельта мин/макс медного лома у 4 поставщиков · фев 2025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251192" y="5614415"/>
            <a:ext cx="104241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2E7D32"/>
                </a:solidFill>
                <a:latin typeface="Calibri"/>
              </a:rPr>
              <a:t>✓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77072" y="5623559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84 с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48672" y="5623559"/>
            <a:ext cx="108813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≈ 62 тыс.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8640" y="5893307"/>
            <a:ext cx="10561320" cy="301752"/>
          </a:xfrm>
          <a:prstGeom prst="rect">
            <a:avLst/>
          </a:prstGeom>
          <a:solidFill>
            <a:srgbClr val="1B1F24"/>
          </a:solidFill>
          <a:ln w="9525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03504" y="5939027"/>
            <a:ext cx="3657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24712" y="5939027"/>
            <a:ext cx="5943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Минимальная цена на цинковый лом за все месяцы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51192" y="5929883"/>
            <a:ext cx="104241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2E7D32"/>
                </a:solidFill>
                <a:latin typeface="Calibri"/>
              </a:rPr>
              <a:t>✓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77072" y="5939027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0,02 с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48672" y="5939027"/>
            <a:ext cx="108813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≈ 8 тыс.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48640" y="6263640"/>
            <a:ext cx="110642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97A6"/>
                </a:solidFill>
                <a:latin typeface="Calibri"/>
              </a:rPr>
              <a:t>* Токены — оценка суммарного трафика LLM-вызовов агента: классификация, план, SQL, проверка, ответ.</a:t>
            </a:r>
          </a:p>
        </p:txBody>
      </p:sp>
      <p:pic>
        <p:nvPicPr>
          <p:cNvPr id="63" name="EVRAZ_LOGO" descr="evraz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3488" y="-96011"/>
            <a:ext cx="1828800" cy="10287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457200" cy="64008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C7293"/>
                </a:solidFill>
                <a:latin typeface="Calibri"/>
              </a:rPr>
              <a:t>РЕЗУЛЬТАТЫ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Расширенный бенчмарк: первый прогон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EVRAZ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24762"/>
            <a:ext cx="11064240" cy="2757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dirty="0" err="1">
                <a:solidFill>
                  <a:srgbClr val="8A97A6"/>
                </a:solidFill>
                <a:latin typeface="Calibri"/>
              </a:rPr>
              <a:t>Набор</a:t>
            </a:r>
            <a:r>
              <a:rPr sz="1600" b="0" dirty="0">
                <a:solidFill>
                  <a:srgbClr val="8A97A6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8A97A6"/>
                </a:solidFill>
                <a:latin typeface="Calibri"/>
              </a:rPr>
              <a:t>из</a:t>
            </a:r>
            <a:r>
              <a:rPr sz="1600" b="0" dirty="0">
                <a:solidFill>
                  <a:srgbClr val="8A97A6"/>
                </a:solidFill>
                <a:latin typeface="Calibri"/>
              </a:rPr>
              <a:t> </a:t>
            </a:r>
            <a:r>
              <a:rPr sz="1600" b="1" dirty="0">
                <a:solidFill>
                  <a:srgbClr val="FFFFFF"/>
                </a:solidFill>
                <a:latin typeface="Calibri"/>
              </a:rPr>
              <a:t>50 </a:t>
            </a:r>
            <a:r>
              <a:rPr sz="1600" b="1" dirty="0" err="1">
                <a:solidFill>
                  <a:srgbClr val="FFFFFF"/>
                </a:solidFill>
                <a:latin typeface="Calibri"/>
              </a:rPr>
              <a:t>запросов</a:t>
            </a:r>
            <a:r>
              <a:rPr sz="1600" b="0" dirty="0">
                <a:solidFill>
                  <a:srgbClr val="8A97A6"/>
                </a:solidFill>
                <a:latin typeface="Calibri"/>
              </a:rPr>
              <a:t> (</a:t>
            </a:r>
            <a:r>
              <a:rPr sz="1600" b="0" dirty="0" err="1">
                <a:solidFill>
                  <a:srgbClr val="8A97A6"/>
                </a:solidFill>
                <a:latin typeface="Calibri"/>
              </a:rPr>
              <a:t>реальные</a:t>
            </a:r>
            <a:r>
              <a:rPr sz="1600" b="0" dirty="0">
                <a:solidFill>
                  <a:srgbClr val="8A97A6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8A97A6"/>
                </a:solidFill>
                <a:latin typeface="Calibri"/>
              </a:rPr>
              <a:t>сценарии</a:t>
            </a:r>
            <a:r>
              <a:rPr sz="1600" b="0" dirty="0">
                <a:solidFill>
                  <a:srgbClr val="8A97A6"/>
                </a:solidFill>
                <a:latin typeface="Calibri"/>
              </a:rPr>
              <a:t>). </a:t>
            </a:r>
            <a:r>
              <a:rPr sz="1600" b="0" dirty="0" err="1">
                <a:solidFill>
                  <a:srgbClr val="8A97A6"/>
                </a:solidFill>
                <a:latin typeface="Calibri"/>
              </a:rPr>
              <a:t>Показатели</a:t>
            </a:r>
            <a:r>
              <a:rPr sz="1600" b="0" dirty="0">
                <a:solidFill>
                  <a:srgbClr val="8A97A6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8A97A6"/>
                </a:solidFill>
                <a:latin typeface="Calibri"/>
              </a:rPr>
              <a:t>предварительные</a:t>
            </a:r>
            <a:r>
              <a:rPr sz="1600" b="0" dirty="0">
                <a:solidFill>
                  <a:srgbClr val="8A97A6"/>
                </a:solidFill>
                <a:latin typeface="Calibri"/>
              </a:rPr>
              <a:t> — </a:t>
            </a:r>
            <a:r>
              <a:rPr sz="1600" b="0" dirty="0" err="1">
                <a:solidFill>
                  <a:srgbClr val="8A97A6"/>
                </a:solidFill>
                <a:latin typeface="Calibri"/>
              </a:rPr>
              <a:t>для</a:t>
            </a:r>
            <a:r>
              <a:rPr sz="1600" b="0" dirty="0">
                <a:solidFill>
                  <a:srgbClr val="8A97A6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8A97A6"/>
                </a:solidFill>
                <a:latin typeface="Calibri"/>
              </a:rPr>
              <a:t>оценки</a:t>
            </a:r>
            <a:r>
              <a:rPr sz="1600" b="0" dirty="0">
                <a:solidFill>
                  <a:srgbClr val="8A97A6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8A97A6"/>
                </a:solidFill>
                <a:latin typeface="Calibri"/>
              </a:rPr>
              <a:t>порядка</a:t>
            </a:r>
            <a:r>
              <a:rPr sz="1600" b="0" dirty="0">
                <a:solidFill>
                  <a:srgbClr val="8A97A6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8A97A6"/>
                </a:solidFill>
                <a:latin typeface="Calibri"/>
              </a:rPr>
              <a:t>величин</a:t>
            </a:r>
            <a:r>
              <a:rPr sz="1600" b="0" dirty="0">
                <a:solidFill>
                  <a:srgbClr val="8A97A6"/>
                </a:solidFill>
                <a:latin typeface="Calibri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2670048" cy="1645920"/>
          </a:xfrm>
          <a:prstGeom prst="roundRect">
            <a:avLst>
              <a:gd name="adj" fmla="val 6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359152"/>
            <a:ext cx="248716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900" b="1" i="0">
                <a:solidFill>
                  <a:srgbClr val="FF5A36"/>
                </a:solidFill>
                <a:latin typeface="Calibri"/>
              </a:rPr>
              <a:t>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907792"/>
            <a:ext cx="23957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3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Запросов в наборе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383280"/>
            <a:ext cx="245059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0" i="0" dirty="0" err="1">
                <a:solidFill>
                  <a:srgbClr val="8A97A6"/>
                </a:solidFill>
                <a:latin typeface="Calibri"/>
              </a:rPr>
              <a:t>простые</a:t>
            </a:r>
            <a:r>
              <a:rPr sz="900" b="0" i="0" dirty="0">
                <a:solidFill>
                  <a:srgbClr val="8A97A6"/>
                </a:solidFill>
                <a:latin typeface="Calibri"/>
              </a:rPr>
              <a:t> · </a:t>
            </a:r>
            <a:r>
              <a:rPr sz="900" b="0" i="0" dirty="0" err="1">
                <a:solidFill>
                  <a:srgbClr val="8A97A6"/>
                </a:solidFill>
                <a:latin typeface="Calibri"/>
              </a:rPr>
              <a:t>агрегации</a:t>
            </a:r>
            <a:r>
              <a:rPr sz="900" b="0" i="0" dirty="0">
                <a:solidFill>
                  <a:srgbClr val="8A97A6"/>
                </a:solidFill>
                <a:latin typeface="Calibri"/>
              </a:rPr>
              <a:t> · </a:t>
            </a:r>
            <a:r>
              <a:rPr sz="900" b="0" i="0" dirty="0" err="1">
                <a:solidFill>
                  <a:srgbClr val="8A97A6"/>
                </a:solidFill>
                <a:latin typeface="Calibri"/>
              </a:rPr>
              <a:t>дельты</a:t>
            </a:r>
            <a:r>
              <a:rPr sz="900" b="0" i="0" dirty="0">
                <a:solidFill>
                  <a:srgbClr val="8A97A6"/>
                </a:solidFill>
                <a:latin typeface="Calibri"/>
              </a:rPr>
              <a:t> · </a:t>
            </a:r>
            <a:r>
              <a:rPr sz="900" b="0" i="0" dirty="0" err="1">
                <a:solidFill>
                  <a:srgbClr val="8A97A6"/>
                </a:solidFill>
                <a:latin typeface="Calibri"/>
              </a:rPr>
              <a:t>составные</a:t>
            </a:r>
            <a:endParaRPr sz="900" b="0" i="0" dirty="0">
              <a:solidFill>
                <a:srgbClr val="8A97A6"/>
              </a:solidFill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3328416" y="2240280"/>
            <a:ext cx="2670048" cy="1645920"/>
          </a:xfrm>
          <a:prstGeom prst="roundRect">
            <a:avLst>
              <a:gd name="adj" fmla="val 6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19856" y="2359152"/>
            <a:ext cx="2487168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900" b="1" i="0" dirty="0">
                <a:solidFill>
                  <a:srgbClr val="2E7D32"/>
                </a:solidFill>
                <a:latin typeface="Calibri"/>
              </a:rPr>
              <a:t>4</a:t>
            </a:r>
            <a:r>
              <a:rPr lang="en-US" sz="2900" b="1" dirty="0">
                <a:solidFill>
                  <a:srgbClr val="2E7D32"/>
                </a:solidFill>
                <a:latin typeface="Calibri"/>
              </a:rPr>
              <a:t>8</a:t>
            </a:r>
            <a:endParaRPr sz="2900" b="1" i="0" dirty="0">
              <a:solidFill>
                <a:srgbClr val="2E7D32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465576" y="2907792"/>
            <a:ext cx="2395728" cy="183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3000"/>
              </a:lnSpc>
            </a:pPr>
            <a:r>
              <a:rPr sz="1200" b="1" i="0" dirty="0" err="1">
                <a:solidFill>
                  <a:srgbClr val="FFFFFF"/>
                </a:solidFill>
                <a:latin typeface="Calibri"/>
              </a:rPr>
              <a:t>Прошли</a:t>
            </a:r>
            <a:r>
              <a:rPr sz="12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200" b="1" i="0" dirty="0" err="1">
                <a:solidFill>
                  <a:srgbClr val="FFFFFF"/>
                </a:solidFill>
                <a:latin typeface="Calibri"/>
              </a:rPr>
              <a:t>успешно</a:t>
            </a:r>
            <a:r>
              <a:rPr sz="1200" b="1" i="0" dirty="0">
                <a:solidFill>
                  <a:srgbClr val="FFFFFF"/>
                </a:solidFill>
                <a:latin typeface="Calibri"/>
              </a:rPr>
              <a:t> — </a:t>
            </a:r>
            <a:r>
              <a:rPr lang="en-US" sz="1200" b="1" i="0" dirty="0">
                <a:solidFill>
                  <a:srgbClr val="FFFFFF"/>
                </a:solidFill>
                <a:latin typeface="Calibri"/>
              </a:rPr>
              <a:t>92</a:t>
            </a:r>
            <a:r>
              <a:rPr sz="1200" b="1" i="0" dirty="0">
                <a:solidFill>
                  <a:srgbClr val="FFFFFF"/>
                </a:solidFill>
                <a:latin typeface="Calibri"/>
              </a:rPr>
              <a:t>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38144" y="3383280"/>
            <a:ext cx="245059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0" i="0">
                <a:solidFill>
                  <a:srgbClr val="8A97A6"/>
                </a:solidFill>
                <a:latin typeface="Calibri"/>
              </a:rPr>
              <a:t>6 запросов требуют доработки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08192" y="2240280"/>
            <a:ext cx="2670048" cy="1645920"/>
          </a:xfrm>
          <a:prstGeom prst="roundRect">
            <a:avLst>
              <a:gd name="adj" fmla="val 6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99631" y="2359152"/>
            <a:ext cx="248716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900" b="1" i="0">
                <a:solidFill>
                  <a:srgbClr val="1C7293"/>
                </a:solidFill>
                <a:latin typeface="Calibri"/>
              </a:rPr>
              <a:t>~38 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5352" y="2907792"/>
            <a:ext cx="23957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3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Среднее время ответа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3383280"/>
            <a:ext cx="245059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0" i="0">
                <a:solidFill>
                  <a:srgbClr val="8A97A6"/>
                </a:solidFill>
                <a:latin typeface="Calibri"/>
              </a:rPr>
              <a:t>медиана ~25 с · разброс 0,5–90 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887968" y="2240280"/>
            <a:ext cx="2670048" cy="1645920"/>
          </a:xfrm>
          <a:prstGeom prst="roundRect">
            <a:avLst>
              <a:gd name="adj" fmla="val 6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979408" y="2359152"/>
            <a:ext cx="248716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900" b="1" i="0">
                <a:solidFill>
                  <a:srgbClr val="1C7293"/>
                </a:solidFill>
                <a:latin typeface="Calibri"/>
              </a:rPr>
              <a:t>≈1,8 млн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25128" y="2907792"/>
            <a:ext cx="23957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3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Токенов суммарно *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97696" y="3383280"/>
            <a:ext cx="245059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0" i="0">
                <a:solidFill>
                  <a:srgbClr val="8A97A6"/>
                </a:solidFill>
                <a:latin typeface="Calibri"/>
              </a:rPr>
              <a:t>≈36 тыс. на запрос (оценка)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02336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dirty="0" err="1">
                <a:solidFill>
                  <a:srgbClr val="FFFFFF"/>
                </a:solidFill>
                <a:latin typeface="Calibri"/>
              </a:rPr>
              <a:t>Точность</a:t>
            </a:r>
            <a:r>
              <a:rPr sz="13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300" b="1" i="0" dirty="0" err="1">
                <a:solidFill>
                  <a:srgbClr val="FFFFFF"/>
                </a:solidFill>
                <a:latin typeface="Calibri"/>
              </a:rPr>
              <a:t>по</a:t>
            </a:r>
            <a:r>
              <a:rPr sz="13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300" b="1" i="0" dirty="0" err="1">
                <a:solidFill>
                  <a:srgbClr val="FFFFFF"/>
                </a:solidFill>
                <a:latin typeface="Calibri"/>
              </a:rPr>
              <a:t>типам</a:t>
            </a:r>
            <a:r>
              <a:rPr sz="13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300" b="1" i="0" dirty="0" err="1">
                <a:solidFill>
                  <a:srgbClr val="FFFFFF"/>
                </a:solidFill>
                <a:latin typeface="Calibri"/>
              </a:rPr>
              <a:t>запросов</a:t>
            </a:r>
            <a:endParaRPr sz="13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548640" y="4315968"/>
            <a:ext cx="10607040" cy="301752"/>
          </a:xfrm>
          <a:prstGeom prst="rect">
            <a:avLst/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21792" y="4370831"/>
            <a:ext cx="506577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B199"/>
                </a:solidFill>
                <a:latin typeface="Calibri"/>
              </a:rPr>
              <a:t>Тип вопросов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25312" y="4370831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B199"/>
                </a:solidFill>
                <a:latin typeface="Calibri"/>
              </a:rPr>
              <a:t>Запросов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54112" y="4370831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B199"/>
                </a:solidFill>
                <a:latin typeface="Calibri"/>
              </a:rPr>
              <a:t>Прошло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4370831"/>
            <a:ext cx="168249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B199"/>
                </a:solidFill>
                <a:latin typeface="Calibri"/>
              </a:rPr>
              <a:t>Точность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4631436"/>
            <a:ext cx="10607040" cy="301752"/>
          </a:xfrm>
          <a:prstGeom prst="rect">
            <a:avLst/>
          </a:prstGeom>
          <a:solidFill>
            <a:srgbClr val="1B1F24"/>
          </a:solidFill>
          <a:ln w="9525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21792" y="4677155"/>
            <a:ext cx="506577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Простой поиск цены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25312" y="4677155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112" y="4677155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2E7D32"/>
                </a:solidFill>
                <a:latin typeface="Calibri"/>
              </a:rPr>
              <a:t>14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00032" y="4677155"/>
            <a:ext cx="168249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100%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4946903"/>
            <a:ext cx="10607040" cy="301752"/>
          </a:xfrm>
          <a:prstGeom prst="rect">
            <a:avLst/>
          </a:prstGeom>
          <a:solidFill>
            <a:srgbClr val="262C33"/>
          </a:solidFill>
          <a:ln w="9525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21792" y="4992623"/>
            <a:ext cx="506577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Средние, мин/макс по периодам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25312" y="4992623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54112" y="4992623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2E7D32"/>
                </a:solidFill>
                <a:latin typeface="Calibri"/>
              </a:rPr>
              <a:t>17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00032" y="4992623"/>
            <a:ext cx="168249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94%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5262371"/>
            <a:ext cx="10607040" cy="301752"/>
          </a:xfrm>
          <a:prstGeom prst="rect">
            <a:avLst/>
          </a:prstGeom>
          <a:solidFill>
            <a:srgbClr val="1B1F24"/>
          </a:solidFill>
          <a:ln w="9525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21792" y="5308091"/>
            <a:ext cx="506577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Сравнение и дельты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25312" y="5308091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54112" y="5308091"/>
            <a:ext cx="1408176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lang="ru-RU" sz="1000" b="1" dirty="0">
                <a:solidFill>
                  <a:srgbClr val="2E7D32"/>
                </a:solidFill>
                <a:latin typeface="Calibri"/>
              </a:rPr>
              <a:t>10</a:t>
            </a:r>
            <a:endParaRPr sz="1000" b="1" i="0" dirty="0">
              <a:solidFill>
                <a:srgbClr val="2E7D32"/>
              </a:solidFill>
              <a:latin typeface="Calibri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9400032" y="5308091"/>
            <a:ext cx="1682496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lang="ru-RU" sz="1000" b="1" dirty="0">
                <a:solidFill>
                  <a:srgbClr val="FFFFFF"/>
                </a:solidFill>
                <a:latin typeface="Calibri"/>
              </a:rPr>
              <a:t>83</a:t>
            </a:r>
            <a:r>
              <a:rPr sz="1000" b="1" i="0" dirty="0">
                <a:solidFill>
                  <a:srgbClr val="FFFFFF"/>
                </a:solidFill>
                <a:latin typeface="Calibri"/>
              </a:rPr>
              <a:t>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5577839"/>
            <a:ext cx="10607040" cy="301752"/>
          </a:xfrm>
          <a:prstGeom prst="rect">
            <a:avLst/>
          </a:prstGeom>
          <a:solidFill>
            <a:srgbClr val="262C33"/>
          </a:solidFill>
          <a:ln w="9525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21792" y="5623559"/>
            <a:ext cx="506577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Составные: поставщики + периоды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25312" y="5623559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54112" y="5623559"/>
            <a:ext cx="1408176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lang="ru-RU" sz="1000" b="1" dirty="0">
                <a:solidFill>
                  <a:srgbClr val="2E7D32"/>
                </a:solidFill>
                <a:latin typeface="Calibri"/>
              </a:rPr>
              <a:t>5</a:t>
            </a:r>
            <a:endParaRPr sz="1000" b="1" i="0" dirty="0">
              <a:solidFill>
                <a:srgbClr val="2E7D32"/>
              </a:solidFill>
              <a:latin typeface="Calibri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9400032" y="5623559"/>
            <a:ext cx="1682496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lang="ru-RU" sz="1000" b="1" dirty="0">
                <a:solidFill>
                  <a:srgbClr val="FFFFFF"/>
                </a:solidFill>
                <a:latin typeface="Calibri"/>
              </a:rPr>
              <a:t>83</a:t>
            </a:r>
            <a:r>
              <a:rPr sz="1000" b="1" i="0" dirty="0">
                <a:solidFill>
                  <a:srgbClr val="FFFFFF"/>
                </a:solidFill>
                <a:latin typeface="Calibri"/>
              </a:rPr>
              <a:t>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" y="5893307"/>
            <a:ext cx="10607040" cy="301752"/>
          </a:xfrm>
          <a:prstGeom prst="rect">
            <a:avLst/>
          </a:prstGeom>
          <a:solidFill>
            <a:srgbClr val="262C33"/>
          </a:solidFill>
          <a:ln w="12700">
            <a:solidFill>
              <a:srgbClr val="FF5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21792" y="5939027"/>
            <a:ext cx="506577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Итого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925312" y="5939027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0" i="0">
                <a:solidFill>
                  <a:srgbClr val="8A97A6"/>
                </a:solidFill>
                <a:latin typeface="Calibr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54112" y="5939027"/>
            <a:ext cx="1408176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 i="0" dirty="0">
                <a:solidFill>
                  <a:srgbClr val="2E7D32"/>
                </a:solidFill>
                <a:latin typeface="Calibri"/>
              </a:rPr>
              <a:t>4</a:t>
            </a:r>
            <a:r>
              <a:rPr lang="ru-RU" sz="1050" b="1" i="0" dirty="0">
                <a:solidFill>
                  <a:srgbClr val="2E7D32"/>
                </a:solidFill>
                <a:latin typeface="Calibri"/>
              </a:rPr>
              <a:t>6</a:t>
            </a:r>
            <a:endParaRPr sz="1050" b="1" i="0" dirty="0">
              <a:solidFill>
                <a:srgbClr val="2E7D32"/>
              </a:solidFill>
              <a:latin typeface="Calibri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400032" y="5939027"/>
            <a:ext cx="1682496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1050" b="1" dirty="0">
                <a:solidFill>
                  <a:srgbClr val="FF5A36"/>
                </a:solidFill>
                <a:latin typeface="Calibri"/>
              </a:rPr>
              <a:t>92</a:t>
            </a:r>
            <a:r>
              <a:rPr sz="1050" b="1" i="0" dirty="0">
                <a:solidFill>
                  <a:srgbClr val="FF5A36"/>
                </a:solidFill>
                <a:latin typeface="Calibri"/>
              </a:rPr>
              <a:t>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6217919"/>
            <a:ext cx="110642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97A6"/>
                </a:solidFill>
                <a:latin typeface="Calibri"/>
              </a:rPr>
              <a:t>Следующий шаг: разобрать 6 неуспешных запросов и довести точность до ≥ 90% · токены — оценка LLM-трафика.</a:t>
            </a:r>
          </a:p>
        </p:txBody>
      </p:sp>
      <p:pic>
        <p:nvPicPr>
          <p:cNvPr id="57" name="EVRAZ_LOGO" descr="evraz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43160" y="-61008"/>
            <a:ext cx="1828800" cy="10287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457200" cy="64008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C7293"/>
                </a:solidFill>
                <a:latin typeface="Calibri"/>
              </a:rPr>
              <a:t>ВОЗМОЖНОСТИ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Примеры вопросов и ответов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EVRAZ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dirty="0" err="1">
                <a:solidFill>
                  <a:srgbClr val="8A97A6"/>
                </a:solidFill>
                <a:latin typeface="Calibri"/>
              </a:rPr>
              <a:t>Реальные</a:t>
            </a:r>
            <a:r>
              <a:rPr sz="1600" b="0" dirty="0">
                <a:solidFill>
                  <a:srgbClr val="8A97A6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8A97A6"/>
                </a:solidFill>
                <a:latin typeface="Calibri"/>
              </a:rPr>
              <a:t>запросы</a:t>
            </a:r>
            <a:r>
              <a:rPr sz="1600" b="0" dirty="0">
                <a:solidFill>
                  <a:srgbClr val="8A97A6"/>
                </a:solidFill>
                <a:latin typeface="Calibri"/>
              </a:rPr>
              <a:t>, </a:t>
            </a:r>
            <a:r>
              <a:rPr sz="1600" b="0" dirty="0" err="1">
                <a:solidFill>
                  <a:srgbClr val="8A97A6"/>
                </a:solidFill>
                <a:latin typeface="Calibri"/>
              </a:rPr>
              <a:t>которые</a:t>
            </a:r>
            <a:r>
              <a:rPr sz="1600" b="0" dirty="0">
                <a:solidFill>
                  <a:srgbClr val="8A97A6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8A97A6"/>
                </a:solidFill>
                <a:latin typeface="Calibri"/>
              </a:rPr>
              <a:t>уже</a:t>
            </a:r>
            <a:r>
              <a:rPr sz="1600" b="0" dirty="0">
                <a:solidFill>
                  <a:srgbClr val="8A97A6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8A97A6"/>
                </a:solidFill>
                <a:latin typeface="Calibri"/>
              </a:rPr>
              <a:t>проходят</a:t>
            </a:r>
            <a:r>
              <a:rPr sz="1600" b="0" dirty="0">
                <a:solidFill>
                  <a:srgbClr val="8A97A6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8A97A6"/>
                </a:solidFill>
                <a:latin typeface="Calibri"/>
              </a:rPr>
              <a:t>через</a:t>
            </a:r>
            <a:r>
              <a:rPr sz="1600" b="0" dirty="0">
                <a:solidFill>
                  <a:srgbClr val="8A97A6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8A97A6"/>
                </a:solidFill>
                <a:latin typeface="Calibri"/>
              </a:rPr>
              <a:t>систему</a:t>
            </a:r>
            <a:r>
              <a:rPr sz="1600" b="0" dirty="0">
                <a:solidFill>
                  <a:srgbClr val="8A97A6"/>
                </a:solidFill>
                <a:latin typeface="Calibri"/>
              </a:rPr>
              <a:t> (</a:t>
            </a:r>
            <a:r>
              <a:rPr sz="1600" b="0" dirty="0" err="1">
                <a:solidFill>
                  <a:srgbClr val="8A97A6"/>
                </a:solidFill>
                <a:latin typeface="Calibri"/>
              </a:rPr>
              <a:t>демонстрационные</a:t>
            </a:r>
            <a:r>
              <a:rPr sz="1600" b="0" dirty="0">
                <a:solidFill>
                  <a:srgbClr val="8A97A6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8A97A6"/>
                </a:solidFill>
                <a:latin typeface="Calibri"/>
              </a:rPr>
              <a:t>данные</a:t>
            </a:r>
            <a:r>
              <a:rPr sz="1600" b="0" dirty="0">
                <a:solidFill>
                  <a:srgbClr val="8A97A6"/>
                </a:solidFill>
                <a:latin typeface="Calibri"/>
              </a:rPr>
              <a:t>):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48840"/>
            <a:ext cx="5394960" cy="146304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4937760" cy="2664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 dirty="0" err="1">
                <a:solidFill>
                  <a:srgbClr val="FFFFFF"/>
                </a:solidFill>
                <a:latin typeface="Calibri"/>
              </a:rPr>
              <a:t>Среднерыночная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цена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лома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алюминия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в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ноябре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044952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B199"/>
                </a:solidFill>
                <a:latin typeface="Calibri"/>
              </a:rPr>
              <a:t>→  153 369,75 ₽/тн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148840"/>
            <a:ext cx="5394960" cy="146304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0" y="2331720"/>
            <a:ext cx="4937760" cy="5496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 dirty="0" err="1">
                <a:solidFill>
                  <a:srgbClr val="FFFFFF"/>
                </a:solidFill>
                <a:latin typeface="Calibri"/>
              </a:rPr>
              <a:t>Средняя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цена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медного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лома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у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поставщика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Ферроком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в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феврале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044952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B199"/>
                </a:solidFill>
                <a:latin typeface="Calibri"/>
              </a:rPr>
              <a:t>→  696 625,15 ₽/тн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794760"/>
            <a:ext cx="5394960" cy="146304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3977640"/>
            <a:ext cx="4937760" cy="5496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 dirty="0" err="1">
                <a:solidFill>
                  <a:srgbClr val="FFFFFF"/>
                </a:solidFill>
                <a:latin typeface="Calibri"/>
              </a:rPr>
              <a:t>Дельта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между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мин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. и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макс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.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ценой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медного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лома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у 4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поставщиков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в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феврале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90872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B199"/>
                </a:solidFill>
                <a:latin typeface="Calibri"/>
              </a:rPr>
              <a:t>→  438 350,10 ₽/тн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794760"/>
            <a:ext cx="5394960" cy="1463040"/>
          </a:xfrm>
          <a:prstGeom prst="roundRect">
            <a:avLst>
              <a:gd name="adj" fmla="val 8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0" y="3977640"/>
            <a:ext cx="4937760" cy="5496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 dirty="0" err="1">
                <a:solidFill>
                  <a:srgbClr val="FFFFFF"/>
                </a:solidFill>
                <a:latin typeface="Calibri"/>
              </a:rPr>
              <a:t>Максимальная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среднерыночная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цена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лома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меди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«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кусок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»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за</a:t>
            </a:r>
            <a:r>
              <a:rPr sz="1600" b="0" i="0" dirty="0">
                <a:solidFill>
                  <a:srgbClr val="FFFFFF"/>
                </a:solidFill>
                <a:latin typeface="Calibri"/>
              </a:rPr>
              <a:t> 2025 </a:t>
            </a:r>
            <a:r>
              <a:rPr sz="1600" b="0" i="0" dirty="0" err="1">
                <a:solidFill>
                  <a:srgbClr val="FFFFFF"/>
                </a:solidFill>
                <a:latin typeface="Calibri"/>
              </a:rPr>
              <a:t>год</a:t>
            </a:r>
            <a:endParaRPr sz="1600" b="0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400800" y="4690872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B199"/>
                </a:solidFill>
                <a:latin typeface="Calibri"/>
              </a:rPr>
              <a:t>→  906 729,75 ₽/тн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2000"/>
            </a:avLst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959" y="5833872"/>
            <a:ext cx="105156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Каждый ответ сопровождается источником: файл · лист · период · строка</a:t>
            </a:r>
          </a:p>
        </p:txBody>
      </p:sp>
      <p:pic>
        <p:nvPicPr>
          <p:cNvPr id="23" name="EVRAZ_LOGO" descr="evraz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3488" y="-95545"/>
            <a:ext cx="1828800" cy="10287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457200"/>
            <a:ext cx="457200" cy="64008"/>
          </a:xfrm>
          <a:prstGeom prst="rect">
            <a:avLst/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C7293"/>
                </a:solidFill>
                <a:latin typeface="Calibri"/>
              </a:rPr>
              <a:t>ВЫГОДЫ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Что решение даёт компании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8A97A6"/>
                </a:solidFill>
                <a:latin typeface="Calibri"/>
              </a:rPr>
              <a:t>EVRAZ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73952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3566160" cy="1874519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9808" y="1947672"/>
            <a:ext cx="3163824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 dirty="0" err="1">
                <a:solidFill>
                  <a:srgbClr val="FFFFFF"/>
                </a:solidFill>
                <a:latin typeface="Calibri"/>
              </a:rPr>
              <a:t>Скорость</a:t>
            </a:r>
            <a:endParaRPr sz="20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49808" y="2331720"/>
            <a:ext cx="316382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 dirty="0" err="1">
                <a:solidFill>
                  <a:srgbClr val="8A97A6"/>
                </a:solidFill>
                <a:latin typeface="Calibri"/>
              </a:rPr>
              <a:t>Ответ</a:t>
            </a:r>
            <a:r>
              <a:rPr sz="1200" b="0" i="0" dirty="0">
                <a:solidFill>
                  <a:srgbClr val="8A97A6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8A97A6"/>
                </a:solidFill>
                <a:latin typeface="Calibri"/>
              </a:rPr>
              <a:t>за</a:t>
            </a:r>
            <a:r>
              <a:rPr sz="1200" b="0" i="0" dirty="0">
                <a:solidFill>
                  <a:srgbClr val="8A97A6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8A97A6"/>
                </a:solidFill>
                <a:latin typeface="Calibri"/>
              </a:rPr>
              <a:t>секунды</a:t>
            </a:r>
            <a:r>
              <a:rPr sz="1200" b="0" i="0" dirty="0">
                <a:solidFill>
                  <a:srgbClr val="8A97A6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8A97A6"/>
                </a:solidFill>
                <a:latin typeface="Calibri"/>
              </a:rPr>
              <a:t>вместо</a:t>
            </a:r>
            <a:r>
              <a:rPr sz="1200" b="0" i="0" dirty="0">
                <a:solidFill>
                  <a:srgbClr val="8A97A6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8A97A6"/>
                </a:solidFill>
                <a:latin typeface="Calibri"/>
              </a:rPr>
              <a:t>часов</a:t>
            </a:r>
            <a:r>
              <a:rPr sz="1200" b="0" i="0" dirty="0">
                <a:solidFill>
                  <a:srgbClr val="8A97A6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8A97A6"/>
                </a:solidFill>
                <a:latin typeface="Calibri"/>
              </a:rPr>
              <a:t>ручного</a:t>
            </a:r>
            <a:r>
              <a:rPr sz="1200" b="0" i="0" dirty="0">
                <a:solidFill>
                  <a:srgbClr val="8A97A6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8A97A6"/>
                </a:solidFill>
                <a:latin typeface="Calibri"/>
              </a:rPr>
              <a:t>поиска</a:t>
            </a:r>
            <a:r>
              <a:rPr sz="1200" b="0" i="0" dirty="0">
                <a:solidFill>
                  <a:srgbClr val="8A97A6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8A97A6"/>
                </a:solidFill>
                <a:latin typeface="Calibri"/>
              </a:rPr>
              <a:t>по</a:t>
            </a:r>
            <a:r>
              <a:rPr sz="1200" b="0" i="0" dirty="0">
                <a:solidFill>
                  <a:srgbClr val="8A97A6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8A97A6"/>
                </a:solidFill>
                <a:latin typeface="Calibri"/>
              </a:rPr>
              <a:t>файлам</a:t>
            </a:r>
            <a:r>
              <a:rPr sz="1200" b="0" i="0" dirty="0">
                <a:solidFill>
                  <a:srgbClr val="8A97A6"/>
                </a:solidFill>
                <a:latin typeface="Calibri"/>
              </a:rPr>
              <a:t> и </a:t>
            </a:r>
            <a:r>
              <a:rPr sz="1200" b="0" i="0" dirty="0" err="1">
                <a:solidFill>
                  <a:srgbClr val="8A97A6"/>
                </a:solidFill>
                <a:latin typeface="Calibri"/>
              </a:rPr>
              <a:t>листам</a:t>
            </a:r>
            <a:r>
              <a:rPr sz="1200" b="0" i="0" dirty="0">
                <a:solidFill>
                  <a:srgbClr val="8A97A6"/>
                </a:solidFill>
                <a:latin typeface="Calibri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783080"/>
            <a:ext cx="3566160" cy="1874519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44568" y="1947672"/>
            <a:ext cx="3163824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 dirty="0" err="1">
                <a:solidFill>
                  <a:srgbClr val="FFFFFF"/>
                </a:solidFill>
                <a:latin typeface="Calibri"/>
              </a:rPr>
              <a:t>Точность</a:t>
            </a:r>
            <a:endParaRPr sz="20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544568" y="2331720"/>
            <a:ext cx="316382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8A97A6"/>
                </a:solidFill>
                <a:latin typeface="Calibri"/>
              </a:rPr>
              <a:t>Расчёты выполняет система — без ошибок ручного копирования цифр.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783080"/>
            <a:ext cx="3566160" cy="1874519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39328" y="1947672"/>
            <a:ext cx="3163824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 dirty="0" err="1">
                <a:solidFill>
                  <a:srgbClr val="FFFFFF"/>
                </a:solidFill>
                <a:latin typeface="Calibri"/>
              </a:rPr>
              <a:t>Прозрачность</a:t>
            </a:r>
            <a:endParaRPr sz="20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339328" y="2331720"/>
            <a:ext cx="316382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8A97A6"/>
                </a:solidFill>
                <a:latin typeface="Calibri"/>
              </a:rPr>
              <a:t>Каждая цифра проверяема: видно, откуда она взялась и как посчитана.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840480"/>
            <a:ext cx="3566160" cy="1874519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49808" y="4005072"/>
            <a:ext cx="3163824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 dirty="0" err="1">
                <a:solidFill>
                  <a:srgbClr val="FFFFFF"/>
                </a:solidFill>
                <a:latin typeface="Calibri"/>
              </a:rPr>
              <a:t>Единый</a:t>
            </a:r>
            <a:r>
              <a:rPr sz="20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2000" b="1" i="0" dirty="0" err="1">
                <a:solidFill>
                  <a:srgbClr val="FFFFFF"/>
                </a:solidFill>
                <a:latin typeface="Calibri"/>
              </a:rPr>
              <a:t>источник</a:t>
            </a:r>
            <a:endParaRPr sz="20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49808" y="4389120"/>
            <a:ext cx="316382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8A97A6"/>
                </a:solidFill>
                <a:latin typeface="Calibri"/>
              </a:rPr>
              <a:t>Все данные о ценах — в одном месте, вопросы и ответы — в журнале.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400" y="3840480"/>
            <a:ext cx="3566160" cy="1874519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44568" y="4005072"/>
            <a:ext cx="3163824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 dirty="0" err="1">
                <a:solidFill>
                  <a:srgbClr val="FFFFFF"/>
                </a:solidFill>
                <a:latin typeface="Calibri"/>
              </a:rPr>
              <a:t>Экономия</a:t>
            </a:r>
            <a:r>
              <a:rPr sz="20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2000" b="1" i="0" dirty="0" err="1">
                <a:solidFill>
                  <a:srgbClr val="FFFFFF"/>
                </a:solidFill>
                <a:latin typeface="Calibri"/>
              </a:rPr>
              <a:t>времени</a:t>
            </a:r>
            <a:endParaRPr sz="20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544568" y="4389120"/>
            <a:ext cx="316382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8A97A6"/>
                </a:solidFill>
                <a:latin typeface="Calibri"/>
              </a:rPr>
              <a:t>Специалисты занимаются анализом и решениями, а не поиском.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8160" y="3840480"/>
            <a:ext cx="3566160" cy="1874519"/>
          </a:xfrm>
          <a:prstGeom prst="roundRect">
            <a:avLst>
              <a:gd name="adj" fmla="val 7000"/>
            </a:avLst>
          </a:prstGeom>
          <a:solidFill>
            <a:srgbClr val="262C33"/>
          </a:solidFill>
          <a:ln w="12700">
            <a:solidFill>
              <a:srgbClr val="3D4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339328" y="4005072"/>
            <a:ext cx="3163824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 dirty="0" err="1">
                <a:solidFill>
                  <a:srgbClr val="FFFFFF"/>
                </a:solidFill>
                <a:latin typeface="Calibri"/>
              </a:rPr>
              <a:t>Безопасность</a:t>
            </a:r>
            <a:endParaRPr sz="20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339328" y="4389120"/>
            <a:ext cx="3163824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8A97A6"/>
                </a:solidFill>
                <a:latin typeface="Calibri"/>
              </a:rPr>
              <a:t>Данные остаются внутри компании; доступ — под контролем.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989320"/>
            <a:ext cx="11064240" cy="594360"/>
          </a:xfrm>
          <a:prstGeom prst="roundRect">
            <a:avLst>
              <a:gd name="adj" fmla="val 12000"/>
            </a:avLst>
          </a:prstGeom>
          <a:solidFill>
            <a:srgbClr val="FF5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2959" y="6153912"/>
            <a:ext cx="10515600" cy="2651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Компания получает «цифрового аналитика», который работает с теми же файлами</a:t>
            </a:r>
          </a:p>
        </p:txBody>
      </p:sp>
      <p:pic>
        <p:nvPicPr>
          <p:cNvPr id="28" name="EVRAZ_LOGO" descr="evraz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4287" y="-96233"/>
            <a:ext cx="1828800" cy="10287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</TotalTime>
  <Words>1503</Words>
  <Application>Microsoft Office PowerPoint</Application>
  <PresentationFormat>Широкоэкранный</PresentationFormat>
  <Paragraphs>322</Paragraphs>
  <Slides>13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7" baseType="lpstr">
      <vt:lpstr>Aptos</vt:lpstr>
      <vt:lpstr>Arial</vt:lpstr>
      <vt:lpstr>Calibri</vt:lpstr>
      <vt:lpstr>Office Theme</vt:lpstr>
      <vt:lpstr>Презентация PowerPoint</vt:lpstr>
      <vt:lpstr>Презентация PowerPoint</vt:lpstr>
      <vt:lpstr>Решение — обзор</vt:lpstr>
      <vt:lpstr>Технологический стек</vt:lpstr>
      <vt:lpstr>Презентация PowerPoint</vt:lpstr>
      <vt:lpstr>Презентация PowerPoint</vt:lpstr>
      <vt:lpstr>Безопасная генерация SQL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Костя Баландин</cp:lastModifiedBy>
  <cp:revision>19</cp:revision>
  <dcterms:created xsi:type="dcterms:W3CDTF">2013-01-27T09:14:16Z</dcterms:created>
  <dcterms:modified xsi:type="dcterms:W3CDTF">2026-10-22T17:01:23Z</dcterms:modified>
  <cp:category/>
</cp:coreProperties>
</file>