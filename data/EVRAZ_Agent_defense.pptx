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1" r:id="rId15"/>
    <p:sldId id="272" r:id="rId16"/>
    <p:sldId id="274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778240" y="0"/>
            <a:ext cx="3410712" cy="164592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778240" y="164592"/>
            <a:ext cx="164592" cy="2011680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972800" y="1828800"/>
            <a:ext cx="1216152" cy="164592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B199"/>
                </a:solidFill>
                <a:latin typeface="Calibri"/>
              </a:rPr>
              <a:t>EVRAZ  ·  ДЕМОНСТРАЦИЯ ПРОЕКТА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FFFFFF"/>
                </a:solidFill>
                <a:latin typeface="Calibri"/>
              </a:rPr>
              <a:t>EVRAZ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8A97A6"/>
                </a:solidFill>
                <a:latin typeface="Calibri"/>
              </a:rPr>
              <a:t>ИИ-помощник для работы с Excel-файлами цен на цветные металлы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605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B199"/>
                </a:solidFill>
                <a:latin typeface="Calibri"/>
              </a:rPr>
              <a:t>Отвечает на вопросы специалистов простым языком — по данным, которые уже есть у компании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92040"/>
            <a:ext cx="3566160" cy="1143000"/>
          </a:xfrm>
          <a:prstGeom prst="roundRect">
            <a:avLst>
              <a:gd name="adj" fmla="val 8000"/>
            </a:avLst>
          </a:prstGeom>
          <a:solidFill>
            <a:srgbClr val="1B1F24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5047488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Загрузил файл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541324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Система сама разобрала структуру таблиц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4892040"/>
            <a:ext cx="3566160" cy="1143000"/>
          </a:xfrm>
          <a:prstGeom prst="roundRect">
            <a:avLst>
              <a:gd name="adj" fmla="val 8000"/>
            </a:avLst>
          </a:prstGeom>
          <a:solidFill>
            <a:srgbClr val="1B1F24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44568" y="5047488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Задал вопрос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541324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Обычным языком, как коллеге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892040"/>
            <a:ext cx="3566160" cy="1143000"/>
          </a:xfrm>
          <a:prstGeom prst="roundRect">
            <a:avLst>
              <a:gd name="adj" fmla="val 8000"/>
            </a:avLst>
          </a:prstGeom>
          <a:solidFill>
            <a:srgbClr val="1B1F24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39328" y="5047488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Получил ответ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8" y="541324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Цифра · график · источник данных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Проблема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7A6"/>
                </a:solidFill>
                <a:latin typeface="Calibri"/>
              </a:rPr>
              <a:t>Специалисты компании каждый день работают с ценами на лом цветных металлов, но данные разбросаны по файлам и таблицам.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86000"/>
            <a:ext cx="5394960" cy="141732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2450592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5A36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50592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Много файлов и форматов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834640"/>
            <a:ext cx="4526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Ежемесячные Excel-файлы: десятки листов с ценами, разная структура, разные поставщики и позиции.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286000"/>
            <a:ext cx="5394960" cy="141732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3368" y="2450592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5A36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450592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Таблицы «непривычные»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834640"/>
            <a:ext cx="4526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Сдвинутые шапки, объединённые ячейки, разные названия одних и тех же материалов — разбираться сложно.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86200"/>
            <a:ext cx="5394960" cy="141732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8" y="4050791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5A36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050791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Вопросы — простые, данные — сложные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434840"/>
            <a:ext cx="4526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Специалисту нужен ответ: «какая цена меди у Сплав-21 в январе?», а не изучение структуры файла.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886200"/>
            <a:ext cx="5394960" cy="141732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73368" y="4050791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5A36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050791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Данные конфиденциальны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434840"/>
            <a:ext cx="4526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Цены — коммерческая тайна: всё должно работать внутри компании, без передачи данных наружу.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715000"/>
            <a:ext cx="11064240" cy="685800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2959" y="5879592"/>
            <a:ext cx="10515600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Результат: вместо принятия решений менеджер тратит часы на ручной поиск по файлам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Задача проекта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Сделать работу с данными о ценах простой и быстрой: </a:t>
            </a:r>
            <a:r>
              <a:rPr sz="1800" b="1">
                <a:solidFill>
                  <a:srgbClr val="8A97A6"/>
                </a:solidFill>
                <a:latin typeface="Calibri"/>
              </a:rPr>
              <a:t>загрузил файл — задал вопрос — получил проверяемый ответ.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23160"/>
            <a:ext cx="5394960" cy="128016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2587752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C7293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87752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Загрузил файл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971800"/>
            <a:ext cx="4526280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Система сама разбирает файлы и приводит данные к единому виду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423160"/>
            <a:ext cx="5394960" cy="128016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3368" y="2587752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C7293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587752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Спросил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971800"/>
            <a:ext cx="4526280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Вопрос обычным языком — ответ с цифрами, графиком и пояснением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86200"/>
            <a:ext cx="5394960" cy="128016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8" y="4050791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C7293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050791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Проверил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434840"/>
            <a:ext cx="4526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Всегда видно, откуда взялась цифра: файл, лист, период, строка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886200"/>
            <a:ext cx="5394960" cy="128016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73368" y="4050791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C7293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050791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Не переживаешь за данные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434840"/>
            <a:ext cx="4526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Система только читает данные, ничего не изменяет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532120"/>
            <a:ext cx="5394960" cy="82296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5641848"/>
            <a:ext cx="23774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5A36"/>
                </a:solidFill>
                <a:latin typeface="Calibri"/>
              </a:rPr>
              <a:t>≥ 80%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5669280"/>
            <a:ext cx="2514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Целевая точность ответов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5532120"/>
            <a:ext cx="5394960" cy="82296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92240" y="5641848"/>
            <a:ext cx="23774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5A36"/>
                </a:solidFill>
                <a:latin typeface="Calibri"/>
              </a:rP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5669280"/>
            <a:ext cx="2514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Ответов — с указанием источника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Парсинг и нормализация: таблицы приводятся в порядок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7A6"/>
                </a:solidFill>
                <a:latin typeface="Calibri"/>
              </a:rPr>
              <a:t>Excel-файлы заказчика устроены по-разному: сдвинутые шапки, объединённые ячейки, разные названия. Чтобы задавать по ним вопросы, система сначала приводит их к единому виду.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269748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487168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1. Читает файл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880360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8A97A6"/>
                </a:solidFill>
                <a:latin typeface="Calibri"/>
              </a:rPr>
              <a:t>Находит все листы и ячейки — не пропускает объединённые и пустые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2880360"/>
            <a:ext cx="17373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5A36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331720"/>
            <a:ext cx="269748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20440" y="2487168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2. Понимает структуру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880360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8A97A6"/>
                </a:solidFill>
                <a:latin typeface="Calibri"/>
              </a:rPr>
              <a:t>Определяет тип листа: цены, матрица поставщиков или производственные показатели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2880360"/>
            <a:ext cx="17373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5A36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331720"/>
            <a:ext cx="269748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55080" y="2487168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3. Нормализует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880360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8A97A6"/>
                </a:solidFill>
                <a:latin typeface="Calibri"/>
              </a:rPr>
              <a:t>Единые названия материалов и поставщиков, цена — руб./тн, привязка к месяцу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2880360"/>
            <a:ext cx="17373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5A36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2331720"/>
            <a:ext cx="269748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89720" y="2487168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4. Собирает в «витрину»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2880360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8A97A6"/>
                </a:solidFill>
                <a:latin typeface="Calibri"/>
              </a:rPr>
              <a:t>Все данные складываются в одну понятную таблицу внутри компании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069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Важные принципы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434840"/>
            <a:ext cx="3566160" cy="137160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9808" y="4599431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Единые названия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983479"/>
            <a:ext cx="316382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«Ферроком», «ООО Ферроком», «Ферроком (ООО)» — для системы это один поставщик; так же и с материалами.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434840"/>
            <a:ext cx="3566160" cy="137160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44568" y="4599431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Распознаёт знакомое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4568" y="4983479"/>
            <a:ext cx="316382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Файл, похожий на уже разобранный, разбирается автоматически — специалист подтверждает только что-то новое.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4434840"/>
            <a:ext cx="3566160" cy="137160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39328" y="4599431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Файлы не трогает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9328" y="4983479"/>
            <a:ext cx="316382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Исходные Excel остаются без изменений: система только читает их и строит своё хранилище.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897880"/>
            <a:ext cx="11064240" cy="548640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2959" y="6062472"/>
            <a:ext cx="105156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Было: файл с «непривычной» шапкой → Стало: единая таблица, по которой можно спрашивать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LangGraph-агент: «мозг», который отвечает на вопросы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7A6"/>
                </a:solidFill>
                <a:latin typeface="Calibri"/>
              </a:rPr>
              <a:t>Агент собран на платформе LangGraph — это «инструкция для стажёра»: строгая цепочка шагов, по которой ИИ отвечает на вопрос.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86000"/>
            <a:ext cx="3566160" cy="12344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2441448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Calibri"/>
              </a:rPr>
              <a:t>1. Понимает вопрос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834640"/>
            <a:ext cx="3163824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8A97A6"/>
                </a:solidFill>
                <a:latin typeface="Calibri"/>
              </a:rPr>
              <a:t>Определяет, что спрашивают: цену, среднее, сравнение, динамику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86000"/>
            <a:ext cx="3566160" cy="12344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44568" y="2441448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Calibri"/>
              </a:rPr>
              <a:t>2. Находит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834640"/>
            <a:ext cx="3163824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8A97A6"/>
                </a:solidFill>
                <a:latin typeface="Calibri"/>
              </a:rPr>
              <a:t>Выбирает листы и колонки, где лежит ответ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286000"/>
            <a:ext cx="3566160" cy="12344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39328" y="2441448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Calibri"/>
              </a:rPr>
              <a:t>3. Планирует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2834640"/>
            <a:ext cx="3163824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8A97A6"/>
                </a:solidFill>
                <a:latin typeface="Calibri"/>
              </a:rPr>
              <a:t>Продумывает порядок действий, как аналитик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57600"/>
            <a:ext cx="3566160" cy="12344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" y="3813048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Calibri"/>
              </a:rPr>
              <a:t>4. Готовит запрос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06240"/>
            <a:ext cx="3163824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8A97A6"/>
                </a:solidFill>
                <a:latin typeface="Calibri"/>
              </a:rPr>
              <a:t>Превращает план в безопасный SQL — только чтение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657600"/>
            <a:ext cx="3566160" cy="12344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44568" y="3813048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Calibri"/>
              </a:rPr>
              <a:t>5. Проверяет себя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4206240"/>
            <a:ext cx="3163824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8A97A6"/>
                </a:solidFill>
                <a:latin typeface="Calibri"/>
              </a:rPr>
              <a:t>Сверяет ответ с вопросом; при сомнении — исправляет и повторяет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3657600"/>
            <a:ext cx="3566160" cy="12344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39328" y="3813048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Calibri"/>
              </a:rPr>
              <a:t>6. Отвечает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8" y="4206240"/>
            <a:ext cx="3163824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8A97A6"/>
                </a:solidFill>
                <a:latin typeface="Calibri"/>
              </a:rPr>
              <a:t>Даёт цифру и показывает источник: файл · лист · строка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02920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9808" y="5193792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Переспросит, если непонятно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31638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Неоднозначный вопрос — уточняет у пользователя, а не угадывает.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502920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44568" y="5193792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Исправляет свои ошибки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4568" y="5577840"/>
            <a:ext cx="31638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До 3 попыток переделать запрос, если проверка показала неточность.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60" y="5029200"/>
            <a:ext cx="3566160" cy="128016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339328" y="5193792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Только чтение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9328" y="5577840"/>
            <a:ext cx="31638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Изменение или удаление данных технически невозможно.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Как это работает для пользователя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9407" y="1965960"/>
            <a:ext cx="2697480" cy="16002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89407" y="1965960"/>
            <a:ext cx="2697480" cy="4572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0847" y="2039112"/>
            <a:ext cx="2514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1. Загрузка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0575" y="2560320"/>
            <a:ext cx="2295144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Специалист кладёт Excel-файлы с ценами в систему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599" y="2468880"/>
            <a:ext cx="365759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5A36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1207" y="1965960"/>
            <a:ext cx="2697480" cy="16002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261207" y="1965960"/>
            <a:ext cx="2697480" cy="4572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52647" y="2039112"/>
            <a:ext cx="2514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2. Разбор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2375" y="2560320"/>
            <a:ext cx="2295144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Система сама понимает структуру таблиц и приводит данные к единому виду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0399" y="2468880"/>
            <a:ext cx="365759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5A36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1965960"/>
            <a:ext cx="2697480" cy="16002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233007" y="1965960"/>
            <a:ext cx="2697480" cy="4572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24447" y="2039112"/>
            <a:ext cx="2514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3. Вопрос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2560320"/>
            <a:ext cx="2295144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«Средняя цена лома меди в феврале?» — обычный язык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2199" y="2468880"/>
            <a:ext cx="365759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5A36"/>
                </a:solidFill>
                <a:latin typeface="Calibr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04807" y="1965960"/>
            <a:ext cx="2697480" cy="16002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204807" y="1965960"/>
            <a:ext cx="2697480" cy="4572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296247" y="2039112"/>
            <a:ext cx="2514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4. Ответ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05975" y="2560320"/>
            <a:ext cx="2295144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Цифра + график + откуда взята цифра (файл, лист, период)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977639"/>
            <a:ext cx="110642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400" b="1">
                <a:solidFill>
                  <a:srgbClr val="FF5A36"/>
                </a:solidFill>
                <a:latin typeface="Calibri"/>
              </a:rPr>
              <a:t>•  </a:t>
            </a:r>
            <a:r>
              <a:rPr sz="1400" b="0">
                <a:solidFill>
                  <a:srgbClr val="8A97A6"/>
                </a:solidFill>
                <a:latin typeface="Calibri"/>
              </a:rPr>
              <a:t>Система сама находит нужную цифру в правильном файле и правильном листе — специалисту не нужно помнить, где что лежит.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400" b="1">
                <a:solidFill>
                  <a:srgbClr val="FF5A36"/>
                </a:solidFill>
                <a:latin typeface="Calibri"/>
              </a:rPr>
              <a:t>•  </a:t>
            </a:r>
            <a:r>
              <a:rPr sz="1400" b="0">
                <a:solidFill>
                  <a:srgbClr val="8A97A6"/>
                </a:solidFill>
                <a:latin typeface="Calibri"/>
              </a:rPr>
              <a:t>Сравнения, средние, минимальные и максимальные цены, динамика за период — всё считается автоматически.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5A36"/>
                </a:solidFill>
                <a:latin typeface="Calibri"/>
              </a:rPr>
              <a:t>•  </a:t>
            </a:r>
            <a:r>
              <a:rPr sz="1400" b="0">
                <a:solidFill>
                  <a:srgbClr val="8A97A6"/>
                </a:solidFill>
                <a:latin typeface="Calibri"/>
              </a:rPr>
              <a:t>Пользователю не нужны навыки программирования — только привычные вопросы.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623560"/>
            <a:ext cx="11064240" cy="640080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959" y="5788152"/>
            <a:ext cx="105156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Три действия вместо рутины: загрузил · спросил · получил проверяемый ответ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ВОЗМОЖНОСТИ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Что умеет система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3566160" cy="1874519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1947672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Вопросы простым языком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331720"/>
            <a:ext cx="316382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«Дельта цен между поставщиками в феврале?» — система понимает обычные формулировки и деловые термины.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83080"/>
            <a:ext cx="3566160" cy="1874519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947672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Графики и таблицы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331720"/>
            <a:ext cx="316382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Если ответ — динамика за месяцы, рядом сразу строится график.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783080"/>
            <a:ext cx="3566160" cy="1874519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39328" y="1947672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Расчёты автоматически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8" y="2331720"/>
            <a:ext cx="316382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Средние, минимум/максимум, разница, рост за период — без ручных вычислений.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40480"/>
            <a:ext cx="3566160" cy="1874519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8" y="4005072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Сравнение поставщиков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89120"/>
            <a:ext cx="316382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Разные поставщики и позиции в одном вопросе — без поиска по каждому листу.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840480"/>
            <a:ext cx="3566160" cy="1874519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44568" y="4005072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Уточняющие вопросы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4568" y="4389120"/>
            <a:ext cx="316382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Если формулировка неоднозначна, система переспросит — и продолжит с ответом.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3840480"/>
            <a:ext cx="3566160" cy="1874519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39328" y="4005072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Новые форматы файлов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8" y="4389120"/>
            <a:ext cx="316382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Структуру нового файла система распознаёт сама; при необходимости её подтверждает специалист.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989320"/>
            <a:ext cx="11064240" cy="594360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59" y="6153912"/>
            <a:ext cx="10515600" cy="2651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Один помощник вместо десятков открытых файлов на рабочем столе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ВОЗМОЖНОСТИ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Примеры вопросов и ответов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7A6"/>
                </a:solidFill>
                <a:latin typeface="Calibri"/>
              </a:rPr>
              <a:t>Реальные запросы, которые уже проходят через систему (демонстрационные данные):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539496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4937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FFFFFF"/>
                </a:solidFill>
                <a:latin typeface="Calibri"/>
              </a:rPr>
              <a:t>Среднерыночная цена лома алюминия в ноябре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44952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B199"/>
                </a:solidFill>
                <a:latin typeface="Calibri"/>
              </a:rPr>
              <a:t>→  153 369,75 ₽/тн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148840"/>
            <a:ext cx="539496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2331720"/>
            <a:ext cx="4937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FFFFFF"/>
                </a:solidFill>
                <a:latin typeface="Calibri"/>
              </a:rPr>
              <a:t>Средняя цена медного лома у поставщика Ферроком в феврале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044952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B199"/>
                </a:solidFill>
                <a:latin typeface="Calibri"/>
              </a:rPr>
              <a:t>→  696 625,15 ₽/тн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94760"/>
            <a:ext cx="539496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977640"/>
            <a:ext cx="4937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FFFFFF"/>
                </a:solidFill>
                <a:latin typeface="Calibri"/>
              </a:rPr>
              <a:t>Дельта между мин. и макс. ценой медного лома у 4 поставщиков в феврале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90872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B199"/>
                </a:solidFill>
                <a:latin typeface="Calibri"/>
              </a:rPr>
              <a:t>→  438 350,10 ₽/тн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794760"/>
            <a:ext cx="539496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3977640"/>
            <a:ext cx="4937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FFFFFF"/>
                </a:solidFill>
                <a:latin typeface="Calibri"/>
              </a:rPr>
              <a:t>Максимальная среднерыночная цена лома меди «кусок» за 2025 год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690872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B199"/>
                </a:solidFill>
                <a:latin typeface="Calibri"/>
              </a:rPr>
              <a:t>→  906 729,75 ₽/тн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59" y="5833872"/>
            <a:ext cx="105156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Каждый ответ сопровождается источником: файл · лист · период · строка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ДОВЕРИЕ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Прозрачность: каждая цифра проверяема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7A6"/>
                </a:solidFill>
                <a:latin typeface="Calibri"/>
              </a:rPr>
              <a:t>Система не «выдумывает» цифры: путь каждого ответа можно проследить и проверить.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402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Путь ответа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407" y="269748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2287" y="284378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Вопрос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287" y="3246120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Что именно спрашивают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68599" y="3108960"/>
            <a:ext cx="365759" cy="6400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5A3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61207" y="269748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44087" y="284378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Поиск данных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4087" y="3246120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В каких файлах и листах искать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0399" y="3108960"/>
            <a:ext cx="365759" cy="6400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5A36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69748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15887" y="284378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Расчёт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7" y="3246120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Какая цифра получилась и почему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2199" y="3108960"/>
            <a:ext cx="365759" cy="6400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5A36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04807" y="269748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87687" y="284378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Источник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87687" y="3246120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Файл · лист · период · строка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20624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Что это даёт на практике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617720"/>
            <a:ext cx="3566160" cy="132588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9808" y="4782312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Ответ можно перепроверить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5166359"/>
            <a:ext cx="3163824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Любой специалист может открыть указанный лист и сверить цифру с файлом.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43400" y="4617720"/>
            <a:ext cx="3566160" cy="132588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44568" y="4782312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Видна логика расчёта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44568" y="5166359"/>
            <a:ext cx="3163824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Понятно, что именно считалось: среднее, разница, минимум или максимум.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8160" y="4617720"/>
            <a:ext cx="3566160" cy="132588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39328" y="4782312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Полный журнал вопросов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9328" y="5166359"/>
            <a:ext cx="3163824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История всех запросов компании сохраняется и доступна для контроля.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6080760"/>
            <a:ext cx="11064240" cy="502920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2959" y="6245352"/>
            <a:ext cx="1051560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Доверие к цифрам — за счёт того, что их всегда можно проверить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ДОВЕРИЕ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Безопасность и конфиденциальность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7A6"/>
                </a:solidFill>
                <a:latin typeface="Calibri"/>
              </a:rPr>
              <a:t>Цены — коммерческая тайна. Поэтому решение построено так, чтобы данные оставались внутри компании.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86000"/>
            <a:ext cx="5394960" cy="128016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2450592"/>
            <a:ext cx="49926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Работа внутри компании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834640"/>
            <a:ext cx="4992624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Система устанавливается на серверы компании — файлы не уходят во внешние сервисы.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286000"/>
            <a:ext cx="5394960" cy="128016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73368" y="2450592"/>
            <a:ext cx="49926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Только чтение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2834640"/>
            <a:ext cx="4992624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Система физически не может изменить или удалить данные — только читать и рассчитывать.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49039"/>
            <a:ext cx="5394960" cy="128016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8" y="3913631"/>
            <a:ext cx="49926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Доступ под контролем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297679"/>
            <a:ext cx="49926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Вход по ключу доступа, ограничение частоты запросов, разделение ролей.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749039"/>
            <a:ext cx="5394960" cy="128016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73368" y="3913631"/>
            <a:ext cx="49926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Секреты — отдельно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4297679"/>
            <a:ext cx="499262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Ключи и пароли хранятся отдельно от кода и конфигурации.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40680"/>
            <a:ext cx="11064240" cy="685800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59" y="5605272"/>
            <a:ext cx="10515600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Данные компании не покидают её контур — это заложено в архитектуру решения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Бенчмарк заказчика: контрольный прогон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7A6"/>
                </a:solidFill>
                <a:latin typeface="Calibri"/>
              </a:rPr>
              <a:t>Контрольный прогон по запросам заказчика: </a:t>
            </a:r>
            <a:r>
              <a:rPr sz="1600" b="1">
                <a:solidFill>
                  <a:srgbClr val="FFFFFF"/>
                </a:solidFill>
                <a:latin typeface="Calibri"/>
              </a:rPr>
              <a:t>5 из 5 запросов прошли</a:t>
            </a:r>
            <a:r>
              <a:rPr sz="1600" b="0">
                <a:solidFill>
                  <a:srgbClr val="8A97A6"/>
                </a:solidFill>
                <a:latin typeface="Calibri"/>
              </a:rPr>
              <a:t> — каждый ответ сверен с эталоном (допуск 1%).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2670048" cy="164592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359152"/>
            <a:ext cx="248716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900" b="1" i="0">
                <a:solidFill>
                  <a:srgbClr val="FF5A36"/>
                </a:solidFill>
                <a:latin typeface="Calibri"/>
              </a:rPr>
              <a:t>5 из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07792"/>
            <a:ext cx="23957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3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Запросов прошли — 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3832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8A97A6"/>
                </a:solidFill>
                <a:latin typeface="Calibri"/>
              </a:rPr>
              <a:t>все ответы совпали с эталоном (допуск 1%)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8416" y="2240280"/>
            <a:ext cx="2670048" cy="164592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19856" y="2359152"/>
            <a:ext cx="248716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900" b="1" i="0">
                <a:solidFill>
                  <a:srgbClr val="1C7293"/>
                </a:solidFill>
                <a:latin typeface="Calibri"/>
              </a:rPr>
              <a:t>~35 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6" y="2907792"/>
            <a:ext cx="23957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3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Среднее время ответа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8144" y="33832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8A97A6"/>
                </a:solidFill>
                <a:latin typeface="Calibri"/>
              </a:rPr>
              <a:t>медиана ~33 с · разброс 0,02–84 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08192" y="2240280"/>
            <a:ext cx="2670048" cy="164592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99631" y="2359152"/>
            <a:ext cx="248716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900" b="1" i="0">
                <a:solidFill>
                  <a:srgbClr val="1C7293"/>
                </a:solidFill>
                <a:latin typeface="Calibri"/>
              </a:rPr>
              <a:t>~36 тыс.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5352" y="2907792"/>
            <a:ext cx="23957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3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Токенов на запрос 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3832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8A97A6"/>
                </a:solidFill>
                <a:latin typeface="Calibri"/>
              </a:rPr>
              <a:t>суммарно ≈181 тыс. на 5 запросов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87968" y="2240280"/>
            <a:ext cx="2670048" cy="164592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79408" y="2359152"/>
            <a:ext cx="248716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900" b="1" i="0">
                <a:solidFill>
                  <a:srgbClr val="2E7D32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25128" y="2907792"/>
            <a:ext cx="23957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3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Ошибок и расхождений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7696" y="33832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8A97A6"/>
                </a:solidFill>
                <a:latin typeface="Calibri"/>
              </a:rPr>
              <a:t>каждую цифру можно перепроверить по источнику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02336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Детализация прогона (время — фактическое, токены — оценка)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315968"/>
            <a:ext cx="10561320" cy="301752"/>
          </a:xfrm>
          <a:prstGeom prst="rect">
            <a:avLst/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1792" y="4370831"/>
            <a:ext cx="3108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B199"/>
                </a:solidFill>
                <a:latin typeface="Calibri"/>
              </a:rPr>
              <a:t>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" y="4370831"/>
            <a:ext cx="588873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B199"/>
                </a:solidFill>
                <a:latin typeface="Calibri"/>
              </a:rPr>
              <a:t>Вопрос заказчика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51192" y="4370831"/>
            <a:ext cx="104241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B199"/>
                </a:solidFill>
                <a:latin typeface="Calibri"/>
              </a:rPr>
              <a:t>Результат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77072" y="4370831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B199"/>
                </a:solidFill>
                <a:latin typeface="Calibri"/>
              </a:rPr>
              <a:t>Время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48672" y="4370831"/>
            <a:ext cx="108813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B199"/>
                </a:solidFill>
                <a:latin typeface="Calibri"/>
              </a:rPr>
              <a:t>Токены*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631436"/>
            <a:ext cx="10561320" cy="301752"/>
          </a:xfrm>
          <a:prstGeom prst="rect">
            <a:avLst/>
          </a:prstGeom>
          <a:solidFill>
            <a:srgbClr val="1B1F24"/>
          </a:solidFill>
          <a:ln w="9525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03504" y="4677155"/>
            <a:ext cx="3657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4677155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Среднерыночная цена лома твёрдых сплавов · дек 2025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51192" y="4668012"/>
            <a:ext cx="104241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E7D32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77072" y="4677155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0,2 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48672" y="4677155"/>
            <a:ext cx="108813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≈ 9 тыс.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946903"/>
            <a:ext cx="10561320" cy="301752"/>
          </a:xfrm>
          <a:prstGeom prst="rect">
            <a:avLst/>
          </a:prstGeom>
          <a:solidFill>
            <a:srgbClr val="262C33"/>
          </a:solidFill>
          <a:ln w="9525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03504" y="4992623"/>
            <a:ext cx="3657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4712" y="4992623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Макс. аукционная цена лома латуни ЛАЖМц · за 2025 год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51192" y="4983479"/>
            <a:ext cx="104241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E7D32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7072" y="4992623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33 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48672" y="4992623"/>
            <a:ext cx="108813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≈ 50 тыс.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262371"/>
            <a:ext cx="10561320" cy="301752"/>
          </a:xfrm>
          <a:prstGeom prst="rect">
            <a:avLst/>
          </a:prstGeom>
          <a:solidFill>
            <a:srgbClr val="1B1F24"/>
          </a:solidFill>
          <a:ln w="9525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03504" y="5308091"/>
            <a:ext cx="3657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4712" y="5308091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Средняя цена медного лома у «Ферроком» · фев 2025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51192" y="5298947"/>
            <a:ext cx="104241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E7D32"/>
                </a:solidFill>
                <a:latin typeface="Calibri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7072" y="5308091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56 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48672" y="5308091"/>
            <a:ext cx="108813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≈ 52 тыс.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5577839"/>
            <a:ext cx="10561320" cy="301752"/>
          </a:xfrm>
          <a:prstGeom prst="rect">
            <a:avLst/>
          </a:prstGeom>
          <a:solidFill>
            <a:srgbClr val="262C33"/>
          </a:solidFill>
          <a:ln w="9525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03504" y="5623559"/>
            <a:ext cx="3657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4712" y="5623559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Дельта мин/макс медного лома у 4 поставщиков · фев 2025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51192" y="5614415"/>
            <a:ext cx="104241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E7D32"/>
                </a:solidFill>
                <a:latin typeface="Calibri"/>
              </a:rP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77072" y="5623559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84 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48672" y="5623559"/>
            <a:ext cx="108813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≈ 62 тыс.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5893307"/>
            <a:ext cx="10561320" cy="301752"/>
          </a:xfrm>
          <a:prstGeom prst="rect">
            <a:avLst/>
          </a:prstGeom>
          <a:solidFill>
            <a:srgbClr val="1B1F24"/>
          </a:solidFill>
          <a:ln w="9525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03504" y="5939027"/>
            <a:ext cx="3657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24712" y="5939027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Минимальная цена на цинковый лом за все месяцы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51192" y="5929883"/>
            <a:ext cx="104241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E7D32"/>
                </a:solidFill>
                <a:latin typeface="Calibri"/>
              </a:rPr>
              <a:t>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77072" y="5939027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0,02 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48672" y="5939027"/>
            <a:ext cx="108813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≈ 8 тыс.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" y="6263640"/>
            <a:ext cx="11064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97A6"/>
                </a:solidFill>
                <a:latin typeface="Calibri"/>
              </a:rPr>
              <a:t>* Токены — оценка суммарного трафика LLM-вызовов агента: классификация, план, SQL, проверка, ответ.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Расширенный бенчмарк: первый прогон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7A6"/>
                </a:solidFill>
                <a:latin typeface="Calibri"/>
              </a:rPr>
              <a:t>Набор из </a:t>
            </a:r>
            <a:r>
              <a:rPr sz="1600" b="1">
                <a:solidFill>
                  <a:srgbClr val="FFFFFF"/>
                </a:solidFill>
                <a:latin typeface="Calibri"/>
              </a:rPr>
              <a:t>50 запросов</a:t>
            </a:r>
            <a:r>
              <a:rPr sz="1600" b="0">
                <a:solidFill>
                  <a:srgbClr val="8A97A6"/>
                </a:solidFill>
                <a:latin typeface="Calibri"/>
              </a:rPr>
              <a:t> (запросы заказчика + реальные сценарии). Показатели предварительные — для оценки порядка величин.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2670048" cy="164592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359152"/>
            <a:ext cx="248716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900" b="1" i="0">
                <a:solidFill>
                  <a:srgbClr val="FF5A36"/>
                </a:solidFill>
                <a:latin typeface="Calibri"/>
              </a:rPr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07792"/>
            <a:ext cx="23957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3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Запросов в наборе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3832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8A97A6"/>
                </a:solidFill>
                <a:latin typeface="Calibri"/>
              </a:rPr>
              <a:t>простые · агрегации · дельты · составные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8416" y="2240280"/>
            <a:ext cx="2670048" cy="164592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19856" y="2359152"/>
            <a:ext cx="248716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900" b="1" i="0">
                <a:solidFill>
                  <a:srgbClr val="2E7D32"/>
                </a:solidFill>
                <a:latin typeface="Calibri"/>
              </a:rPr>
              <a:t>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6" y="2907792"/>
            <a:ext cx="23957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3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Прошли успешно — 88%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8144" y="33832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8A97A6"/>
                </a:solidFill>
                <a:latin typeface="Calibri"/>
              </a:rPr>
              <a:t>6 запросов требуют доработки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08192" y="2240280"/>
            <a:ext cx="2670048" cy="164592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99631" y="2359152"/>
            <a:ext cx="248716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900" b="1" i="0">
                <a:solidFill>
                  <a:srgbClr val="1C7293"/>
                </a:solidFill>
                <a:latin typeface="Calibri"/>
              </a:rPr>
              <a:t>~38 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5352" y="2907792"/>
            <a:ext cx="23957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3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Среднее время ответа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3832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8A97A6"/>
                </a:solidFill>
                <a:latin typeface="Calibri"/>
              </a:rPr>
              <a:t>медиана ~25 с · разброс 0,5–90 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87968" y="2240280"/>
            <a:ext cx="2670048" cy="164592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79408" y="2359152"/>
            <a:ext cx="248716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900" b="1" i="0">
                <a:solidFill>
                  <a:srgbClr val="1C7293"/>
                </a:solidFill>
                <a:latin typeface="Calibri"/>
              </a:rPr>
              <a:t>≈1,8 млн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25128" y="2907792"/>
            <a:ext cx="23957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3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Токенов суммарно *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7696" y="33832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8A97A6"/>
                </a:solidFill>
                <a:latin typeface="Calibri"/>
              </a:rPr>
              <a:t>≈36 тыс. на запрос (оценка)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02336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Точность по типам запросов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315968"/>
            <a:ext cx="10607040" cy="301752"/>
          </a:xfrm>
          <a:prstGeom prst="rect">
            <a:avLst/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1792" y="4370831"/>
            <a:ext cx="506577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B199"/>
                </a:solidFill>
                <a:latin typeface="Calibri"/>
              </a:rPr>
              <a:t>Тип вопросов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25312" y="4370831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B199"/>
                </a:solidFill>
                <a:latin typeface="Calibri"/>
              </a:rPr>
              <a:t>Запросов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54112" y="4370831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B199"/>
                </a:solidFill>
                <a:latin typeface="Calibri"/>
              </a:rPr>
              <a:t>Прошло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4370831"/>
            <a:ext cx="16824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B199"/>
                </a:solidFill>
                <a:latin typeface="Calibri"/>
              </a:rPr>
              <a:t>Точность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631436"/>
            <a:ext cx="10607040" cy="301752"/>
          </a:xfrm>
          <a:prstGeom prst="rect">
            <a:avLst/>
          </a:prstGeom>
          <a:solidFill>
            <a:srgbClr val="1B1F24"/>
          </a:solidFill>
          <a:ln w="9525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1792" y="4677155"/>
            <a:ext cx="506577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Простой поиск цены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25312" y="4677155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112" y="4677155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2E7D32"/>
                </a:solidFill>
                <a:latin typeface="Calibri"/>
              </a:rPr>
              <a:t>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00032" y="4677155"/>
            <a:ext cx="16824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946903"/>
            <a:ext cx="10607040" cy="301752"/>
          </a:xfrm>
          <a:prstGeom prst="rect">
            <a:avLst/>
          </a:prstGeom>
          <a:solidFill>
            <a:srgbClr val="262C33"/>
          </a:solidFill>
          <a:ln w="9525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21792" y="4992623"/>
            <a:ext cx="506577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Средние, мин/макс по периодам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25312" y="4992623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54112" y="4992623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2E7D32"/>
                </a:solidFill>
                <a:latin typeface="Calibri"/>
              </a:rPr>
              <a:t>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00032" y="4992623"/>
            <a:ext cx="16824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94%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262371"/>
            <a:ext cx="10607040" cy="301752"/>
          </a:xfrm>
          <a:prstGeom prst="rect">
            <a:avLst/>
          </a:prstGeom>
          <a:solidFill>
            <a:srgbClr val="1B1F24"/>
          </a:solidFill>
          <a:ln w="9525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1792" y="5308091"/>
            <a:ext cx="506577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Сравнение и дельты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25312" y="5308091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54112" y="5308091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 dirty="0">
                <a:solidFill>
                  <a:srgbClr val="2E7D32"/>
                </a:solidFill>
                <a:latin typeface="Calibri"/>
              </a:rP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00032" y="5308091"/>
            <a:ext cx="16824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75%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577839"/>
            <a:ext cx="10607040" cy="301752"/>
          </a:xfrm>
          <a:prstGeom prst="rect">
            <a:avLst/>
          </a:prstGeom>
          <a:solidFill>
            <a:srgbClr val="262C33"/>
          </a:solidFill>
          <a:ln w="9525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21792" y="5623559"/>
            <a:ext cx="506577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Составные: поставщики + периоды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25312" y="5623559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54112" y="5623559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2E7D32"/>
                </a:solidFill>
                <a:latin typeface="Calibri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00032" y="5623559"/>
            <a:ext cx="16824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67%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893307"/>
            <a:ext cx="10607040" cy="301752"/>
          </a:xfrm>
          <a:prstGeom prst="rect">
            <a:avLst/>
          </a:prstGeom>
          <a:solidFill>
            <a:srgbClr val="262C33"/>
          </a:solidFill>
          <a:ln w="12700">
            <a:solidFill>
              <a:srgbClr val="FF5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21792" y="5939027"/>
            <a:ext cx="506577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Итого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25312" y="5939027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7A6"/>
                </a:solidFill>
                <a:latin typeface="Calibr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54112" y="5939027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2E7D32"/>
                </a:solidFill>
                <a:latin typeface="Calibri"/>
              </a:rPr>
              <a:t>44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00032" y="5939027"/>
            <a:ext cx="16824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FF5A36"/>
                </a:solidFill>
                <a:latin typeface="Calibri"/>
              </a:rPr>
              <a:t>88%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217919"/>
            <a:ext cx="110642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97A6"/>
                </a:solidFill>
                <a:latin typeface="Calibri"/>
              </a:rPr>
              <a:t>Следующий шаг: разобрать 6 неуспешных запросов и довести точность до ≥ 90% · токены — оценка LLM-трафика.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Что происходит внутри — простыми словами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9407" y="1828800"/>
            <a:ext cx="269748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6567" y="1993392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Единый формат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287" y="2395728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Система сама распознаёт структуру файлов и приводит её к одному виду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599" y="2331720"/>
            <a:ext cx="36575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5A36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61207" y="1828800"/>
            <a:ext cx="269748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98367" y="1993392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Хранилище данных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4087" y="2395728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Все данные аккуратно собраны в одном месте внутри компании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0399" y="2331720"/>
            <a:ext cx="36575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5A36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1828800"/>
            <a:ext cx="269748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70167" y="1993392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ИИ-помощник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2395728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Понимает вопрос и находит нужные данные, как опытный аналитик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2199" y="2331720"/>
            <a:ext cx="36575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5A36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04807" y="1828800"/>
            <a:ext cx="269748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41967" y="1993392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Ответ и источник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7687" y="2395728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Формирует проверяемый ответ: цифра · расчёт · откуда взято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65760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Важные принципы работы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069080"/>
            <a:ext cx="3566160" cy="137160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9808" y="4233672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Никакого «чёрного ящика»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617720"/>
            <a:ext cx="316382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Каждый шаг — от вопроса до ответа — записывается и может быть проверен.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3400" y="4069080"/>
            <a:ext cx="3566160" cy="137160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44568" y="4233672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ИИ работает с данными компании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44568" y="4617720"/>
            <a:ext cx="316382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Модель не хранит ваши данные: она только помогает находить и считать их.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4069080"/>
            <a:ext cx="3566160" cy="137160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39328" y="4233672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Система сама себя проверяет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8" y="4617720"/>
            <a:ext cx="316382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Прежде чем выдать ответ, результат сверяется с правилами и эталонами.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2959" y="5833872"/>
            <a:ext cx="105156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Понял вопрос  →  нашёл данные  →  рассчитал  →  проверил  →  ответил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КАЧЕСТВО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Надёжность: система проверяет себя сама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7A6"/>
                </a:solidFill>
                <a:latin typeface="Calibri"/>
              </a:rPr>
              <a:t>Изменения в системе не «ломают» качество ответов: всё проверяется автоматически.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86000"/>
            <a:ext cx="5394960" cy="123444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2450592"/>
            <a:ext cx="49926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Эталонные вопросы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834640"/>
            <a:ext cx="499262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30 вопросов с заранее известными правильными ответами — главный «экзамен» для системы.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286000"/>
            <a:ext cx="5394960" cy="123444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73368" y="2450592"/>
            <a:ext cx="49926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Автоматические тесты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2834640"/>
            <a:ext cx="499262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При каждом изменении кода запускается проверка: разбор файлов, расчёты, безопасность.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03320"/>
            <a:ext cx="5394960" cy="123444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8" y="3867911"/>
            <a:ext cx="49926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Бенчмарк точности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251959"/>
            <a:ext cx="499262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Регулярный прогон по 25 реальным запросам с метрикой точности и замерами времени.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703320"/>
            <a:ext cx="5394960" cy="123444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73368" y="3867911"/>
            <a:ext cx="49926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Журнал и мониторинг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4251959"/>
            <a:ext cx="499262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Каждый вопрос и ответ сохраняются; проблемы сразу видны службе эксплуатации.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349240"/>
            <a:ext cx="11064240" cy="685800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59" y="5513831"/>
            <a:ext cx="10515600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Каждое улучшение проходит «экзамен» до того, как попасть в систему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КАЧЕСТВО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Контроль работы системы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7A6"/>
                </a:solidFill>
                <a:latin typeface="Calibri"/>
              </a:rPr>
              <a:t>Работу системы видно как на ладони: журнал запросов и панели мониторинга для ИТ-службы.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86000"/>
            <a:ext cx="5394960" cy="123444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2450592"/>
            <a:ext cx="49926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Журнал запросов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834640"/>
            <a:ext cx="499262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Вопрос, найденные данные, расчёт и ответ — вся история хранится в одном месте.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286000"/>
            <a:ext cx="5394960" cy="123444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73368" y="2450592"/>
            <a:ext cx="49926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Показатели работы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2834640"/>
            <a:ext cx="499262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Скорость ответов, доля ошибок, загрузка системы — числа, а не догадки.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03320"/>
            <a:ext cx="5394960" cy="123444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8" y="3867911"/>
            <a:ext cx="49926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Панель мониторинга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251959"/>
            <a:ext cx="499262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Наглядные дашборды: состояние сервисов и данных одним взглядом.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703320"/>
            <a:ext cx="5394960" cy="123444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73368" y="3867911"/>
            <a:ext cx="49926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Оповещения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4251959"/>
            <a:ext cx="499262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При сбоях служба эксплуатации узнаёт о проблеме сразу.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349240"/>
            <a:ext cx="11064240" cy="685800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59" y="5513831"/>
            <a:ext cx="10515600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Прозрачная эксплуатация: кто спрашивал, что спросил и как отработала система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ВЫГОДЫ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Что решение даёт компании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3566160" cy="1874519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1947672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Скорость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331720"/>
            <a:ext cx="316382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Ответ за секунды вместо часов ручного поиска по файлам и листам.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83080"/>
            <a:ext cx="3566160" cy="1874519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947672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Точность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331720"/>
            <a:ext cx="316382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Расчёты выполняет система — без ошибок ручного копирования цифр.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783080"/>
            <a:ext cx="3566160" cy="1874519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39328" y="1947672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Прозрачность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8" y="2331720"/>
            <a:ext cx="316382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Каждая цифра проверяема: видно, откуда она взялась и как посчитана.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40480"/>
            <a:ext cx="3566160" cy="1874519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8" y="4005072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Единый источник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89120"/>
            <a:ext cx="316382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Все данные о ценах — в одном месте, вопросы и ответы — в журнале.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840480"/>
            <a:ext cx="3566160" cy="1874519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44568" y="4005072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Экономия времени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4568" y="4389120"/>
            <a:ext cx="316382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Специалисты занимаются анализом и решениями, а не поиском.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3840480"/>
            <a:ext cx="3566160" cy="1874519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39328" y="4005072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Безопасность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8" y="4389120"/>
            <a:ext cx="316382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Данные остаются внутри компании; доступ — под контролем.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989320"/>
            <a:ext cx="11064240" cy="594360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59" y="6153912"/>
            <a:ext cx="10515600" cy="2651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Компания получает «цифрового аналитика», который работает с теми же файлами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1961</Words>
  <Application>Microsoft Office PowerPoint</Application>
  <PresentationFormat>Широкоэкранный</PresentationFormat>
  <Paragraphs>347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Костя Баландин</cp:lastModifiedBy>
  <cp:revision>2</cp:revision>
  <dcterms:created xsi:type="dcterms:W3CDTF">2013-01-27T09:14:16Z</dcterms:created>
  <dcterms:modified xsi:type="dcterms:W3CDTF">2026-10-22T10:28:01Z</dcterms:modified>
  <cp:category/>
</cp:coreProperties>
</file>