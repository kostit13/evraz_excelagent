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60" r:id="rId3"/>
    <p:sldId id="261" r:id="rId4"/>
    <p:sldId id="262" r:id="rId5"/>
    <p:sldId id="263" r:id="rId6"/>
    <p:sldId id="264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6" r:id="rId15"/>
    <p:sldId id="279" r:id="rId16"/>
    <p:sldId id="285" r:id="rId17"/>
    <p:sldId id="286" r:id="rId18"/>
    <p:sldId id="281" r:id="rId19"/>
    <p:sldId id="28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ведение" id="{8F374985-0417-E65B-9356-60063E33F926}">
          <p14:sldIdLst>
            <p14:sldId id="256"/>
            <p14:sldId id="260"/>
          </p14:sldIdLst>
        </p14:section>
        <p14:section name="Решение и архитектура" id="{86AB72D7-E6E9-0EAC-A810-CE6A6D53A15D}">
          <p14:sldIdLst>
            <p14:sldId id="261"/>
            <p14:sldId id="262"/>
            <p14:sldId id="263"/>
            <p14:sldId id="264"/>
          </p14:sldIdLst>
        </p14:section>
        <p14:section name="Обработка данных" id="{2C513A19-430A-6780-0742-725569196759}">
          <p14:sldIdLst>
            <p14:sldId id="266"/>
            <p14:sldId id="267"/>
            <p14:sldId id="268"/>
            <p14:sldId id="269"/>
          </p14:sldIdLst>
        </p14:section>
        <p14:section name="LLM-агент" id="{A17A3E4B-91DA-7F30-5FAD-6FA3E0EBB7FA}">
          <p14:sldIdLst>
            <p14:sldId id="270"/>
            <p14:sldId id="271"/>
            <p14:sldId id="272"/>
          </p14:sldIdLst>
        </p14:section>
        <p14:section name="Интерфейс и наблюдаемость" id="{78230BF1-187C-46AB-72D7-21D4FF00BAA0}">
          <p14:sldIdLst>
            <p14:sldId id="276"/>
          </p14:sldIdLst>
        </p14:section>
        <p14:section name="Качество" id="{E2CF5360-D010-4805-781E-9D4588203570}">
          <p14:sldIdLst>
            <p14:sldId id="279"/>
            <p14:sldId id="285"/>
          </p14:sldIdLst>
        </p14:section>
        <p14:section name="Демонстрация и развёртывание" id="{7FA16B21-BA90-E5B0-AD6A-C6F2FB0AF88D}">
          <p14:sldIdLst>
            <p14:sldId id="286"/>
            <p14:sldId id="281"/>
          </p14:sldIdLst>
        </p14:section>
        <p14:section name="Итоги" id="{B6CA99FF-1030-66CA-2D56-ACEA8A6AB160}">
          <p14:sldIdLst>
            <p14:sldId id="28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48" d="100"/>
          <a:sy n="48" d="100"/>
        </p:scale>
        <p:origin x="53" y="8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84977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1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</a:rPr>
              <a:t>EVRAZ Agent</a:t>
            </a:r>
            <a:endParaRPr lang="en-US" sz="1000" dirty="0"/>
          </a:p>
        </p:txBody>
      </p:sp>
      <p:sp>
        <p:nvSpPr>
          <p:cNvPr id="4" name="Text 2"/>
          <p:cNvSpPr>
            <a:spLocks noGrp="1"/>
          </p:cNvSpPr>
          <p:nvPr>
            <p:ph type="body" idx="102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200" b="1" dirty="0">
                <a:solidFill>
                  <a:schemeClr val="accent1"/>
                </a:solidFill>
              </a:defRPr>
            </a:lvl1pPr>
          </a:lstStyle>
          <a:p>
            <a:pPr marL="0" indent="0">
              <a:buNone/>
            </a:pPr>
            <a:endParaRPr lang="en-US" sz="1200" dirty="0"/>
          </a:p>
        </p:txBody>
      </p:sp>
      <p:sp>
        <p:nvSpPr>
          <p:cNvPr id="5" name="Text 2"/>
          <p:cNvSpPr>
            <a:spLocks noGrp="1"/>
          </p:cNvSpPr>
          <p:nvPr>
            <p:ph type="title" idx="103" hasCustomPrompt="1"/>
          </p:nvPr>
        </p:nvSpPr>
        <p:spPr>
          <a:xfrm>
            <a:off x="548640" y="685800"/>
            <a:ext cx="1106424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marL="0" indent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371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EVRAZ  ·  ДЕМОНСТРАЦИЯ ПРОЕКТА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78308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0" b="1" dirty="0">
                <a:solidFill>
                  <a:schemeClr val="bg1"/>
                </a:solidFill>
              </a:rPr>
              <a:t>EVRAZ Agent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8803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bg2"/>
                </a:solidFill>
              </a:rPr>
              <a:t>AI-агент для работы с Excel-файлами металлургической компании</a:t>
            </a:r>
            <a:endParaRPr lang="en-US" sz="2000" dirty="0"/>
          </a:p>
        </p:txBody>
      </p:sp>
      <p:sp>
        <p:nvSpPr>
          <p:cNvPr id="5" name="Card"/>
          <p:cNvSpPr/>
          <p:nvPr/>
        </p:nvSpPr>
        <p:spPr>
          <a:xfrm>
            <a:off x="731520" y="4297680"/>
            <a:ext cx="2926080" cy="109728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914400" y="4434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Backend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7548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</a:rPr>
              <a:t>Python 3.12 · FastAPI · LangGraph · PostgreSQL</a:t>
            </a:r>
            <a:endParaRPr lang="en-US" sz="1300" dirty="0"/>
          </a:p>
        </p:txBody>
      </p:sp>
      <p:sp>
        <p:nvSpPr>
          <p:cNvPr id="8" name="Card"/>
          <p:cNvSpPr/>
          <p:nvPr/>
        </p:nvSpPr>
        <p:spPr>
          <a:xfrm>
            <a:off x="3840480" y="4297680"/>
            <a:ext cx="2926080" cy="109728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4023360" y="4434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Frontend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023360" y="47548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</a:rPr>
              <a:t>React 18 · TypeScript · Vite</a:t>
            </a:r>
            <a:endParaRPr lang="en-US" sz="1300" dirty="0"/>
          </a:p>
        </p:txBody>
      </p:sp>
      <p:sp>
        <p:nvSpPr>
          <p:cNvPr id="11" name="Node Excel-файлы"/>
          <p:cNvSpPr/>
          <p:nvPr/>
        </p:nvSpPr>
        <p:spPr>
          <a:xfrm>
            <a:off x="7863840" y="1188720"/>
            <a:ext cx="3749040" cy="777240"/>
          </a:xfrm>
          <a:prstGeom prst="roundRect">
            <a:avLst>
              <a:gd name="adj" fmla="val 9412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Label Excel-файлы"/>
          <p:cNvSpPr txBox="1"/>
          <p:nvPr/>
        </p:nvSpPr>
        <p:spPr>
          <a:xfrm>
            <a:off x="7936992" y="1188720"/>
            <a:ext cx="36027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Excel-файлы</a:t>
            </a: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bg2"/>
                </a:solidFill>
              </a:rPr>
              <a:t>цены на цветной лом</a:t>
            </a:r>
            <a:endParaRPr lang="en-US" sz="1600" dirty="0"/>
          </a:p>
        </p:txBody>
      </p:sp>
      <p:sp>
        <p:nvSpPr>
          <p:cNvPr id="13" name="Arrow"/>
          <p:cNvSpPr/>
          <p:nvPr/>
        </p:nvSpPr>
        <p:spPr>
          <a:xfrm>
            <a:off x="9738360" y="1965960"/>
            <a:ext cx="0" cy="54864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4" name="Node Витрина mart"/>
          <p:cNvSpPr/>
          <p:nvPr/>
        </p:nvSpPr>
        <p:spPr>
          <a:xfrm>
            <a:off x="7863840" y="2514600"/>
            <a:ext cx="3749040" cy="777240"/>
          </a:xfrm>
          <a:prstGeom prst="roundRect">
            <a:avLst>
              <a:gd name="adj" fmla="val 9412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Label Витрина mart"/>
          <p:cNvSpPr txBox="1"/>
          <p:nvPr/>
        </p:nvSpPr>
        <p:spPr>
          <a:xfrm>
            <a:off x="7936992" y="2514600"/>
            <a:ext cx="36027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Витрина mart</a:t>
            </a: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bg2"/>
                </a:solidFill>
              </a:rPr>
              <a:t>нормализованные факты</a:t>
            </a:r>
            <a:endParaRPr lang="en-US" sz="1600" dirty="0"/>
          </a:p>
        </p:txBody>
      </p:sp>
      <p:sp>
        <p:nvSpPr>
          <p:cNvPr id="16" name="Arrow"/>
          <p:cNvSpPr/>
          <p:nvPr/>
        </p:nvSpPr>
        <p:spPr>
          <a:xfrm>
            <a:off x="9738360" y="3291840"/>
            <a:ext cx="0" cy="54864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7" name="Node LangGraph-агент"/>
          <p:cNvSpPr/>
          <p:nvPr/>
        </p:nvSpPr>
        <p:spPr>
          <a:xfrm>
            <a:off x="7863840" y="3840480"/>
            <a:ext cx="3749040" cy="777240"/>
          </a:xfrm>
          <a:prstGeom prst="roundRect">
            <a:avLst>
              <a:gd name="adj" fmla="val 9412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Label LangGraph-агент"/>
          <p:cNvSpPr txBox="1"/>
          <p:nvPr/>
        </p:nvSpPr>
        <p:spPr>
          <a:xfrm>
            <a:off x="7936992" y="3840480"/>
            <a:ext cx="36027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LangGraph-агент</a:t>
            </a: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bg2"/>
                </a:solidFill>
              </a:rPr>
              <a:t>безопасный SELECT</a:t>
            </a:r>
            <a:endParaRPr lang="en-US" sz="1600" dirty="0"/>
          </a:p>
        </p:txBody>
      </p:sp>
      <p:sp>
        <p:nvSpPr>
          <p:cNvPr id="19" name="Arrow"/>
          <p:cNvSpPr/>
          <p:nvPr/>
        </p:nvSpPr>
        <p:spPr>
          <a:xfrm>
            <a:off x="9738360" y="4617720"/>
            <a:ext cx="0" cy="54864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0" name="Node Ответ"/>
          <p:cNvSpPr/>
          <p:nvPr/>
        </p:nvSpPr>
        <p:spPr>
          <a:xfrm>
            <a:off x="7863840" y="5166360"/>
            <a:ext cx="3749040" cy="777240"/>
          </a:xfrm>
          <a:prstGeom prst="roundRect">
            <a:avLst>
              <a:gd name="adj" fmla="val 9412"/>
            </a:avLst>
          </a:prstGeom>
          <a:solidFill>
            <a:schemeClr val="tx2"/>
          </a:solidFill>
          <a:ln w="254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Label Ответ"/>
          <p:cNvSpPr txBox="1"/>
          <p:nvPr/>
        </p:nvSpPr>
        <p:spPr>
          <a:xfrm>
            <a:off x="7936992" y="5166360"/>
            <a:ext cx="36027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Ответ</a:t>
            </a: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bg2"/>
                </a:solidFill>
              </a:rPr>
              <a:t>данные · SQL · источники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body" idx="102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ВВЕДЕНИЕ</a:t>
            </a:r>
            <a:endParaRPr lang="en-US" sz="1200" dirty="0"/>
          </a:p>
        </p:txBody>
      </p:sp>
      <p:sp>
        <p:nvSpPr>
          <p:cNvPr id="3" name="Text 2"/>
          <p:cNvSpPr>
            <a:spLocks noGrp="1"/>
          </p:cNvSpPr>
          <p:nvPr>
            <p:ph type="title" idx="103" hasCustomPrompt="1"/>
          </p:nvPr>
        </p:nvSpPr>
        <p:spPr>
          <a:xfrm>
            <a:off x="548640" y="68580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</a:rPr>
              <a:t>Задача и цели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bg2"/>
                </a:solidFill>
              </a:rPr>
              <a:t>Построить prod-ready систему «вопрос–ответ» по Excel-данным</a:t>
            </a:r>
            <a:endParaRPr lang="en-US" sz="1800" dirty="0"/>
          </a:p>
        </p:txBody>
      </p:sp>
      <p:sp>
        <p:nvSpPr>
          <p:cNvPr id="5" name="Card"/>
          <p:cNvSpPr/>
          <p:nvPr/>
        </p:nvSpPr>
        <p:spPr>
          <a:xfrm>
            <a:off x="548640" y="2103120"/>
            <a:ext cx="2468880" cy="2011680"/>
          </a:xfrm>
          <a:prstGeom prst="roundRect">
            <a:avLst>
              <a:gd name="adj" fmla="val 3636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Badge 1"/>
          <p:cNvSpPr/>
          <p:nvPr/>
        </p:nvSpPr>
        <p:spPr>
          <a:xfrm>
            <a:off x="777240" y="2286000"/>
            <a:ext cx="411480" cy="41148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777240" y="2286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8346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Загрузил файл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2461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</a:rPr>
              <a:t>Система сама распарсила и нормализовала данные</a:t>
            </a:r>
            <a:endParaRPr lang="en-US" sz="1300" dirty="0"/>
          </a:p>
        </p:txBody>
      </p:sp>
      <p:sp>
        <p:nvSpPr>
          <p:cNvPr id="10" name="Arrow"/>
          <p:cNvSpPr/>
          <p:nvPr/>
        </p:nvSpPr>
        <p:spPr>
          <a:xfrm>
            <a:off x="3017520" y="3108960"/>
            <a:ext cx="36576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1" name="Card"/>
          <p:cNvSpPr/>
          <p:nvPr/>
        </p:nvSpPr>
        <p:spPr>
          <a:xfrm>
            <a:off x="3383280" y="2103120"/>
            <a:ext cx="2468880" cy="2011680"/>
          </a:xfrm>
          <a:prstGeom prst="roundRect">
            <a:avLst>
              <a:gd name="adj" fmla="val 3636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Badge 2"/>
          <p:cNvSpPr/>
          <p:nvPr/>
        </p:nvSpPr>
        <p:spPr>
          <a:xfrm>
            <a:off x="3611880" y="2286000"/>
            <a:ext cx="411480" cy="41148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3611880" y="2286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611880" y="28346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Задал вопрос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3611880" y="32461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</a:rPr>
              <a:t>На естественном языке — получил ответ с данными</a:t>
            </a:r>
            <a:endParaRPr lang="en-US" sz="1300" dirty="0"/>
          </a:p>
        </p:txBody>
      </p:sp>
      <p:sp>
        <p:nvSpPr>
          <p:cNvPr id="16" name="Arrow"/>
          <p:cNvSpPr/>
          <p:nvPr/>
        </p:nvSpPr>
        <p:spPr>
          <a:xfrm>
            <a:off x="5852160" y="3108960"/>
            <a:ext cx="36576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7" name="Card"/>
          <p:cNvSpPr/>
          <p:nvPr/>
        </p:nvSpPr>
        <p:spPr>
          <a:xfrm>
            <a:off x="6217920" y="2103120"/>
            <a:ext cx="2468880" cy="2011680"/>
          </a:xfrm>
          <a:prstGeom prst="roundRect">
            <a:avLst>
              <a:gd name="adj" fmla="val 3636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Badge 3"/>
          <p:cNvSpPr/>
          <p:nvPr/>
        </p:nvSpPr>
        <p:spPr>
          <a:xfrm>
            <a:off x="6446520" y="2286000"/>
            <a:ext cx="411480" cy="41148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6446520" y="2286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446520" y="28346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Прозрачность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6446520" y="32461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</a:rPr>
              <a:t>Виден выполненный SQL и источник каждой цифры</a:t>
            </a:r>
            <a:endParaRPr lang="en-US" sz="1300" dirty="0"/>
          </a:p>
        </p:txBody>
      </p:sp>
      <p:sp>
        <p:nvSpPr>
          <p:cNvPr id="22" name="Arrow"/>
          <p:cNvSpPr/>
          <p:nvPr/>
        </p:nvSpPr>
        <p:spPr>
          <a:xfrm>
            <a:off x="8686800" y="3108960"/>
            <a:ext cx="36576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3" name="Card"/>
          <p:cNvSpPr/>
          <p:nvPr/>
        </p:nvSpPr>
        <p:spPr>
          <a:xfrm>
            <a:off x="9052560" y="2103120"/>
            <a:ext cx="2468880" cy="2011680"/>
          </a:xfrm>
          <a:prstGeom prst="roundRect">
            <a:avLst>
              <a:gd name="adj" fmla="val 3636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Badge 4"/>
          <p:cNvSpPr/>
          <p:nvPr/>
        </p:nvSpPr>
        <p:spPr>
          <a:xfrm>
            <a:off x="9281160" y="2286000"/>
            <a:ext cx="411480" cy="41148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 txBox="1"/>
          <p:nvPr/>
        </p:nvSpPr>
        <p:spPr>
          <a:xfrm>
            <a:off x="9281160" y="2286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4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9281160" y="28346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Безопасность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9281160" y="32461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</a:rPr>
              <a:t>Только чтение, только проверенные таблицы, без утечки данных</a:t>
            </a:r>
            <a:endParaRPr lang="en-US" sz="1300" dirty="0"/>
          </a:p>
        </p:txBody>
      </p:sp>
      <p:sp>
        <p:nvSpPr>
          <p:cNvPr id="28" name="Card"/>
          <p:cNvSpPr/>
          <p:nvPr/>
        </p:nvSpPr>
        <p:spPr>
          <a:xfrm>
            <a:off x="548640" y="4480560"/>
            <a:ext cx="5440680" cy="1554480"/>
          </a:xfrm>
          <a:prstGeom prst="roundRect">
            <a:avLst>
              <a:gd name="adj" fmla="val 4706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 txBox="1"/>
          <p:nvPr/>
        </p:nvSpPr>
        <p:spPr>
          <a:xfrm>
            <a:off x="822960" y="45720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≥ 80%</a:t>
            </a:r>
            <a:endParaRPr lang="en-US" sz="54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" y="54864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</a:rPr>
              <a:t>точность на ключевых типах запросов</a:t>
            </a:r>
            <a:endParaRPr lang="en-US" sz="1500" dirty="0"/>
          </a:p>
        </p:txBody>
      </p:sp>
      <p:sp>
        <p:nvSpPr>
          <p:cNvPr id="31" name="Card"/>
          <p:cNvSpPr/>
          <p:nvPr/>
        </p:nvSpPr>
        <p:spPr>
          <a:xfrm>
            <a:off x="6172200" y="4480560"/>
            <a:ext cx="5440680" cy="1554480"/>
          </a:xfrm>
          <a:prstGeom prst="roundRect">
            <a:avLst>
              <a:gd name="adj" fmla="val 4706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 txBox="1"/>
          <p:nvPr/>
        </p:nvSpPr>
        <p:spPr>
          <a:xfrm>
            <a:off x="6446520" y="45720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100%</a:t>
            </a:r>
            <a:endParaRPr lang="en-US" sz="5400" dirty="0"/>
          </a:p>
        </p:txBody>
      </p:sp>
      <p:sp>
        <p:nvSpPr>
          <p:cNvPr id="33" name="Text 31"/>
          <p:cNvSpPr txBox="1"/>
          <p:nvPr/>
        </p:nvSpPr>
        <p:spPr>
          <a:xfrm>
            <a:off x="6446520" y="54864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</a:rPr>
              <a:t>traceability: SQL, результат и источники каждого ответа</a:t>
            </a:r>
            <a:endParaRPr lang="en-US" sz="15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body" idx="102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РЕШЕНИЕ И АРХИТЕКТУРА</a:t>
            </a:r>
            <a:endParaRPr lang="en-US" sz="1200" dirty="0"/>
          </a:p>
        </p:txBody>
      </p:sp>
      <p:sp>
        <p:nvSpPr>
          <p:cNvPr id="3" name="Text 2"/>
          <p:cNvSpPr>
            <a:spLocks noGrp="1"/>
          </p:cNvSpPr>
          <p:nvPr>
            <p:ph type="title" idx="103" hasCustomPrompt="1"/>
          </p:nvPr>
        </p:nvSpPr>
        <p:spPr>
          <a:xfrm>
            <a:off x="548640" y="68580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</a:rPr>
              <a:t>Решение — обзор</a:t>
            </a:r>
            <a:endParaRPr lang="en-US" sz="3200" dirty="0"/>
          </a:p>
        </p:txBody>
      </p:sp>
      <p:sp>
        <p:nvSpPr>
          <p:cNvPr id="4" name="Node Excel"/>
          <p:cNvSpPr/>
          <p:nvPr/>
        </p:nvSpPr>
        <p:spPr>
          <a:xfrm>
            <a:off x="548640" y="1554480"/>
            <a:ext cx="155448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Label Excel"/>
          <p:cNvSpPr txBox="1"/>
          <p:nvPr/>
        </p:nvSpPr>
        <p:spPr>
          <a:xfrm>
            <a:off x="621792" y="1554480"/>
            <a:ext cx="1408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Excel</a:t>
            </a:r>
            <a:endParaRPr lang="en-US" sz="15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файл</a:t>
            </a:r>
            <a:endParaRPr lang="en-US" sz="1500" dirty="0"/>
          </a:p>
        </p:txBody>
      </p:sp>
      <p:sp>
        <p:nvSpPr>
          <p:cNvPr id="6" name="Arrow"/>
          <p:cNvSpPr/>
          <p:nvPr/>
        </p:nvSpPr>
        <p:spPr>
          <a:xfrm>
            <a:off x="2103120" y="2011680"/>
            <a:ext cx="347472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7" name="Node Парсинг"/>
          <p:cNvSpPr/>
          <p:nvPr/>
        </p:nvSpPr>
        <p:spPr>
          <a:xfrm>
            <a:off x="2450592" y="1554480"/>
            <a:ext cx="155448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Label Парсинг"/>
          <p:cNvSpPr txBox="1"/>
          <p:nvPr/>
        </p:nvSpPr>
        <p:spPr>
          <a:xfrm>
            <a:off x="2523744" y="1554480"/>
            <a:ext cx="1408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Парсинг</a:t>
            </a:r>
            <a:endParaRPr lang="en-US" sz="15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src/core/excel</a:t>
            </a:r>
            <a:endParaRPr lang="en-US" sz="1500" dirty="0"/>
          </a:p>
        </p:txBody>
      </p:sp>
      <p:sp>
        <p:nvSpPr>
          <p:cNvPr id="9" name="Arrow"/>
          <p:cNvSpPr/>
          <p:nvPr/>
        </p:nvSpPr>
        <p:spPr>
          <a:xfrm>
            <a:off x="4005072" y="2011680"/>
            <a:ext cx="347472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0" name="Node RAW"/>
          <p:cNvSpPr/>
          <p:nvPr/>
        </p:nvSpPr>
        <p:spPr>
          <a:xfrm>
            <a:off x="4352544" y="1554480"/>
            <a:ext cx="155448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Label RAW"/>
          <p:cNvSpPr txBox="1"/>
          <p:nvPr/>
        </p:nvSpPr>
        <p:spPr>
          <a:xfrm>
            <a:off x="4425696" y="1554480"/>
            <a:ext cx="1408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RAW</a:t>
            </a:r>
            <a:endParaRPr lang="en-US" sz="15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таблицы public</a:t>
            </a:r>
            <a:endParaRPr lang="en-US" sz="1500" dirty="0"/>
          </a:p>
        </p:txBody>
      </p:sp>
      <p:sp>
        <p:nvSpPr>
          <p:cNvPr id="12" name="Arrow"/>
          <p:cNvSpPr/>
          <p:nvPr/>
        </p:nvSpPr>
        <p:spPr>
          <a:xfrm>
            <a:off x="5907024" y="2011680"/>
            <a:ext cx="347472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3" name="Node Нормализация"/>
          <p:cNvSpPr/>
          <p:nvPr/>
        </p:nvSpPr>
        <p:spPr>
          <a:xfrm>
            <a:off x="6254496" y="1554480"/>
            <a:ext cx="155448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Label Нормализация"/>
          <p:cNvSpPr txBox="1"/>
          <p:nvPr/>
        </p:nvSpPr>
        <p:spPr>
          <a:xfrm>
            <a:off x="6327648" y="1554480"/>
            <a:ext cx="1408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Нормализация</a:t>
            </a:r>
            <a:endParaRPr lang="en-US" sz="15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витрина mart</a:t>
            </a:r>
            <a:endParaRPr lang="en-US" sz="1500" dirty="0"/>
          </a:p>
        </p:txBody>
      </p:sp>
      <p:sp>
        <p:nvSpPr>
          <p:cNvPr id="15" name="Arrow"/>
          <p:cNvSpPr/>
          <p:nvPr/>
        </p:nvSpPr>
        <p:spPr>
          <a:xfrm>
            <a:off x="7808976" y="2011680"/>
            <a:ext cx="347472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6" name="Node LangGraph"/>
          <p:cNvSpPr/>
          <p:nvPr/>
        </p:nvSpPr>
        <p:spPr>
          <a:xfrm>
            <a:off x="8156448" y="1554480"/>
            <a:ext cx="155448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Label LangGraph"/>
          <p:cNvSpPr txBox="1"/>
          <p:nvPr/>
        </p:nvSpPr>
        <p:spPr>
          <a:xfrm>
            <a:off x="8229600" y="1554480"/>
            <a:ext cx="1408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LangGraph</a:t>
            </a:r>
            <a:endParaRPr lang="en-US" sz="15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агент</a:t>
            </a:r>
            <a:endParaRPr lang="en-US" sz="1500" dirty="0"/>
          </a:p>
        </p:txBody>
      </p:sp>
      <p:sp>
        <p:nvSpPr>
          <p:cNvPr id="18" name="Arrow"/>
          <p:cNvSpPr/>
          <p:nvPr/>
        </p:nvSpPr>
        <p:spPr>
          <a:xfrm>
            <a:off x="9710928" y="2011680"/>
            <a:ext cx="347472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9" name="Node Безопасный"/>
          <p:cNvSpPr/>
          <p:nvPr/>
        </p:nvSpPr>
        <p:spPr>
          <a:xfrm>
            <a:off x="10058400" y="1554480"/>
            <a:ext cx="155448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Label Безопасный"/>
          <p:cNvSpPr txBox="1"/>
          <p:nvPr/>
        </p:nvSpPr>
        <p:spPr>
          <a:xfrm>
            <a:off x="10131552" y="1554480"/>
            <a:ext cx="1408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Безопасный</a:t>
            </a:r>
            <a:endParaRPr lang="en-US" sz="15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SELECT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2743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bg2"/>
                </a:solidFill>
              </a:rPr>
              <a:t>Вопрос пользователя → агент планирует и выполняет SQL → ответ + SQL + источники (PostgreSQL)</a:t>
            </a:r>
            <a:endParaRPr lang="en-US" sz="15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732130"/>
              </p:ext>
            </p:extLst>
          </p:nvPr>
        </p:nvGraphicFramePr>
        <p:xfrm>
          <a:off x="548640" y="3383280"/>
          <a:ext cx="11064240" cy="2395728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3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89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5A36"/>
                          </a:solidFill>
                        </a:rPr>
                        <a:t>Часть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6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5A36"/>
                          </a:solidFill>
                        </a:rPr>
                        <a:t>Технологии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6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5A36"/>
                          </a:solidFill>
                        </a:rPr>
                        <a:t>Назначение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6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89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Backend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C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</a:rPr>
                        <a:t>FastAPI, LangGraph, SQLAlchemy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C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</a:rPr>
                        <a:t>API, парсинг, агент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C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89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Frontend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</a:rPr>
                        <a:t>React 18 + TypeScript + Vite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</a:rPr>
                        <a:t>Чат, файлы, дашборд, метрики, трейсы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89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Инфраструктура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C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</a:rPr>
                        <a:t>Docker Compose, Nginx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C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</a:rPr>
                        <a:t>PostgreSQL, Prometheus, Grafana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C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body" idx="102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РЕШЕНИЕ И АРХИТЕКТУРА</a:t>
            </a:r>
            <a:endParaRPr lang="en-US" sz="1200" dirty="0"/>
          </a:p>
        </p:txBody>
      </p:sp>
      <p:sp>
        <p:nvSpPr>
          <p:cNvPr id="3" name="Text 2"/>
          <p:cNvSpPr>
            <a:spLocks noGrp="1"/>
          </p:cNvSpPr>
          <p:nvPr>
            <p:ph type="title" idx="103" hasCustomPrompt="1"/>
          </p:nvPr>
        </p:nvSpPr>
        <p:spPr>
          <a:xfrm>
            <a:off x="548640" y="68580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</a:rPr>
              <a:t>Архитектура системы</a:t>
            </a:r>
            <a:endParaRPr lang="en-US" sz="3200" dirty="0"/>
          </a:p>
        </p:txBody>
      </p:sp>
      <p:sp>
        <p:nvSpPr>
          <p:cNvPr id="4" name="Node Пользователь"/>
          <p:cNvSpPr/>
          <p:nvPr/>
        </p:nvSpPr>
        <p:spPr>
          <a:xfrm>
            <a:off x="548640" y="1371600"/>
            <a:ext cx="1828800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Label Пользователь"/>
          <p:cNvSpPr txBox="1"/>
          <p:nvPr/>
        </p:nvSpPr>
        <p:spPr>
          <a:xfrm>
            <a:off x="621792" y="1371600"/>
            <a:ext cx="16824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Пользователь</a:t>
            </a:r>
            <a:endParaRPr lang="en-US" sz="1400" dirty="0"/>
          </a:p>
        </p:txBody>
      </p:sp>
      <p:sp>
        <p:nvSpPr>
          <p:cNvPr id="6" name="Arrow"/>
          <p:cNvSpPr/>
          <p:nvPr/>
        </p:nvSpPr>
        <p:spPr>
          <a:xfrm>
            <a:off x="2377440" y="1691640"/>
            <a:ext cx="82296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7" name="Node Frontend"/>
          <p:cNvSpPr/>
          <p:nvPr/>
        </p:nvSpPr>
        <p:spPr>
          <a:xfrm>
            <a:off x="3200400" y="1371600"/>
            <a:ext cx="3200400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Label Frontend"/>
          <p:cNvSpPr txBox="1"/>
          <p:nvPr/>
        </p:nvSpPr>
        <p:spPr>
          <a:xfrm>
            <a:off x="3273552" y="1371600"/>
            <a:ext cx="3054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Frontend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React + Vite · Nginx</a:t>
            </a:r>
            <a:endParaRPr lang="en-US" sz="1400" dirty="0"/>
          </a:p>
        </p:txBody>
      </p:sp>
      <p:sp>
        <p:nvSpPr>
          <p:cNvPr id="9" name="Backend frame"/>
          <p:cNvSpPr/>
          <p:nvPr/>
        </p:nvSpPr>
        <p:spPr>
          <a:xfrm>
            <a:off x="548640" y="2377440"/>
            <a:ext cx="8503920" cy="2743200"/>
          </a:xfrm>
          <a:prstGeom prst="rect">
            <a:avLst/>
          </a:prstGeom>
          <a:noFill/>
          <a:ln w="1905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777240" y="2468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Backend — FastAPI (uvicorn, :8000)</a:t>
            </a:r>
            <a:endParaRPr lang="en-US" sz="1300" dirty="0"/>
          </a:p>
        </p:txBody>
      </p:sp>
      <p:sp>
        <p:nvSpPr>
          <p:cNvPr id="11" name="Arrow"/>
          <p:cNvSpPr/>
          <p:nvPr/>
        </p:nvSpPr>
        <p:spPr>
          <a:xfrm>
            <a:off x="4800600" y="2011680"/>
            <a:ext cx="0" cy="77724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4910328" y="21488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</a:rPr>
              <a:t>REST</a:t>
            </a:r>
            <a:endParaRPr lang="en-US" sz="1100" dirty="0"/>
          </a:p>
        </p:txBody>
      </p:sp>
      <p:sp>
        <p:nvSpPr>
          <p:cNvPr id="13" name="Node API-роутеры"/>
          <p:cNvSpPr/>
          <p:nvPr/>
        </p:nvSpPr>
        <p:spPr>
          <a:xfrm>
            <a:off x="777240" y="2788920"/>
            <a:ext cx="8046720" cy="685800"/>
          </a:xfrm>
          <a:prstGeom prst="roundRect">
            <a:avLst>
              <a:gd name="adj" fmla="val 10667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Label API-роутеры"/>
          <p:cNvSpPr txBox="1"/>
          <p:nvPr/>
        </p:nvSpPr>
        <p:spPr>
          <a:xfrm>
            <a:off x="850392" y="2788920"/>
            <a:ext cx="79004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API-роутеры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/files · /ask · /trace · /schema · /cache · /metrics</a:t>
            </a:r>
            <a:endParaRPr lang="en-US" sz="1400" dirty="0"/>
          </a:p>
        </p:txBody>
      </p:sp>
      <p:sp>
        <p:nvSpPr>
          <p:cNvPr id="15" name="Arrow"/>
          <p:cNvSpPr/>
          <p:nvPr/>
        </p:nvSpPr>
        <p:spPr>
          <a:xfrm>
            <a:off x="2697480" y="3474720"/>
            <a:ext cx="0" cy="36576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6" name="Arrow"/>
          <p:cNvSpPr/>
          <p:nvPr/>
        </p:nvSpPr>
        <p:spPr>
          <a:xfrm>
            <a:off x="6926580" y="3474720"/>
            <a:ext cx="0" cy="36576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2807208" y="3566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</a:rPr>
              <a:t>POST /files/upload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031736" y="3566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</a:rPr>
              <a:t>POST /ask</a:t>
            </a:r>
            <a:endParaRPr lang="en-US" sz="1100" dirty="0"/>
          </a:p>
        </p:txBody>
      </p:sp>
      <p:sp>
        <p:nvSpPr>
          <p:cNvPr id="19" name="Node Excel Ingestion"/>
          <p:cNvSpPr/>
          <p:nvPr/>
        </p:nvSpPr>
        <p:spPr>
          <a:xfrm>
            <a:off x="777240" y="3840480"/>
            <a:ext cx="3840480" cy="109728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Label Excel Ingestion"/>
          <p:cNvSpPr txBox="1"/>
          <p:nvPr/>
        </p:nvSpPr>
        <p:spPr>
          <a:xfrm>
            <a:off x="850392" y="3840480"/>
            <a:ext cx="36941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Excel Ingestion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Queue (async) → парсер → repository → mart-normalizer</a:t>
            </a:r>
            <a:endParaRPr lang="en-US" sz="1400" dirty="0"/>
          </a:p>
        </p:txBody>
      </p:sp>
      <p:sp>
        <p:nvSpPr>
          <p:cNvPr id="21" name="Node LangGraph-агент"/>
          <p:cNvSpPr/>
          <p:nvPr/>
        </p:nvSpPr>
        <p:spPr>
          <a:xfrm>
            <a:off x="5029200" y="3840480"/>
            <a:ext cx="3794760" cy="109728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Label LangGraph-агент"/>
          <p:cNvSpPr txBox="1"/>
          <p:nvPr/>
        </p:nvSpPr>
        <p:spPr>
          <a:xfrm>
            <a:off x="5102352" y="3840480"/>
            <a:ext cx="36484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LangGraph-агент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classifier → … → answer · Entity Resolution · Query Cache</a:t>
            </a:r>
            <a:endParaRPr lang="en-US" sz="1400" dirty="0"/>
          </a:p>
        </p:txBody>
      </p:sp>
      <p:sp>
        <p:nvSpPr>
          <p:cNvPr id="23" name="Node Мониторинг"/>
          <p:cNvSpPr/>
          <p:nvPr/>
        </p:nvSpPr>
        <p:spPr>
          <a:xfrm>
            <a:off x="9601200" y="2788920"/>
            <a:ext cx="2039112" cy="685800"/>
          </a:xfrm>
          <a:prstGeom prst="roundRect">
            <a:avLst>
              <a:gd name="adj" fmla="val 10667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Label Мониторинг"/>
          <p:cNvSpPr txBox="1"/>
          <p:nvPr/>
        </p:nvSpPr>
        <p:spPr>
          <a:xfrm>
            <a:off x="9674352" y="2788920"/>
            <a:ext cx="18928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Мониторинг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Prometheus · Grafana</a:t>
            </a:r>
            <a:endParaRPr lang="en-US" sz="1400" dirty="0"/>
          </a:p>
        </p:txBody>
      </p:sp>
      <p:sp>
        <p:nvSpPr>
          <p:cNvPr id="25" name="Arrow"/>
          <p:cNvSpPr/>
          <p:nvPr/>
        </p:nvSpPr>
        <p:spPr>
          <a:xfrm>
            <a:off x="8823960" y="3131820"/>
            <a:ext cx="77724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6" name="Node LLM-провайдер"/>
          <p:cNvSpPr/>
          <p:nvPr/>
        </p:nvSpPr>
        <p:spPr>
          <a:xfrm>
            <a:off x="9601200" y="3840480"/>
            <a:ext cx="2039112" cy="109728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Label LLM-провайдер"/>
          <p:cNvSpPr txBox="1"/>
          <p:nvPr/>
        </p:nvSpPr>
        <p:spPr>
          <a:xfrm>
            <a:off x="9674352" y="3840480"/>
            <a:ext cx="18928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LLM-провайдер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OpenAI-совместимый API · DeepSeek</a:t>
            </a:r>
            <a:endParaRPr lang="en-US" sz="1400" dirty="0"/>
          </a:p>
        </p:txBody>
      </p:sp>
      <p:sp>
        <p:nvSpPr>
          <p:cNvPr id="28" name="Arrow"/>
          <p:cNvSpPr/>
          <p:nvPr/>
        </p:nvSpPr>
        <p:spPr>
          <a:xfrm>
            <a:off x="8823960" y="4389120"/>
            <a:ext cx="77724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9" name="Arrow"/>
          <p:cNvSpPr/>
          <p:nvPr/>
        </p:nvSpPr>
        <p:spPr>
          <a:xfrm>
            <a:off x="2697480" y="4937760"/>
            <a:ext cx="0" cy="59436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0" name="Arrow"/>
          <p:cNvSpPr/>
          <p:nvPr/>
        </p:nvSpPr>
        <p:spPr>
          <a:xfrm>
            <a:off x="6926580" y="4937760"/>
            <a:ext cx="0" cy="59436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 txBox="1"/>
          <p:nvPr/>
        </p:nvSpPr>
        <p:spPr>
          <a:xfrm>
            <a:off x="2807208" y="5212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</a:rPr>
              <a:t>RAW + нормализация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7031736" y="52120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</a:rPr>
              <a:t>безопасный SELECT</a:t>
            </a:r>
            <a:endParaRPr lang="en-US" sz="1100" dirty="0"/>
          </a:p>
        </p:txBody>
      </p:sp>
      <p:sp>
        <p:nvSpPr>
          <p:cNvPr id="33" name="Node PostgreSQL 16"/>
          <p:cNvSpPr/>
          <p:nvPr/>
        </p:nvSpPr>
        <p:spPr>
          <a:xfrm>
            <a:off x="548640" y="5532120"/>
            <a:ext cx="8503920" cy="594360"/>
          </a:xfrm>
          <a:prstGeom prst="roundRect">
            <a:avLst>
              <a:gd name="adj" fmla="val 12308"/>
            </a:avLst>
          </a:prstGeom>
          <a:solidFill>
            <a:schemeClr val="tx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Label PostgreSQL 16"/>
          <p:cNvSpPr txBox="1"/>
          <p:nvPr/>
        </p:nvSpPr>
        <p:spPr>
          <a:xfrm>
            <a:off x="621792" y="5532120"/>
            <a:ext cx="83576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PostgreSQL 16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public: files, sheets, cells, query_logs … · mart: price_facts, metrics</a:t>
            </a:r>
            <a:endParaRPr lang="en-US" sz="14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body" idx="102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РЕШЕНИЕ И АРХИТЕКТУРА</a:t>
            </a:r>
            <a:endParaRPr lang="en-US" sz="1200" dirty="0"/>
          </a:p>
        </p:txBody>
      </p:sp>
      <p:sp>
        <p:nvSpPr>
          <p:cNvPr id="3" name="Text 2"/>
          <p:cNvSpPr>
            <a:spLocks noGrp="1"/>
          </p:cNvSpPr>
          <p:nvPr>
            <p:ph type="title" idx="103" hasCustomPrompt="1"/>
          </p:nvPr>
        </p:nvSpPr>
        <p:spPr>
          <a:xfrm>
            <a:off x="548640" y="68580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</a:rPr>
              <a:t>Ключевые принципы</a:t>
            </a:r>
            <a:endParaRPr lang="en-US" sz="3200" dirty="0"/>
          </a:p>
        </p:txBody>
      </p:sp>
      <p:sp>
        <p:nvSpPr>
          <p:cNvPr id="4" name="Card"/>
          <p:cNvSpPr/>
          <p:nvPr/>
        </p:nvSpPr>
        <p:spPr>
          <a:xfrm>
            <a:off x="548640" y="1554480"/>
            <a:ext cx="3566160" cy="3291840"/>
          </a:xfrm>
          <a:prstGeom prst="roundRect">
            <a:avLst>
              <a:gd name="adj" fmla="val 2222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822960" y="173736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01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974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</a:rPr>
              <a:t>Нормализация вместо векторного поиска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52044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Long-факт-таблицы mart.price_facts / mart.metrics: агент генерирует простой SQL и не обращается к сырым ячейкам.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4297680" y="1554480"/>
            <a:ext cx="3566160" cy="3291840"/>
          </a:xfrm>
          <a:prstGeom prst="roundRect">
            <a:avLst>
              <a:gd name="adj" fmla="val 2222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4572000" y="173736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02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6974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</a:rPr>
              <a:t>Детерминизм вместо «магии» LLM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352044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Правки SQL в codegen_node (префиксный поиск, нормализация поставщиков, is_blank → 0/1) повышают надёжность генерации.</a:t>
            </a:r>
            <a:endParaRPr lang="en-US" sz="1400" dirty="0"/>
          </a:p>
        </p:txBody>
      </p:sp>
      <p:sp>
        <p:nvSpPr>
          <p:cNvPr id="12" name="Card"/>
          <p:cNvSpPr/>
          <p:nvPr/>
        </p:nvSpPr>
        <p:spPr>
          <a:xfrm>
            <a:off x="8046720" y="1554480"/>
            <a:ext cx="3566160" cy="3291840"/>
          </a:xfrm>
          <a:prstGeom prst="roundRect">
            <a:avLst>
              <a:gd name="adj" fmla="val 2222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8321040" y="173736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03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26974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</a:rPr>
              <a:t>Прозрачность каждого ответа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352044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Пользователь видит SQL, результат, источники, а полный трейс шагов графа доступен на странице «Трейс».</a:t>
            </a:r>
            <a:endParaRPr lang="en-US" sz="1400" dirty="0"/>
          </a:p>
        </p:txBody>
      </p:sp>
      <p:sp>
        <p:nvSpPr>
          <p:cNvPr id="16" name="Card"/>
          <p:cNvSpPr/>
          <p:nvPr/>
        </p:nvSpPr>
        <p:spPr>
          <a:xfrm>
            <a:off x="548640" y="5166360"/>
            <a:ext cx="11064240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822960" y="51663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Кэш ответов и fallback-логика верификатора уменьшают число повторных прогонов графа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body" idx="102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РЕШЕНИЕ И АРХИТЕКТУРА</a:t>
            </a:r>
            <a:endParaRPr lang="en-US" sz="1200" dirty="0"/>
          </a:p>
        </p:txBody>
      </p:sp>
      <p:sp>
        <p:nvSpPr>
          <p:cNvPr id="3" name="Text 2"/>
          <p:cNvSpPr>
            <a:spLocks noGrp="1"/>
          </p:cNvSpPr>
          <p:nvPr>
            <p:ph type="title" idx="103" hasCustomPrompt="1"/>
          </p:nvPr>
        </p:nvSpPr>
        <p:spPr>
          <a:xfrm>
            <a:off x="548640" y="68580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</a:rPr>
              <a:t>Технологический стек</a:t>
            </a:r>
            <a:endParaRPr lang="en-US" sz="3200" dirty="0"/>
          </a:p>
        </p:txBody>
      </p:sp>
      <p:sp>
        <p:nvSpPr>
          <p:cNvPr id="4" name="Card"/>
          <p:cNvSpPr/>
          <p:nvPr/>
        </p:nvSpPr>
        <p:spPr>
          <a:xfrm>
            <a:off x="548640" y="1554480"/>
            <a:ext cx="3566160" cy="4480560"/>
          </a:xfrm>
          <a:prstGeom prst="roundRect">
            <a:avLst>
              <a:gd name="adj" fmla="val 2051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822960" y="1737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Backend (Python ≥ 3.12)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86000"/>
            <a:ext cx="30632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FastAPI + uvicorn — REST API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LangGraph + checkpoint-postgres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langchain-openai — structured output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SQLAlchemy 2.0 (async) + Alembic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openpyxl, pandas — Excel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rapidfuzz — fuzzy match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loguru, prometheus-client, slowapi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4297680" y="1554480"/>
            <a:ext cx="3566160" cy="4480560"/>
          </a:xfrm>
          <a:prstGeom prst="roundRect">
            <a:avLst>
              <a:gd name="adj" fmla="val 2051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4572000" y="1737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Frontend (React)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2286000"/>
            <a:ext cx="30632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React 18 + TypeScript + Vite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react-router-dom — роутинг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chart.js — графики результатов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framer-motion — анимации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lucide-react — иконки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react-markdown — рендер ответов</a:t>
            </a:r>
            <a:endParaRPr 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8046720" y="1554480"/>
            <a:ext cx="3566160" cy="4480560"/>
          </a:xfrm>
          <a:prstGeom prst="roundRect">
            <a:avLst>
              <a:gd name="adj" fmla="val 2051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8321040" y="1737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Инфраструктура (Docker)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321040" y="2286000"/>
            <a:ext cx="30632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postgres:16-alpine — БД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service — FastAPI (:8000)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frontend — Nginx (:8080)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prometheus — метрики (:9090)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grafana — дашборды (:3001)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body" idx="102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ОБРАБОТКА ДАННЫХ</a:t>
            </a:r>
            <a:endParaRPr lang="en-US" sz="1200" dirty="0"/>
          </a:p>
        </p:txBody>
      </p:sp>
      <p:sp>
        <p:nvSpPr>
          <p:cNvPr id="3" name="Text 2"/>
          <p:cNvSpPr>
            <a:spLocks noGrp="1"/>
          </p:cNvSpPr>
          <p:nvPr>
            <p:ph type="title" idx="103" hasCustomPrompt="1"/>
          </p:nvPr>
        </p:nvSpPr>
        <p:spPr>
          <a:xfrm>
            <a:off x="548640" y="68580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</a:rPr>
              <a:t>Поток обработки файла</a:t>
            </a:r>
            <a:endParaRPr lang="en-US" sz="3200" dirty="0"/>
          </a:p>
        </p:txBody>
      </p:sp>
      <p:sp>
        <p:nvSpPr>
          <p:cNvPr id="4" name="Node Upload"/>
          <p:cNvSpPr/>
          <p:nvPr/>
        </p:nvSpPr>
        <p:spPr>
          <a:xfrm>
            <a:off x="548640" y="1554480"/>
            <a:ext cx="155448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Label Upload"/>
          <p:cNvSpPr txBox="1"/>
          <p:nvPr/>
        </p:nvSpPr>
        <p:spPr>
          <a:xfrm>
            <a:off x="621792" y="1554480"/>
            <a:ext cx="1408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Upload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POST /files/upload</a:t>
            </a:r>
            <a:endParaRPr lang="en-US" sz="1400" dirty="0"/>
          </a:p>
        </p:txBody>
      </p:sp>
      <p:sp>
        <p:nvSpPr>
          <p:cNvPr id="6" name="Arrow"/>
          <p:cNvSpPr/>
          <p:nvPr/>
        </p:nvSpPr>
        <p:spPr>
          <a:xfrm>
            <a:off x="2103120" y="2011680"/>
            <a:ext cx="347472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7" name="Card"/>
          <p:cNvSpPr/>
          <p:nvPr/>
        </p:nvSpPr>
        <p:spPr>
          <a:xfrm>
            <a:off x="548640" y="2743200"/>
            <a:ext cx="1554480" cy="2331720"/>
          </a:xfrm>
          <a:prstGeom prst="roundRect">
            <a:avLst>
              <a:gd name="adj" fmla="val 4706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658368" y="2852928"/>
            <a:ext cx="133502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Валидация: .xlsx / .xls, до 50 МБ. Иначе 400 ValidationError. Файл пишется во временный.</a:t>
            </a:r>
            <a:endParaRPr lang="en-US" sz="1200" dirty="0"/>
          </a:p>
        </p:txBody>
      </p:sp>
      <p:sp>
        <p:nvSpPr>
          <p:cNvPr id="9" name="Node IngestionQueue"/>
          <p:cNvSpPr/>
          <p:nvPr/>
        </p:nvSpPr>
        <p:spPr>
          <a:xfrm>
            <a:off x="2450592" y="1554480"/>
            <a:ext cx="155448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Label IngestionQueue"/>
          <p:cNvSpPr txBox="1"/>
          <p:nvPr/>
        </p:nvSpPr>
        <p:spPr>
          <a:xfrm>
            <a:off x="2523744" y="1554480"/>
            <a:ext cx="1408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IngestionQueue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async worker</a:t>
            </a:r>
            <a:endParaRPr lang="en-US" sz="1400" dirty="0"/>
          </a:p>
        </p:txBody>
      </p:sp>
      <p:sp>
        <p:nvSpPr>
          <p:cNvPr id="11" name="Arrow"/>
          <p:cNvSpPr/>
          <p:nvPr/>
        </p:nvSpPr>
        <p:spPr>
          <a:xfrm>
            <a:off x="4005072" y="2011680"/>
            <a:ext cx="347472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2" name="Card"/>
          <p:cNvSpPr/>
          <p:nvPr/>
        </p:nvSpPr>
        <p:spPr>
          <a:xfrm>
            <a:off x="2450592" y="2743200"/>
            <a:ext cx="1554480" cy="2331720"/>
          </a:xfrm>
          <a:prstGeom prst="roundRect">
            <a:avLst>
              <a:gd name="adj" fmla="val 4706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2560320" y="2852928"/>
            <a:ext cx="133502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create_pending_file: запись File со статусом pending, затем process_file.</a:t>
            </a:r>
            <a:endParaRPr lang="en-US" sz="1200" dirty="0"/>
          </a:p>
        </p:txBody>
      </p:sp>
      <p:sp>
        <p:nvSpPr>
          <p:cNvPr id="14" name="Node Парсинг"/>
          <p:cNvSpPr/>
          <p:nvPr/>
        </p:nvSpPr>
        <p:spPr>
          <a:xfrm>
            <a:off x="4352544" y="1554480"/>
            <a:ext cx="155448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Label Парсинг"/>
          <p:cNvSpPr txBox="1"/>
          <p:nvPr/>
        </p:nvSpPr>
        <p:spPr>
          <a:xfrm>
            <a:off x="4425696" y="1554480"/>
            <a:ext cx="1408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Парсинг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src/core/excel</a:t>
            </a:r>
            <a:endParaRPr lang="en-US" sz="1400" dirty="0"/>
          </a:p>
        </p:txBody>
      </p:sp>
      <p:sp>
        <p:nvSpPr>
          <p:cNvPr id="16" name="Arrow"/>
          <p:cNvSpPr/>
          <p:nvPr/>
        </p:nvSpPr>
        <p:spPr>
          <a:xfrm>
            <a:off x="5907024" y="2011680"/>
            <a:ext cx="347472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7" name="Card"/>
          <p:cNvSpPr/>
          <p:nvPr/>
        </p:nvSpPr>
        <p:spPr>
          <a:xfrm>
            <a:off x="4352544" y="2743200"/>
            <a:ext cx="1554480" cy="2331720"/>
          </a:xfrm>
          <a:prstGeom prst="roundRect">
            <a:avLst>
              <a:gd name="adj" fmla="val 4706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 txBox="1"/>
          <p:nvPr/>
        </p:nvSpPr>
        <p:spPr>
          <a:xfrm>
            <a:off x="4462272" y="2852928"/>
            <a:ext cx="133502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unmerge ячеек, поиск строк шапки, тип листа (prices / matrix / generic), период из имени листа, комментарии.</a:t>
            </a:r>
            <a:endParaRPr lang="en-US" sz="1200" dirty="0"/>
          </a:p>
        </p:txBody>
      </p:sp>
      <p:sp>
        <p:nvSpPr>
          <p:cNvPr id="19" name="Node RAW"/>
          <p:cNvSpPr/>
          <p:nvPr/>
        </p:nvSpPr>
        <p:spPr>
          <a:xfrm>
            <a:off x="6254496" y="1554480"/>
            <a:ext cx="155448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Label RAW"/>
          <p:cNvSpPr txBox="1"/>
          <p:nvPr/>
        </p:nvSpPr>
        <p:spPr>
          <a:xfrm>
            <a:off x="6327648" y="1554480"/>
            <a:ext cx="1408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RAW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схема public</a:t>
            </a:r>
            <a:endParaRPr lang="en-US" sz="1400" dirty="0"/>
          </a:p>
        </p:txBody>
      </p:sp>
      <p:sp>
        <p:nvSpPr>
          <p:cNvPr id="21" name="Arrow"/>
          <p:cNvSpPr/>
          <p:nvPr/>
        </p:nvSpPr>
        <p:spPr>
          <a:xfrm>
            <a:off x="7808976" y="2011680"/>
            <a:ext cx="347472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2" name="Card"/>
          <p:cNvSpPr/>
          <p:nvPr/>
        </p:nvSpPr>
        <p:spPr>
          <a:xfrm>
            <a:off x="6254496" y="2743200"/>
            <a:ext cx="1554480" cy="2331720"/>
          </a:xfrm>
          <a:prstGeom prst="roundRect">
            <a:avLst>
              <a:gd name="adj" fmla="val 4706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 txBox="1"/>
          <p:nvPr/>
        </p:nvSpPr>
        <p:spPr>
          <a:xfrm>
            <a:off x="6364224" y="2852928"/>
            <a:ext cx="133502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files, sheets, column_metadata, cells, excel_comments. Идемпотентность: старые листы файла удаляются.</a:t>
            </a:r>
            <a:endParaRPr lang="en-US" sz="1200" dirty="0"/>
          </a:p>
        </p:txBody>
      </p:sp>
      <p:sp>
        <p:nvSpPr>
          <p:cNvPr id="24" name="Node Нормализация"/>
          <p:cNvSpPr/>
          <p:nvPr/>
        </p:nvSpPr>
        <p:spPr>
          <a:xfrm>
            <a:off x="8156448" y="1554480"/>
            <a:ext cx="155448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Label Нормализация"/>
          <p:cNvSpPr txBox="1"/>
          <p:nvPr/>
        </p:nvSpPr>
        <p:spPr>
          <a:xfrm>
            <a:off x="8229600" y="1554480"/>
            <a:ext cx="1408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Нормализация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схема mart</a:t>
            </a:r>
            <a:endParaRPr lang="en-US" sz="1400" dirty="0"/>
          </a:p>
        </p:txBody>
      </p:sp>
      <p:sp>
        <p:nvSpPr>
          <p:cNvPr id="26" name="Arrow"/>
          <p:cNvSpPr/>
          <p:nvPr/>
        </p:nvSpPr>
        <p:spPr>
          <a:xfrm>
            <a:off x="9710928" y="2011680"/>
            <a:ext cx="347472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7" name="Card"/>
          <p:cNvSpPr/>
          <p:nvPr/>
        </p:nvSpPr>
        <p:spPr>
          <a:xfrm>
            <a:off x="8156448" y="2743200"/>
            <a:ext cx="1554480" cy="2331720"/>
          </a:xfrm>
          <a:prstGeom prst="roundRect">
            <a:avLst>
              <a:gd name="adj" fmla="val 4706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 txBox="1"/>
          <p:nvPr/>
        </p:nvSpPr>
        <p:spPr>
          <a:xfrm>
            <a:off x="8266176" y="2852928"/>
            <a:ext cx="133502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prices → price_facts; matrix → metrics; supplier_aliases; sheet_templates по fingerprint.</a:t>
            </a:r>
            <a:endParaRPr lang="en-US" sz="1200" dirty="0"/>
          </a:p>
        </p:txBody>
      </p:sp>
      <p:sp>
        <p:nvSpPr>
          <p:cNvPr id="29" name="Node Entity Resolution"/>
          <p:cNvSpPr/>
          <p:nvPr/>
        </p:nvSpPr>
        <p:spPr>
          <a:xfrm>
            <a:off x="10058400" y="1554480"/>
            <a:ext cx="155448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Label Entity Resolution"/>
          <p:cNvSpPr txBox="1"/>
          <p:nvPr/>
        </p:nvSpPr>
        <p:spPr>
          <a:xfrm>
            <a:off x="10131552" y="1554480"/>
            <a:ext cx="1408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Entity Resolution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каталоги</a:t>
            </a:r>
            <a:endParaRPr lang="en-US" sz="1400" dirty="0"/>
          </a:p>
        </p:txBody>
      </p:sp>
      <p:sp>
        <p:nvSpPr>
          <p:cNvPr id="31" name="Card"/>
          <p:cNvSpPr/>
          <p:nvPr/>
        </p:nvSpPr>
        <p:spPr>
          <a:xfrm>
            <a:off x="10058400" y="2743200"/>
            <a:ext cx="1554480" cy="2331720"/>
          </a:xfrm>
          <a:prstGeom prst="roundRect">
            <a:avLst>
              <a:gd name="adj" fmla="val 4706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 txBox="1"/>
          <p:nvPr/>
        </p:nvSpPr>
        <p:spPr>
          <a:xfrm>
            <a:off x="10168128" y="2852928"/>
            <a:ext cx="133502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Каталог item / supplier / period для агента. Статус файла: processed.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54406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Статус файла</a:t>
            </a:r>
            <a:endParaRPr lang="en-US" sz="1400" dirty="0"/>
          </a:p>
        </p:txBody>
      </p:sp>
      <p:sp>
        <p:nvSpPr>
          <p:cNvPr id="34" name="Node pending"/>
          <p:cNvSpPr/>
          <p:nvPr/>
        </p:nvSpPr>
        <p:spPr>
          <a:xfrm>
            <a:off x="2286000" y="5440680"/>
            <a:ext cx="1645920" cy="457200"/>
          </a:xfrm>
          <a:prstGeom prst="roundRect">
            <a:avLst>
              <a:gd name="adj" fmla="val 16000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Label pending"/>
          <p:cNvSpPr txBox="1"/>
          <p:nvPr/>
        </p:nvSpPr>
        <p:spPr>
          <a:xfrm>
            <a:off x="2359152" y="5440680"/>
            <a:ext cx="1499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pending</a:t>
            </a:r>
            <a:endParaRPr lang="en-US" sz="1300" dirty="0"/>
          </a:p>
        </p:txBody>
      </p:sp>
      <p:sp>
        <p:nvSpPr>
          <p:cNvPr id="36" name="Arrow"/>
          <p:cNvSpPr/>
          <p:nvPr/>
        </p:nvSpPr>
        <p:spPr>
          <a:xfrm>
            <a:off x="3931920" y="5669280"/>
            <a:ext cx="54864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7" name="Node processed"/>
          <p:cNvSpPr/>
          <p:nvPr/>
        </p:nvSpPr>
        <p:spPr>
          <a:xfrm>
            <a:off x="4480560" y="5440680"/>
            <a:ext cx="1645920" cy="457200"/>
          </a:xfrm>
          <a:prstGeom prst="roundRect">
            <a:avLst>
              <a:gd name="adj" fmla="val 16000"/>
            </a:avLst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Label processed"/>
          <p:cNvSpPr txBox="1"/>
          <p:nvPr/>
        </p:nvSpPr>
        <p:spPr>
          <a:xfrm>
            <a:off x="4553712" y="5440680"/>
            <a:ext cx="1499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processed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6217920" y="54406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bg2"/>
                </a:solidFill>
              </a:rPr>
              <a:t>или</a:t>
            </a:r>
            <a:endParaRPr lang="en-US" sz="1300" dirty="0"/>
          </a:p>
        </p:txBody>
      </p:sp>
      <p:sp>
        <p:nvSpPr>
          <p:cNvPr id="40" name="Node failed"/>
          <p:cNvSpPr/>
          <p:nvPr/>
        </p:nvSpPr>
        <p:spPr>
          <a:xfrm>
            <a:off x="6858000" y="5440680"/>
            <a:ext cx="1645920" cy="457200"/>
          </a:xfrm>
          <a:prstGeom prst="roundRect">
            <a:avLst>
              <a:gd name="adj" fmla="val 16000"/>
            </a:avLst>
          </a:prstGeom>
          <a:solidFill>
            <a:schemeClr val="tx2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Label failed"/>
          <p:cNvSpPr txBox="1"/>
          <p:nvPr/>
        </p:nvSpPr>
        <p:spPr>
          <a:xfrm>
            <a:off x="6931152" y="5440680"/>
            <a:ext cx="1499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failed</a:t>
            </a:r>
            <a:endParaRPr lang="en-US" sz="1300" dirty="0"/>
          </a:p>
        </p:txBody>
      </p:sp>
      <p:sp>
        <p:nvSpPr>
          <p:cNvPr id="4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body" idx="102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ОБРАБОТКА ДАННЫХ</a:t>
            </a:r>
            <a:endParaRPr lang="en-US" sz="1200" dirty="0"/>
          </a:p>
        </p:txBody>
      </p:sp>
      <p:sp>
        <p:nvSpPr>
          <p:cNvPr id="3" name="Text 2"/>
          <p:cNvSpPr>
            <a:spLocks noGrp="1"/>
          </p:cNvSpPr>
          <p:nvPr>
            <p:ph type="title" idx="103" hasCustomPrompt="1"/>
          </p:nvPr>
        </p:nvSpPr>
        <p:spPr>
          <a:xfrm>
            <a:off x="548640" y="68580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</a:rPr>
              <a:t>Парсинг Excel и Schema Inference</a:t>
            </a:r>
            <a:endParaRPr lang="en-US" sz="3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8867195"/>
              </p:ext>
            </p:extLst>
          </p:nvPr>
        </p:nvGraphicFramePr>
        <p:xfrm>
          <a:off x="548640" y="1508760"/>
          <a:ext cx="5486400" cy="3819024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73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5A36"/>
                          </a:solidFill>
                        </a:rPr>
                        <a:t>Модуль (src/core/excel)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6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5A36"/>
                          </a:solidFill>
                        </a:rPr>
                        <a:t>Назначение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6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73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parser.py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C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чтение .xlsx (openpyxl / pandas)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C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73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comment_extractor.py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комментарии ячеек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73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normalize.py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C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имена листов и колонок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C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73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schema_inference.py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типы колонок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73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sheet_kind_detector.py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C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prices / matrix / generic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C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73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table_structurer.py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структура таблицы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73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template_fingerprint.py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C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отпечаток шаблона листа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C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Node Fingerprint"/>
          <p:cNvSpPr/>
          <p:nvPr/>
        </p:nvSpPr>
        <p:spPr>
          <a:xfrm>
            <a:off x="6400800" y="3108960"/>
            <a:ext cx="1645920" cy="100584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Label Fingerprint"/>
          <p:cNvSpPr txBox="1"/>
          <p:nvPr/>
        </p:nvSpPr>
        <p:spPr>
          <a:xfrm>
            <a:off x="6473952" y="3108960"/>
            <a:ext cx="14996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Fingerprint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compute_sheet_fingerprint</a:t>
            </a:r>
            <a:endParaRPr lang="en-US" sz="1400" dirty="0"/>
          </a:p>
        </p:txBody>
      </p:sp>
      <p:sp>
        <p:nvSpPr>
          <p:cNvPr id="7" name="Arrow"/>
          <p:cNvSpPr/>
          <p:nvPr/>
        </p:nvSpPr>
        <p:spPr>
          <a:xfrm>
            <a:off x="8046720" y="3611880"/>
            <a:ext cx="36576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Arrow"/>
          <p:cNvSpPr/>
          <p:nvPr/>
        </p:nvSpPr>
        <p:spPr>
          <a:xfrm flipV="1">
            <a:off x="8412480" y="2057400"/>
            <a:ext cx="0" cy="155448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Arrow"/>
          <p:cNvSpPr/>
          <p:nvPr/>
        </p:nvSpPr>
        <p:spPr>
          <a:xfrm>
            <a:off x="8412480" y="2057400"/>
            <a:ext cx="36576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0" name="Arrow"/>
          <p:cNvSpPr/>
          <p:nvPr/>
        </p:nvSpPr>
        <p:spPr>
          <a:xfrm>
            <a:off x="8412480" y="3611880"/>
            <a:ext cx="36576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1" name="Node Шаблон найден"/>
          <p:cNvSpPr/>
          <p:nvPr/>
        </p:nvSpPr>
        <p:spPr>
          <a:xfrm>
            <a:off x="8778240" y="1554480"/>
            <a:ext cx="2862072" cy="100584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Label Шаблон найден"/>
          <p:cNvSpPr txBox="1"/>
          <p:nvPr/>
        </p:nvSpPr>
        <p:spPr>
          <a:xfrm>
            <a:off x="8851392" y="1554480"/>
            <a:ext cx="27157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Шаблон найден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схема из mart.sheet_templates применяется без LLM</a:t>
            </a:r>
            <a:endParaRPr lang="en-US" sz="1400" dirty="0"/>
          </a:p>
        </p:txBody>
      </p:sp>
      <p:sp>
        <p:nvSpPr>
          <p:cNvPr id="4" name="Node LLM-инференс"/>
          <p:cNvSpPr/>
          <p:nvPr/>
        </p:nvSpPr>
        <p:spPr>
          <a:xfrm>
            <a:off x="8778240" y="3108960"/>
            <a:ext cx="2862072" cy="100584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Label LLM-инференс"/>
          <p:cNvSpPr txBox="1"/>
          <p:nvPr/>
        </p:nvSpPr>
        <p:spPr>
          <a:xfrm>
            <a:off x="8851392" y="3108960"/>
            <a:ext cx="27157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LLM-инференс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Pydantic SheetSchema → pending_confirmation</a:t>
            </a:r>
            <a:endParaRPr lang="en-US" sz="1400" dirty="0"/>
          </a:p>
        </p:txBody>
      </p:sp>
      <p:sp>
        <p:nvSpPr>
          <p:cNvPr id="15" name="Arrow"/>
          <p:cNvSpPr/>
          <p:nvPr/>
        </p:nvSpPr>
        <p:spPr>
          <a:xfrm>
            <a:off x="10209276" y="4114800"/>
            <a:ext cx="0" cy="64008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6" name="Node Подтверждение"/>
          <p:cNvSpPr/>
          <p:nvPr/>
        </p:nvSpPr>
        <p:spPr>
          <a:xfrm>
            <a:off x="8778240" y="4754880"/>
            <a:ext cx="2862072" cy="100584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Label Подтверждение"/>
          <p:cNvSpPr txBox="1"/>
          <p:nvPr/>
        </p:nvSpPr>
        <p:spPr>
          <a:xfrm>
            <a:off x="8851392" y="4754880"/>
            <a:ext cx="27157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Подтверждение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пользователь правит или подтверждает схему → confirmed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8092440" y="23317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</a:rPr>
              <a:t>известный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8138160" y="36576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</a:rPr>
              <a:t>новый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body" idx="102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ОБРАБОТКА ДАННЫХ</a:t>
            </a:r>
            <a:endParaRPr lang="en-US" sz="1200" dirty="0"/>
          </a:p>
        </p:txBody>
      </p:sp>
      <p:sp>
        <p:nvSpPr>
          <p:cNvPr id="3" name="Text 2"/>
          <p:cNvSpPr>
            <a:spLocks noGrp="1"/>
          </p:cNvSpPr>
          <p:nvPr>
            <p:ph type="title" idx="103" hasCustomPrompt="1"/>
          </p:nvPr>
        </p:nvSpPr>
        <p:spPr>
          <a:xfrm>
            <a:off x="548640" y="68580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</a:rPr>
              <a:t>Витрина данных (mart)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mart.price_facts — цены лома</a:t>
            </a:r>
            <a:endParaRPr lang="en-US" sz="1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6583680" cy="209804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5A36"/>
                          </a:solidFill>
                        </a:rPr>
                        <a:t>Колонка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6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5A36"/>
                          </a:solidFill>
                        </a:rPr>
                        <a:t>Пример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6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sheet_period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C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2025-01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C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item_name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Лом меди марки А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supplier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C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Сплав-21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C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price_type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среднерыночная / аукцион_старт / поставщик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value, currency, unit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C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486 500, ₽, т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C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is_blank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0/1 — пустые ячейки не превращаются в 0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Card"/>
          <p:cNvSpPr/>
          <p:nvPr/>
        </p:nvSpPr>
        <p:spPr>
          <a:xfrm>
            <a:off x="7498080" y="1463040"/>
            <a:ext cx="4114800" cy="2743200"/>
          </a:xfrm>
          <a:prstGeom prst="roundRect">
            <a:avLst>
              <a:gd name="adj" fmla="val 2667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 txBox="1"/>
          <p:nvPr/>
        </p:nvSpPr>
        <p:spPr>
          <a:xfrm>
            <a:off x="7772400" y="1645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mart.metrics — метрики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0" y="219456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dimension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period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metric_type · metric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value · unit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is_blank</a:t>
            </a:r>
            <a:endParaRPr lang="en-US" sz="1500" dirty="0"/>
          </a:p>
        </p:txBody>
      </p:sp>
      <p:sp>
        <p:nvSpPr>
          <p:cNvPr id="9" name="Card"/>
          <p:cNvSpPr/>
          <p:nvPr/>
        </p:nvSpPr>
        <p:spPr>
          <a:xfrm>
            <a:off x="548640" y="4846320"/>
            <a:ext cx="11064240" cy="109728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7"/>
          <p:cNvSpPr txBox="1"/>
          <p:nvPr/>
        </p:nvSpPr>
        <p:spPr>
          <a:xfrm>
            <a:off x="822960" y="484632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Long-факт-таблицы: агент генерирует простой SQL без обращения к сырым ячейкам, а пустые значения остаются пустыми (is_blank), а не нулями.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body" idx="102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ОБРАБОТКА ДАННЫХ</a:t>
            </a:r>
            <a:endParaRPr lang="en-US" sz="1200" dirty="0"/>
          </a:p>
        </p:txBody>
      </p:sp>
      <p:sp>
        <p:nvSpPr>
          <p:cNvPr id="3" name="Text 2"/>
          <p:cNvSpPr>
            <a:spLocks noGrp="1"/>
          </p:cNvSpPr>
          <p:nvPr>
            <p:ph type="title" idx="103" hasCustomPrompt="1"/>
          </p:nvPr>
        </p:nvSpPr>
        <p:spPr>
          <a:xfrm>
            <a:off x="548640" y="68580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</a:rPr>
              <a:t>Схема базы данных</a:t>
            </a:r>
            <a:endParaRPr lang="en-US" sz="3200" dirty="0"/>
          </a:p>
        </p:txBody>
      </p:sp>
      <p:sp>
        <p:nvSpPr>
          <p:cNvPr id="4" name="Zone схема public"/>
          <p:cNvSpPr/>
          <p:nvPr/>
        </p:nvSpPr>
        <p:spPr>
          <a:xfrm>
            <a:off x="548640" y="1371600"/>
            <a:ext cx="6675120" cy="4709160"/>
          </a:xfrm>
          <a:prstGeom prst="rect">
            <a:avLst/>
          </a:prstGeom>
          <a:noFill/>
          <a:ln w="1905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731520" y="1444752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схема public</a:t>
            </a:r>
            <a:endParaRPr lang="en-US" sz="1300" dirty="0"/>
          </a:p>
        </p:txBody>
      </p:sp>
      <p:sp>
        <p:nvSpPr>
          <p:cNvPr id="6" name="Zone схема mart"/>
          <p:cNvSpPr/>
          <p:nvPr/>
        </p:nvSpPr>
        <p:spPr>
          <a:xfrm>
            <a:off x="7589520" y="1371600"/>
            <a:ext cx="4050792" cy="4709160"/>
          </a:xfrm>
          <a:prstGeom prst="rect">
            <a:avLst/>
          </a:prstGeom>
          <a:noFill/>
          <a:ln w="1905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7772400" y="1444752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схема mart</a:t>
            </a:r>
            <a:endParaRPr lang="en-US" sz="1300" dirty="0"/>
          </a:p>
        </p:txBody>
      </p:sp>
      <p:sp>
        <p:nvSpPr>
          <p:cNvPr id="8" name="Node files"/>
          <p:cNvSpPr/>
          <p:nvPr/>
        </p:nvSpPr>
        <p:spPr>
          <a:xfrm>
            <a:off x="4754880" y="1874520"/>
            <a:ext cx="2194560" cy="100584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Label files"/>
          <p:cNvSpPr txBox="1"/>
          <p:nvPr/>
        </p:nvSpPr>
        <p:spPr>
          <a:xfrm>
            <a:off x="4828032" y="1874520"/>
            <a:ext cx="20482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files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id · filename · file_hash UK · status</a:t>
            </a:r>
            <a:endParaRPr lang="en-US" sz="1400" dirty="0"/>
          </a:p>
        </p:txBody>
      </p:sp>
      <p:sp>
        <p:nvSpPr>
          <p:cNvPr id="10" name="Node sheets"/>
          <p:cNvSpPr/>
          <p:nvPr/>
        </p:nvSpPr>
        <p:spPr>
          <a:xfrm>
            <a:off x="914400" y="1874520"/>
            <a:ext cx="2560320" cy="100584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Label sheets"/>
          <p:cNvSpPr txBox="1"/>
          <p:nvPr/>
        </p:nvSpPr>
        <p:spPr>
          <a:xfrm>
            <a:off x="987552" y="1874520"/>
            <a:ext cx="24140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sheets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file_id FK · period · sheet_kind</a:t>
            </a:r>
            <a:endParaRPr lang="en-US" sz="1400" dirty="0"/>
          </a:p>
        </p:txBody>
      </p:sp>
      <p:sp>
        <p:nvSpPr>
          <p:cNvPr id="12" name="Arrow"/>
          <p:cNvSpPr/>
          <p:nvPr/>
        </p:nvSpPr>
        <p:spPr>
          <a:xfrm flipH="1">
            <a:off x="3474720" y="2377440"/>
            <a:ext cx="128016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3749040" y="208483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1 : N</a:t>
            </a:r>
            <a:endParaRPr lang="en-US" sz="1100" dirty="0"/>
          </a:p>
        </p:txBody>
      </p:sp>
      <p:sp>
        <p:nvSpPr>
          <p:cNvPr id="14" name="Arrow"/>
          <p:cNvSpPr/>
          <p:nvPr/>
        </p:nvSpPr>
        <p:spPr>
          <a:xfrm>
            <a:off x="2194560" y="2880360"/>
            <a:ext cx="0" cy="45720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5" name="Arrow"/>
          <p:cNvSpPr/>
          <p:nvPr/>
        </p:nvSpPr>
        <p:spPr>
          <a:xfrm>
            <a:off x="1737360" y="3337560"/>
            <a:ext cx="402336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6" name="Arrow"/>
          <p:cNvSpPr/>
          <p:nvPr/>
        </p:nvSpPr>
        <p:spPr>
          <a:xfrm>
            <a:off x="1737360" y="3337560"/>
            <a:ext cx="0" cy="50292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7" name="Arrow"/>
          <p:cNvSpPr/>
          <p:nvPr/>
        </p:nvSpPr>
        <p:spPr>
          <a:xfrm>
            <a:off x="3749040" y="3337560"/>
            <a:ext cx="0" cy="50292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8" name="Arrow"/>
          <p:cNvSpPr/>
          <p:nvPr/>
        </p:nvSpPr>
        <p:spPr>
          <a:xfrm>
            <a:off x="5760720" y="3337560"/>
            <a:ext cx="0" cy="50292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9" name="Node column_metadata"/>
          <p:cNvSpPr/>
          <p:nvPr/>
        </p:nvSpPr>
        <p:spPr>
          <a:xfrm>
            <a:off x="822960" y="3840480"/>
            <a:ext cx="1828800" cy="100584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Label column_metadata"/>
          <p:cNvSpPr txBox="1"/>
          <p:nvPr/>
        </p:nvSpPr>
        <p:spPr>
          <a:xfrm>
            <a:off x="896112" y="3840480"/>
            <a:ext cx="16824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column_metadata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data_type · role</a:t>
            </a:r>
            <a:endParaRPr lang="en-US" sz="1300" dirty="0"/>
          </a:p>
        </p:txBody>
      </p:sp>
      <p:sp>
        <p:nvSpPr>
          <p:cNvPr id="21" name="Node cells"/>
          <p:cNvSpPr/>
          <p:nvPr/>
        </p:nvSpPr>
        <p:spPr>
          <a:xfrm>
            <a:off x="2834640" y="3840480"/>
            <a:ext cx="1828800" cy="100584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Label cells"/>
          <p:cNvSpPr txBox="1"/>
          <p:nvPr/>
        </p:nvSpPr>
        <p:spPr>
          <a:xfrm>
            <a:off x="2907792" y="3840480"/>
            <a:ext cx="16824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cells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row_num · value_text · value_number</a:t>
            </a:r>
            <a:endParaRPr lang="en-US" sz="1300" dirty="0"/>
          </a:p>
        </p:txBody>
      </p:sp>
      <p:sp>
        <p:nvSpPr>
          <p:cNvPr id="23" name="Node excel_comments"/>
          <p:cNvSpPr/>
          <p:nvPr/>
        </p:nvSpPr>
        <p:spPr>
          <a:xfrm>
            <a:off x="4846320" y="3840480"/>
            <a:ext cx="1828800" cy="100584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Label excel_comments"/>
          <p:cNvSpPr txBox="1"/>
          <p:nvPr/>
        </p:nvSpPr>
        <p:spPr>
          <a:xfrm>
            <a:off x="4919472" y="3840480"/>
            <a:ext cx="16824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excel_comments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cell_ref · author · text</a:t>
            </a:r>
            <a:endParaRPr lang="en-US" sz="1300" dirty="0"/>
          </a:p>
        </p:txBody>
      </p:sp>
      <p:sp>
        <p:nvSpPr>
          <p:cNvPr id="25" name="Node Служебные таблицы"/>
          <p:cNvSpPr/>
          <p:nvPr/>
        </p:nvSpPr>
        <p:spPr>
          <a:xfrm>
            <a:off x="822960" y="5166360"/>
            <a:ext cx="5852160" cy="685800"/>
          </a:xfrm>
          <a:prstGeom prst="roundRect">
            <a:avLst>
              <a:gd name="adj" fmla="val 10667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Label Служебные таблицы"/>
          <p:cNvSpPr txBox="1"/>
          <p:nvPr/>
        </p:nvSpPr>
        <p:spPr>
          <a:xfrm>
            <a:off x="896112" y="5166360"/>
            <a:ext cx="5705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Служебные таблицы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entity_dictionary · query_cache · query_logs</a:t>
            </a:r>
            <a:endParaRPr lang="en-US" sz="1300" dirty="0"/>
          </a:p>
        </p:txBody>
      </p:sp>
      <p:sp>
        <p:nvSpPr>
          <p:cNvPr id="27" name="Arrow"/>
          <p:cNvSpPr/>
          <p:nvPr/>
        </p:nvSpPr>
        <p:spPr>
          <a:xfrm>
            <a:off x="6949440" y="2377440"/>
            <a:ext cx="45720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Arrow"/>
          <p:cNvSpPr/>
          <p:nvPr/>
        </p:nvSpPr>
        <p:spPr>
          <a:xfrm>
            <a:off x="7406640" y="2377440"/>
            <a:ext cx="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9" name="Arrow"/>
          <p:cNvSpPr/>
          <p:nvPr/>
        </p:nvSpPr>
        <p:spPr>
          <a:xfrm>
            <a:off x="6949440" y="2377440"/>
            <a:ext cx="100584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0" name="Arrow"/>
          <p:cNvSpPr/>
          <p:nvPr/>
        </p:nvSpPr>
        <p:spPr>
          <a:xfrm>
            <a:off x="7406640" y="2377440"/>
            <a:ext cx="0" cy="160020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Arrow"/>
          <p:cNvSpPr/>
          <p:nvPr/>
        </p:nvSpPr>
        <p:spPr>
          <a:xfrm>
            <a:off x="7406640" y="3977640"/>
            <a:ext cx="54864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2" name="Node price_facts"/>
          <p:cNvSpPr/>
          <p:nvPr/>
        </p:nvSpPr>
        <p:spPr>
          <a:xfrm>
            <a:off x="7955280" y="1874520"/>
            <a:ext cx="3474720" cy="100584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Label price_facts"/>
          <p:cNvSpPr txBox="1"/>
          <p:nvPr/>
        </p:nvSpPr>
        <p:spPr>
          <a:xfrm>
            <a:off x="8028432" y="1874520"/>
            <a:ext cx="33284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price_facts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file_id FK · item_name · supplier · price_type · value · is_blank</a:t>
            </a:r>
            <a:endParaRPr lang="en-US" sz="1400" dirty="0"/>
          </a:p>
        </p:txBody>
      </p:sp>
      <p:sp>
        <p:nvSpPr>
          <p:cNvPr id="34" name="Node metrics"/>
          <p:cNvSpPr/>
          <p:nvPr/>
        </p:nvSpPr>
        <p:spPr>
          <a:xfrm>
            <a:off x="7955280" y="3474720"/>
            <a:ext cx="3474720" cy="100584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Label metrics"/>
          <p:cNvSpPr txBox="1"/>
          <p:nvPr/>
        </p:nvSpPr>
        <p:spPr>
          <a:xfrm>
            <a:off x="8028432" y="3474720"/>
            <a:ext cx="33284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metrics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file_id FK · dimension · metric_type · value · is_blank</a:t>
            </a:r>
            <a:endParaRPr lang="en-US" sz="1400" dirty="0"/>
          </a:p>
        </p:txBody>
      </p:sp>
      <p:sp>
        <p:nvSpPr>
          <p:cNvPr id="36" name="Node supplier_aliases · sheet_templates"/>
          <p:cNvSpPr/>
          <p:nvPr/>
        </p:nvSpPr>
        <p:spPr>
          <a:xfrm>
            <a:off x="7955280" y="4846320"/>
            <a:ext cx="3474720" cy="100584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Label supplier_aliases · sheet_templates"/>
          <p:cNvSpPr txBox="1"/>
          <p:nvPr/>
        </p:nvSpPr>
        <p:spPr>
          <a:xfrm>
            <a:off x="8028432" y="4846320"/>
            <a:ext cx="33284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supplier_aliases · sheet_templates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канонические имена · шаблоны по fingerprint</a:t>
            </a:r>
            <a:endParaRPr lang="en-US" sz="1300" dirty="0"/>
          </a:p>
        </p:txBody>
      </p:sp>
      <p:sp>
        <p:nvSpPr>
          <p:cNvPr id="38" name="Arrow"/>
          <p:cNvSpPr/>
          <p:nvPr/>
        </p:nvSpPr>
        <p:spPr>
          <a:xfrm>
            <a:off x="6949440" y="2377440"/>
            <a:ext cx="100584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9" name="Text 37"/>
          <p:cNvSpPr txBox="1"/>
          <p:nvPr/>
        </p:nvSpPr>
        <p:spPr>
          <a:xfrm>
            <a:off x="6995160" y="208483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</a:rPr>
              <a:t>file_id</a:t>
            </a:r>
            <a:endParaRPr lang="en-US" sz="100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body" idx="102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LLM-АГЕНТ</a:t>
            </a:r>
            <a:endParaRPr lang="en-US" sz="1200" dirty="0"/>
          </a:p>
        </p:txBody>
      </p:sp>
      <p:sp>
        <p:nvSpPr>
          <p:cNvPr id="3" name="Text 2"/>
          <p:cNvSpPr>
            <a:spLocks noGrp="1"/>
          </p:cNvSpPr>
          <p:nvPr>
            <p:ph type="title" idx="103" hasCustomPrompt="1"/>
          </p:nvPr>
        </p:nvSpPr>
        <p:spPr>
          <a:xfrm>
            <a:off x="548640" y="68580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</a:rPr>
              <a:t>Граф LLM-агента (LangGraph)</a:t>
            </a:r>
            <a:endParaRPr lang="en-US" sz="3200" dirty="0"/>
          </a:p>
        </p:txBody>
      </p:sp>
      <p:sp>
        <p:nvSpPr>
          <p:cNvPr id="4" name="Node classifier"/>
          <p:cNvSpPr/>
          <p:nvPr/>
        </p:nvSpPr>
        <p:spPr>
          <a:xfrm>
            <a:off x="548640" y="2514600"/>
            <a:ext cx="128016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Label classifier"/>
          <p:cNvSpPr txBox="1"/>
          <p:nvPr/>
        </p:nvSpPr>
        <p:spPr>
          <a:xfrm>
            <a:off x="621792" y="2514600"/>
            <a:ext cx="1133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classifier</a:t>
            </a:r>
            <a:endParaRPr lang="en-US" sz="12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тип + домен</a:t>
            </a:r>
            <a:endParaRPr lang="en-US" sz="1200" dirty="0"/>
          </a:p>
        </p:txBody>
      </p:sp>
      <p:sp>
        <p:nvSpPr>
          <p:cNvPr id="6" name="Arrow"/>
          <p:cNvSpPr/>
          <p:nvPr/>
        </p:nvSpPr>
        <p:spPr>
          <a:xfrm>
            <a:off x="1828800" y="2948940"/>
            <a:ext cx="347472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7" name="Node disambiguation"/>
          <p:cNvSpPr/>
          <p:nvPr/>
        </p:nvSpPr>
        <p:spPr>
          <a:xfrm>
            <a:off x="2176272" y="2514600"/>
            <a:ext cx="128016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Label disambiguation"/>
          <p:cNvSpPr txBox="1"/>
          <p:nvPr/>
        </p:nvSpPr>
        <p:spPr>
          <a:xfrm>
            <a:off x="2249424" y="2514600"/>
            <a:ext cx="1133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disambiguation</a:t>
            </a:r>
            <a:endParaRPr lang="en-US" sz="12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уточнение</a:t>
            </a:r>
            <a:endParaRPr lang="en-US" sz="1200" dirty="0"/>
          </a:p>
        </p:txBody>
      </p:sp>
      <p:sp>
        <p:nvSpPr>
          <p:cNvPr id="9" name="Arrow"/>
          <p:cNvSpPr/>
          <p:nvPr/>
        </p:nvSpPr>
        <p:spPr>
          <a:xfrm>
            <a:off x="3456432" y="2948940"/>
            <a:ext cx="347472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0" name="Node planner"/>
          <p:cNvSpPr/>
          <p:nvPr/>
        </p:nvSpPr>
        <p:spPr>
          <a:xfrm>
            <a:off x="3803904" y="2514600"/>
            <a:ext cx="128016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Label planner"/>
          <p:cNvSpPr txBox="1"/>
          <p:nvPr/>
        </p:nvSpPr>
        <p:spPr>
          <a:xfrm>
            <a:off x="3877056" y="2514600"/>
            <a:ext cx="1133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planner</a:t>
            </a:r>
            <a:endParaRPr lang="en-US" sz="12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план</a:t>
            </a:r>
            <a:endParaRPr lang="en-US" sz="1200" dirty="0"/>
          </a:p>
        </p:txBody>
      </p:sp>
      <p:sp>
        <p:nvSpPr>
          <p:cNvPr id="12" name="Arrow"/>
          <p:cNvSpPr/>
          <p:nvPr/>
        </p:nvSpPr>
        <p:spPr>
          <a:xfrm>
            <a:off x="5084064" y="2948940"/>
            <a:ext cx="347472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3" name="Node codegen"/>
          <p:cNvSpPr/>
          <p:nvPr/>
        </p:nvSpPr>
        <p:spPr>
          <a:xfrm>
            <a:off x="5431536" y="2514600"/>
            <a:ext cx="128016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Label codegen"/>
          <p:cNvSpPr txBox="1"/>
          <p:nvPr/>
        </p:nvSpPr>
        <p:spPr>
          <a:xfrm>
            <a:off x="5504688" y="2514600"/>
            <a:ext cx="1133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codegen</a:t>
            </a:r>
            <a:endParaRPr lang="en-US" sz="12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SQL + валидация</a:t>
            </a:r>
            <a:endParaRPr lang="en-US" sz="1200" dirty="0"/>
          </a:p>
        </p:txBody>
      </p:sp>
      <p:sp>
        <p:nvSpPr>
          <p:cNvPr id="15" name="Arrow"/>
          <p:cNvSpPr/>
          <p:nvPr/>
        </p:nvSpPr>
        <p:spPr>
          <a:xfrm>
            <a:off x="6711696" y="2948940"/>
            <a:ext cx="347472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6" name="Node executor"/>
          <p:cNvSpPr/>
          <p:nvPr/>
        </p:nvSpPr>
        <p:spPr>
          <a:xfrm>
            <a:off x="7059168" y="2514600"/>
            <a:ext cx="128016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Label executor"/>
          <p:cNvSpPr txBox="1"/>
          <p:nvPr/>
        </p:nvSpPr>
        <p:spPr>
          <a:xfrm>
            <a:off x="7132320" y="2514600"/>
            <a:ext cx="1133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executor</a:t>
            </a:r>
            <a:endParaRPr lang="en-US" sz="12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SELECT read-only</a:t>
            </a:r>
            <a:endParaRPr lang="en-US" sz="1200" dirty="0"/>
          </a:p>
        </p:txBody>
      </p:sp>
      <p:sp>
        <p:nvSpPr>
          <p:cNvPr id="18" name="Arrow"/>
          <p:cNvSpPr/>
          <p:nvPr/>
        </p:nvSpPr>
        <p:spPr>
          <a:xfrm>
            <a:off x="8339328" y="2948940"/>
            <a:ext cx="347472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9" name="Node verifier"/>
          <p:cNvSpPr/>
          <p:nvPr/>
        </p:nvSpPr>
        <p:spPr>
          <a:xfrm>
            <a:off x="8686800" y="2514600"/>
            <a:ext cx="128016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Label verifier"/>
          <p:cNvSpPr txBox="1"/>
          <p:nvPr/>
        </p:nvSpPr>
        <p:spPr>
          <a:xfrm>
            <a:off x="8759952" y="2514600"/>
            <a:ext cx="1133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verifier</a:t>
            </a:r>
            <a:endParaRPr lang="en-US" sz="12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LLM-проверка</a:t>
            </a:r>
            <a:endParaRPr lang="en-US" sz="1200" dirty="0"/>
          </a:p>
        </p:txBody>
      </p:sp>
      <p:sp>
        <p:nvSpPr>
          <p:cNvPr id="21" name="Arrow"/>
          <p:cNvSpPr/>
          <p:nvPr/>
        </p:nvSpPr>
        <p:spPr>
          <a:xfrm>
            <a:off x="9966960" y="2948940"/>
            <a:ext cx="347472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2" name="Node answer"/>
          <p:cNvSpPr/>
          <p:nvPr/>
        </p:nvSpPr>
        <p:spPr>
          <a:xfrm>
            <a:off x="10314432" y="2514600"/>
            <a:ext cx="128016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Label answer"/>
          <p:cNvSpPr txBox="1"/>
          <p:nvPr/>
        </p:nvSpPr>
        <p:spPr>
          <a:xfrm>
            <a:off x="10387584" y="2514600"/>
            <a:ext cx="1133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answer</a:t>
            </a:r>
            <a:endParaRPr lang="en-US" sz="12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ответ + chart</a:t>
            </a:r>
            <a:endParaRPr lang="en-US" sz="1200" dirty="0"/>
          </a:p>
        </p:txBody>
      </p:sp>
      <p:sp>
        <p:nvSpPr>
          <p:cNvPr id="24" name="Node failed — ошибка графа"/>
          <p:cNvSpPr/>
          <p:nvPr/>
        </p:nvSpPr>
        <p:spPr>
          <a:xfrm>
            <a:off x="548640" y="1508760"/>
            <a:ext cx="7680960" cy="457200"/>
          </a:xfrm>
          <a:prstGeom prst="roundRect">
            <a:avLst>
              <a:gd name="adj" fmla="val 16000"/>
            </a:avLst>
          </a:prstGeom>
          <a:solidFill>
            <a:schemeClr val="tx2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Label failed — ошибка графа"/>
          <p:cNvSpPr txBox="1"/>
          <p:nvPr/>
        </p:nvSpPr>
        <p:spPr>
          <a:xfrm>
            <a:off x="621792" y="1508760"/>
            <a:ext cx="7534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6"/>
                </a:solidFill>
              </a:rPr>
              <a:t>failed — ошибка графа</a:t>
            </a:r>
            <a:endParaRPr lang="en-US" sz="1300" dirty="0"/>
          </a:p>
        </p:txBody>
      </p:sp>
      <p:sp>
        <p:nvSpPr>
          <p:cNvPr id="26" name="Arrow"/>
          <p:cNvSpPr/>
          <p:nvPr/>
        </p:nvSpPr>
        <p:spPr>
          <a:xfrm flipV="1">
            <a:off x="1188720" y="1965960"/>
            <a:ext cx="0" cy="54864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 txBox="1"/>
          <p:nvPr/>
        </p:nvSpPr>
        <p:spPr>
          <a:xfrm>
            <a:off x="1280160" y="2103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</a:rPr>
              <a:t>query_type = None</a:t>
            </a:r>
            <a:endParaRPr lang="en-US" sz="1000" dirty="0"/>
          </a:p>
        </p:txBody>
      </p:sp>
      <p:sp>
        <p:nvSpPr>
          <p:cNvPr id="28" name="Arrow"/>
          <p:cNvSpPr/>
          <p:nvPr/>
        </p:nvSpPr>
        <p:spPr>
          <a:xfrm flipV="1">
            <a:off x="6071616" y="1965960"/>
            <a:ext cx="0" cy="54864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 txBox="1"/>
          <p:nvPr/>
        </p:nvSpPr>
        <p:spPr>
          <a:xfrm>
            <a:off x="6163056" y="2103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</a:rPr>
              <a:t>SQL пуст · ретраи = 3</a:t>
            </a:r>
            <a:endParaRPr lang="en-US" sz="1000" dirty="0"/>
          </a:p>
        </p:txBody>
      </p:sp>
      <p:sp>
        <p:nvSpPr>
          <p:cNvPr id="30" name="Arrow"/>
          <p:cNvSpPr/>
          <p:nvPr/>
        </p:nvSpPr>
        <p:spPr>
          <a:xfrm flipV="1">
            <a:off x="7699248" y="1965960"/>
            <a:ext cx="0" cy="54864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 txBox="1"/>
          <p:nvPr/>
        </p:nvSpPr>
        <p:spPr>
          <a:xfrm>
            <a:off x="7790688" y="2103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</a:rPr>
              <a:t>sql_error · ретраи = 3</a:t>
            </a:r>
            <a:endParaRPr lang="en-US" sz="1000" dirty="0"/>
          </a:p>
        </p:txBody>
      </p:sp>
      <p:sp>
        <p:nvSpPr>
          <p:cNvPr id="32" name="Arrow"/>
          <p:cNvSpPr/>
          <p:nvPr/>
        </p:nvSpPr>
        <p:spPr>
          <a:xfrm>
            <a:off x="7699248" y="3383280"/>
            <a:ext cx="0" cy="502920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Arrow"/>
          <p:cNvSpPr/>
          <p:nvPr/>
        </p:nvSpPr>
        <p:spPr>
          <a:xfrm flipH="1">
            <a:off x="6309360" y="3886200"/>
            <a:ext cx="1389888" cy="0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Arrow"/>
          <p:cNvSpPr/>
          <p:nvPr/>
        </p:nvSpPr>
        <p:spPr>
          <a:xfrm flipV="1">
            <a:off x="6309360" y="3383280"/>
            <a:ext cx="0" cy="502920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5" name="Text 33"/>
          <p:cNvSpPr txBox="1"/>
          <p:nvPr/>
        </p:nvSpPr>
        <p:spPr>
          <a:xfrm>
            <a:off x="6400800" y="39319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</a:rPr>
              <a:t>sql_error · ретраи &lt; 3</a:t>
            </a:r>
            <a:endParaRPr lang="en-US" sz="1100" dirty="0"/>
          </a:p>
        </p:txBody>
      </p:sp>
      <p:sp>
        <p:nvSpPr>
          <p:cNvPr id="36" name="Arrow"/>
          <p:cNvSpPr/>
          <p:nvPr/>
        </p:nvSpPr>
        <p:spPr>
          <a:xfrm>
            <a:off x="9326880" y="3383280"/>
            <a:ext cx="0" cy="960120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Arrow"/>
          <p:cNvSpPr/>
          <p:nvPr/>
        </p:nvSpPr>
        <p:spPr>
          <a:xfrm flipH="1">
            <a:off x="5833872" y="4343400"/>
            <a:ext cx="3493008" cy="0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Arrow"/>
          <p:cNvSpPr/>
          <p:nvPr/>
        </p:nvSpPr>
        <p:spPr>
          <a:xfrm flipV="1">
            <a:off x="5833872" y="3383280"/>
            <a:ext cx="0" cy="960120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9" name="Text 37"/>
          <p:cNvSpPr txBox="1"/>
          <p:nvPr/>
        </p:nvSpPr>
        <p:spPr>
          <a:xfrm>
            <a:off x="5925312" y="43891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</a:rPr>
              <a:t>needs_retry · ретраи &lt; 3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9509760" y="361188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</a:rPr>
              <a:t>Валидация codegen: пустой SQL или ошибки → повтор (ретраи &lt; 3). При needs_retry и ретраях = 3 verifier передаёт управление в answer.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548640" y="47548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42" name="Node success"/>
          <p:cNvSpPr/>
          <p:nvPr/>
        </p:nvSpPr>
        <p:spPr>
          <a:xfrm>
            <a:off x="548640" y="5212080"/>
            <a:ext cx="356616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 w="1905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Label success"/>
          <p:cNvSpPr txBox="1"/>
          <p:nvPr/>
        </p:nvSpPr>
        <p:spPr>
          <a:xfrm>
            <a:off x="621792" y="5212080"/>
            <a:ext cx="3419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success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bg2"/>
                </a:solidFill>
              </a:rPr>
              <a:t>confidence ≥ 0.7</a:t>
            </a:r>
            <a:endParaRPr lang="en-US" sz="1400" dirty="0"/>
          </a:p>
        </p:txBody>
      </p:sp>
      <p:sp>
        <p:nvSpPr>
          <p:cNvPr id="44" name="Node low_confidence"/>
          <p:cNvSpPr/>
          <p:nvPr/>
        </p:nvSpPr>
        <p:spPr>
          <a:xfrm>
            <a:off x="4297680" y="5212080"/>
            <a:ext cx="356616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 w="1905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Label low_confidence"/>
          <p:cNvSpPr txBox="1"/>
          <p:nvPr/>
        </p:nvSpPr>
        <p:spPr>
          <a:xfrm>
            <a:off x="4370832" y="5212080"/>
            <a:ext cx="3419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low_confidence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bg2"/>
                </a:solidFill>
              </a:rPr>
              <a:t>confidence &lt; 0.7 → self-correction на уровне pipeline</a:t>
            </a:r>
            <a:endParaRPr lang="en-US" sz="1400" dirty="0"/>
          </a:p>
        </p:txBody>
      </p:sp>
      <p:sp>
        <p:nvSpPr>
          <p:cNvPr id="46" name="Node failed"/>
          <p:cNvSpPr/>
          <p:nvPr/>
        </p:nvSpPr>
        <p:spPr>
          <a:xfrm>
            <a:off x="8046720" y="5212080"/>
            <a:ext cx="356616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 w="1905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Label failed"/>
          <p:cNvSpPr txBox="1"/>
          <p:nvPr/>
        </p:nvSpPr>
        <p:spPr>
          <a:xfrm>
            <a:off x="8119872" y="5212080"/>
            <a:ext cx="3419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failed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bg2"/>
                </a:solidFill>
              </a:rPr>
              <a:t>ошибки графа</a:t>
            </a:r>
            <a:endParaRPr lang="en-US" sz="1400" dirty="0"/>
          </a:p>
        </p:txBody>
      </p:sp>
      <p:sp>
        <p:nvSpPr>
          <p:cNvPr id="4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body" idx="102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LLM-АГЕНТ</a:t>
            </a:r>
            <a:endParaRPr lang="en-US" sz="1200" dirty="0"/>
          </a:p>
        </p:txBody>
      </p:sp>
      <p:sp>
        <p:nvSpPr>
          <p:cNvPr id="3" name="Text 2"/>
          <p:cNvSpPr>
            <a:spLocks noGrp="1"/>
          </p:cNvSpPr>
          <p:nvPr>
            <p:ph type="title" idx="103" hasCustomPrompt="1"/>
          </p:nvPr>
        </p:nvSpPr>
        <p:spPr>
          <a:xfrm>
            <a:off x="548640" y="68580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</a:rPr>
              <a:t>Узлы агента</a:t>
            </a:r>
            <a:endParaRPr lang="en-US" sz="3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3532423"/>
              </p:ext>
            </p:extLst>
          </p:nvPr>
        </p:nvGraphicFramePr>
        <p:xfrm>
          <a:off x="548640" y="1463039"/>
          <a:ext cx="11109960" cy="4499223"/>
        </p:xfrm>
        <a:graphic>
          <a:graphicData uri="http://schemas.openxmlformats.org/drawingml/2006/table">
            <a:tbl>
              <a:tblPr/>
              <a:tblGrid>
                <a:gridCol w="17445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4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236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9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5A36"/>
                          </a:solidFill>
                        </a:rPr>
                        <a:t>Узел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6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5A36"/>
                          </a:solidFill>
                        </a:rPr>
                        <a:t>Что делает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6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5A36"/>
                          </a:solidFill>
                        </a:rPr>
                        <a:t>Ключевая деталь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6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28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classifier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C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Тип запроса (lookup, aggregate, cross_sheet, delta, sum_by_supplier, find_period) и домен (prices / metrics / generic)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C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Structured output (Pydantic)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C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9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disambiguation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Проверяет, нужно ли уточнение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interrupt() при необходимости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9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planner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C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Текстовый план действий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C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PlannerResult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C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9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codegen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SQL: LLM или детерминированный sql_compiler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Whitelist mart.*, только SELECT, баланс кавычек и скобок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9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executor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C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Выполняет SELECT с statement_timeout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C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Fallback-SQL при пустом результате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C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9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verifier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LLM-проверка SQL и результата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Fallback с confidence 0.75, если нет JSON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9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answer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C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Ответ на естественном языке + chart-данные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C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Временной ряд из sql_result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C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body" idx="102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LLM-АГЕНТ</a:t>
            </a:r>
            <a:endParaRPr lang="en-US" sz="1200" dirty="0"/>
          </a:p>
        </p:txBody>
      </p:sp>
      <p:sp>
        <p:nvSpPr>
          <p:cNvPr id="3" name="Text 2"/>
          <p:cNvSpPr>
            <a:spLocks noGrp="1"/>
          </p:cNvSpPr>
          <p:nvPr>
            <p:ph type="title" idx="103" hasCustomPrompt="1"/>
          </p:nvPr>
        </p:nvSpPr>
        <p:spPr>
          <a:xfrm>
            <a:off x="548640" y="68580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</a:rPr>
              <a:t>Безопасная генерация SQL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Детерминированные правки в codegen</a:t>
            </a:r>
            <a:endParaRPr lang="en-US" sz="1800" dirty="0"/>
          </a:p>
        </p:txBody>
      </p:sp>
      <p:sp>
        <p:nvSpPr>
          <p:cNvPr id="5" name="Node «Все виды меди»"/>
          <p:cNvSpPr/>
          <p:nvPr/>
        </p:nvSpPr>
        <p:spPr>
          <a:xfrm>
            <a:off x="548640" y="1920240"/>
            <a:ext cx="160020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Label «Все виды меди»"/>
          <p:cNvSpPr txBox="1"/>
          <p:nvPr/>
        </p:nvSpPr>
        <p:spPr>
          <a:xfrm>
            <a:off x="621792" y="1920240"/>
            <a:ext cx="1453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«Все виды меди»</a:t>
            </a:r>
            <a:endParaRPr lang="en-US" sz="1300" dirty="0"/>
          </a:p>
        </p:txBody>
      </p:sp>
      <p:sp>
        <p:nvSpPr>
          <p:cNvPr id="7" name="Arrow"/>
          <p:cNvSpPr/>
          <p:nvPr/>
        </p:nvSpPr>
        <p:spPr>
          <a:xfrm>
            <a:off x="2148840" y="2377440"/>
            <a:ext cx="36576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8" name="Node item_name ILIKE 'Лом меди%'"/>
          <p:cNvSpPr/>
          <p:nvPr/>
        </p:nvSpPr>
        <p:spPr>
          <a:xfrm>
            <a:off x="2514600" y="1920240"/>
            <a:ext cx="160020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Label item_name ILIKE 'Лом меди%'"/>
          <p:cNvSpPr txBox="1"/>
          <p:nvPr/>
        </p:nvSpPr>
        <p:spPr>
          <a:xfrm>
            <a:off x="2587752" y="1920240"/>
            <a:ext cx="1453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item_name ILIKE 'Лом меди%'</a:t>
            </a:r>
            <a:endParaRPr lang="en-US" sz="1200" dirty="0"/>
          </a:p>
        </p:txBody>
      </p:sp>
      <p:sp>
        <p:nvSpPr>
          <p:cNvPr id="10" name="Node Поставщик «Сплав-21»"/>
          <p:cNvSpPr/>
          <p:nvPr/>
        </p:nvSpPr>
        <p:spPr>
          <a:xfrm>
            <a:off x="4297680" y="1920240"/>
            <a:ext cx="160020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Label Поставщик «Сплав-21»"/>
          <p:cNvSpPr txBox="1"/>
          <p:nvPr/>
        </p:nvSpPr>
        <p:spPr>
          <a:xfrm>
            <a:off x="4370832" y="1920240"/>
            <a:ext cx="1453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Поставщик «Сплав-21»</a:t>
            </a:r>
            <a:endParaRPr lang="en-US" sz="1300" dirty="0"/>
          </a:p>
        </p:txBody>
      </p:sp>
      <p:sp>
        <p:nvSpPr>
          <p:cNvPr id="12" name="Arrow"/>
          <p:cNvSpPr/>
          <p:nvPr/>
        </p:nvSpPr>
        <p:spPr>
          <a:xfrm>
            <a:off x="5897880" y="2377440"/>
            <a:ext cx="36576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3" name="Node '%сплав21%'"/>
          <p:cNvSpPr/>
          <p:nvPr/>
        </p:nvSpPr>
        <p:spPr>
          <a:xfrm>
            <a:off x="6263640" y="1920240"/>
            <a:ext cx="160020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Label '%сплав21%'"/>
          <p:cNvSpPr txBox="1"/>
          <p:nvPr/>
        </p:nvSpPr>
        <p:spPr>
          <a:xfrm>
            <a:off x="6336792" y="1920240"/>
            <a:ext cx="1453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'%сплав21%'</a:t>
            </a:r>
            <a:endParaRPr lang="en-US" sz="1200" dirty="0"/>
          </a:p>
        </p:txBody>
      </p:sp>
      <p:sp>
        <p:nvSpPr>
          <p:cNvPr id="15" name="Node Булевы поля is_blank"/>
          <p:cNvSpPr/>
          <p:nvPr/>
        </p:nvSpPr>
        <p:spPr>
          <a:xfrm>
            <a:off x="8046720" y="1920240"/>
            <a:ext cx="160020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Label Булевы поля is_blank"/>
          <p:cNvSpPr txBox="1"/>
          <p:nvPr/>
        </p:nvSpPr>
        <p:spPr>
          <a:xfrm>
            <a:off x="8119872" y="1920240"/>
            <a:ext cx="1453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Булевы поля is_blank</a:t>
            </a:r>
            <a:endParaRPr lang="en-US" sz="1300" dirty="0"/>
          </a:p>
        </p:txBody>
      </p:sp>
      <p:sp>
        <p:nvSpPr>
          <p:cNvPr id="17" name="Arrow"/>
          <p:cNvSpPr/>
          <p:nvPr/>
        </p:nvSpPr>
        <p:spPr>
          <a:xfrm>
            <a:off x="9646920" y="2377440"/>
            <a:ext cx="36576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8" name="Node целые 0 / 1"/>
          <p:cNvSpPr/>
          <p:nvPr/>
        </p:nvSpPr>
        <p:spPr>
          <a:xfrm>
            <a:off x="10012680" y="1920240"/>
            <a:ext cx="160020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Label целые 0 / 1"/>
          <p:cNvSpPr txBox="1"/>
          <p:nvPr/>
        </p:nvSpPr>
        <p:spPr>
          <a:xfrm>
            <a:off x="10085832" y="1920240"/>
            <a:ext cx="1453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целые 0 / 1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3337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Валидация перед выполнением</a:t>
            </a:r>
            <a:endParaRPr lang="en-US" sz="1800" dirty="0"/>
          </a:p>
        </p:txBody>
      </p:sp>
      <p:sp>
        <p:nvSpPr>
          <p:cNvPr id="21" name="Card"/>
          <p:cNvSpPr/>
          <p:nvPr/>
        </p:nvSpPr>
        <p:spPr>
          <a:xfrm>
            <a:off x="548640" y="3794760"/>
            <a:ext cx="2633472" cy="1417320"/>
          </a:xfrm>
          <a:prstGeom prst="roundRect">
            <a:avLst>
              <a:gd name="adj" fmla="val 5161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Badge 1"/>
          <p:cNvSpPr/>
          <p:nvPr/>
        </p:nvSpPr>
        <p:spPr>
          <a:xfrm>
            <a:off x="731520" y="3931920"/>
            <a:ext cx="365760" cy="36576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 txBox="1"/>
          <p:nvPr/>
        </p:nvSpPr>
        <p:spPr>
          <a:xfrm>
            <a:off x="731520" y="3931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4434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Только SELECT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731520" y="47548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whitelist таблиц mart.*</a:t>
            </a:r>
            <a:endParaRPr lang="en-US" sz="1200" dirty="0"/>
          </a:p>
        </p:txBody>
      </p:sp>
      <p:sp>
        <p:nvSpPr>
          <p:cNvPr id="26" name="Card"/>
          <p:cNvSpPr/>
          <p:nvPr/>
        </p:nvSpPr>
        <p:spPr>
          <a:xfrm>
            <a:off x="3364992" y="3794760"/>
            <a:ext cx="2633472" cy="1417320"/>
          </a:xfrm>
          <a:prstGeom prst="roundRect">
            <a:avLst>
              <a:gd name="adj" fmla="val 5161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Badge 2"/>
          <p:cNvSpPr/>
          <p:nvPr/>
        </p:nvSpPr>
        <p:spPr>
          <a:xfrm>
            <a:off x="3547872" y="3931920"/>
            <a:ext cx="365760" cy="36576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 txBox="1"/>
          <p:nvPr/>
        </p:nvSpPr>
        <p:spPr>
          <a:xfrm>
            <a:off x="3547872" y="3931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3547872" y="4434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Blacklist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3547872" y="47548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INSERT · UPDATE · DELETE · DROP · ALTER</a:t>
            </a:r>
            <a:endParaRPr lang="en-US" sz="1200" dirty="0"/>
          </a:p>
        </p:txBody>
      </p:sp>
      <p:sp>
        <p:nvSpPr>
          <p:cNvPr id="31" name="Card"/>
          <p:cNvSpPr/>
          <p:nvPr/>
        </p:nvSpPr>
        <p:spPr>
          <a:xfrm>
            <a:off x="6181344" y="3794760"/>
            <a:ext cx="2633472" cy="1417320"/>
          </a:xfrm>
          <a:prstGeom prst="roundRect">
            <a:avLst>
              <a:gd name="adj" fmla="val 5161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Badge 3"/>
          <p:cNvSpPr/>
          <p:nvPr/>
        </p:nvSpPr>
        <p:spPr>
          <a:xfrm>
            <a:off x="6364224" y="3931920"/>
            <a:ext cx="365760" cy="36576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 txBox="1"/>
          <p:nvPr/>
        </p:nvSpPr>
        <p:spPr>
          <a:xfrm>
            <a:off x="6364224" y="3931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6364224" y="4434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Баланс скобок и кавычек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6364224" y="47548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детекция обрезанного SQL</a:t>
            </a:r>
            <a:endParaRPr lang="en-US" sz="1200" dirty="0"/>
          </a:p>
        </p:txBody>
      </p:sp>
      <p:sp>
        <p:nvSpPr>
          <p:cNvPr id="36" name="Card"/>
          <p:cNvSpPr/>
          <p:nvPr/>
        </p:nvSpPr>
        <p:spPr>
          <a:xfrm>
            <a:off x="8997696" y="3794760"/>
            <a:ext cx="2633472" cy="1417320"/>
          </a:xfrm>
          <a:prstGeom prst="roundRect">
            <a:avLst>
              <a:gd name="adj" fmla="val 5161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Badge 4"/>
          <p:cNvSpPr/>
          <p:nvPr/>
        </p:nvSpPr>
        <p:spPr>
          <a:xfrm>
            <a:off x="9180576" y="3931920"/>
            <a:ext cx="365760" cy="36576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 txBox="1"/>
          <p:nvPr/>
        </p:nvSpPr>
        <p:spPr>
          <a:xfrm>
            <a:off x="9180576" y="3931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4</a:t>
            </a:r>
            <a:endParaRPr lang="en-US" sz="1600" dirty="0"/>
          </a:p>
        </p:txBody>
      </p:sp>
      <p:sp>
        <p:nvSpPr>
          <p:cNvPr id="39" name="Text 37"/>
          <p:cNvSpPr txBox="1"/>
          <p:nvPr/>
        </p:nvSpPr>
        <p:spPr>
          <a:xfrm>
            <a:off x="9180576" y="4434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statement_timeout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9180576" y="47548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30 секунд</a:t>
            </a:r>
            <a:endParaRPr lang="en-US" sz="1200" dirty="0"/>
          </a:p>
        </p:txBody>
      </p:sp>
      <p:sp>
        <p:nvSpPr>
          <p:cNvPr id="41" name="Card"/>
          <p:cNvSpPr/>
          <p:nvPr/>
        </p:nvSpPr>
        <p:spPr>
          <a:xfrm>
            <a:off x="548640" y="5440680"/>
            <a:ext cx="11064240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40"/>
          <p:cNvSpPr txBox="1"/>
          <p:nvPr/>
        </p:nvSpPr>
        <p:spPr>
          <a:xfrm>
            <a:off x="822960" y="54406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sql_compiler.py — альтернатива LLM: компилирует структурированную спеку в безопасный SELECT без модели.</a:t>
            </a:r>
            <a:endParaRPr lang="en-US" sz="1500" dirty="0"/>
          </a:p>
        </p:txBody>
      </p:sp>
      <p:sp>
        <p:nvSpPr>
          <p:cNvPr id="4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body" idx="102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ИНТЕРФЕЙС И НАБЛЮДАЕМОСТЬ</a:t>
            </a:r>
            <a:endParaRPr lang="en-US" sz="1200" dirty="0"/>
          </a:p>
        </p:txBody>
      </p:sp>
      <p:sp>
        <p:nvSpPr>
          <p:cNvPr id="3" name="Text 2"/>
          <p:cNvSpPr>
            <a:spLocks noGrp="1"/>
          </p:cNvSpPr>
          <p:nvPr>
            <p:ph type="title" idx="103" hasCustomPrompt="1"/>
          </p:nvPr>
        </p:nvSpPr>
        <p:spPr>
          <a:xfrm>
            <a:off x="548640" y="68580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</a:rPr>
              <a:t>Наблюдаемость</a:t>
            </a:r>
            <a:endParaRPr lang="en-US" sz="3200" dirty="0"/>
          </a:p>
        </p:txBody>
      </p:sp>
      <p:sp>
        <p:nvSpPr>
          <p:cNvPr id="4" name="Node FastAPI"/>
          <p:cNvSpPr/>
          <p:nvPr/>
        </p:nvSpPr>
        <p:spPr>
          <a:xfrm>
            <a:off x="548640" y="1554480"/>
            <a:ext cx="3108960" cy="100584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Label FastAPI"/>
          <p:cNvSpPr txBox="1"/>
          <p:nvPr/>
        </p:nvSpPr>
        <p:spPr>
          <a:xfrm>
            <a:off x="621792" y="1554480"/>
            <a:ext cx="29626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FastAPI</a:t>
            </a:r>
            <a:endParaRPr lang="en-US" sz="16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/metrics · loguru · query_logs</a:t>
            </a:r>
            <a:endParaRPr lang="en-US" sz="1600" dirty="0"/>
          </a:p>
        </p:txBody>
      </p:sp>
      <p:sp>
        <p:nvSpPr>
          <p:cNvPr id="6" name="Arrow"/>
          <p:cNvSpPr/>
          <p:nvPr/>
        </p:nvSpPr>
        <p:spPr>
          <a:xfrm>
            <a:off x="3657600" y="2057400"/>
            <a:ext cx="77724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7" name="Node Prometheus"/>
          <p:cNvSpPr/>
          <p:nvPr/>
        </p:nvSpPr>
        <p:spPr>
          <a:xfrm>
            <a:off x="4434840" y="1554480"/>
            <a:ext cx="3108960" cy="100584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Label Prometheus"/>
          <p:cNvSpPr txBox="1"/>
          <p:nvPr/>
        </p:nvSpPr>
        <p:spPr>
          <a:xfrm>
            <a:off x="4507992" y="1554480"/>
            <a:ext cx="29626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Prometheus</a:t>
            </a:r>
            <a:endParaRPr lang="en-US" sz="16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:9090 · сбор метрик</a:t>
            </a:r>
            <a:endParaRPr lang="en-US" sz="1600" dirty="0"/>
          </a:p>
        </p:txBody>
      </p:sp>
      <p:sp>
        <p:nvSpPr>
          <p:cNvPr id="9" name="Arrow"/>
          <p:cNvSpPr/>
          <p:nvPr/>
        </p:nvSpPr>
        <p:spPr>
          <a:xfrm>
            <a:off x="7543800" y="2057400"/>
            <a:ext cx="77724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0" name="Node Grafana"/>
          <p:cNvSpPr/>
          <p:nvPr/>
        </p:nvSpPr>
        <p:spPr>
          <a:xfrm>
            <a:off x="8321040" y="1554480"/>
            <a:ext cx="3108960" cy="100584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Label Grafana"/>
          <p:cNvSpPr txBox="1"/>
          <p:nvPr/>
        </p:nvSpPr>
        <p:spPr>
          <a:xfrm>
            <a:off x="8394192" y="1554480"/>
            <a:ext cx="29626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Grafana</a:t>
            </a:r>
            <a:endParaRPr lang="en-US" sz="16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:3001 · визуализация</a:t>
            </a:r>
            <a:endParaRPr lang="en-US" sz="1600" dirty="0"/>
          </a:p>
        </p:txBody>
      </p:sp>
      <p:sp>
        <p:nvSpPr>
          <p:cNvPr id="12" name="Arrow"/>
          <p:cNvSpPr/>
          <p:nvPr/>
        </p:nvSpPr>
        <p:spPr>
          <a:xfrm>
            <a:off x="2103120" y="2560320"/>
            <a:ext cx="0" cy="64008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3" name="Card"/>
          <p:cNvSpPr/>
          <p:nvPr/>
        </p:nvSpPr>
        <p:spPr>
          <a:xfrm>
            <a:off x="548640" y="3200400"/>
            <a:ext cx="3108960" cy="2651760"/>
          </a:xfrm>
          <a:prstGeom prst="roundRect">
            <a:avLst>
              <a:gd name="adj" fmla="val 2759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777240" y="33832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query_logs и логи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3886200"/>
            <a:ext cx="2651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Журнал запросов: latency по узлам, тексты ошибок, полные трейсы (страница «Трейс»). Логи loguru собираются в Docker Compose.</a:t>
            </a:r>
            <a:endParaRPr lang="en-US" sz="1400" dirty="0"/>
          </a:p>
        </p:txBody>
      </p:sp>
      <p:sp>
        <p:nvSpPr>
          <p:cNvPr id="16" name="Card"/>
          <p:cNvSpPr/>
          <p:nvPr/>
        </p:nvSpPr>
        <p:spPr>
          <a:xfrm>
            <a:off x="4434840" y="3200400"/>
            <a:ext cx="3108960" cy="2651760"/>
          </a:xfrm>
          <a:prstGeom prst="roundRect">
            <a:avLst>
              <a:gd name="adj" fmla="val 2759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4663440" y="33832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Метрики Prometheus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4663440" y="3886200"/>
            <a:ext cx="2651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RPS и латентность /ask · latency каждого узла графа · доля failed / low_confidence · token usage LLM</a:t>
            </a:r>
            <a:endParaRPr lang="en-US" sz="1400" dirty="0"/>
          </a:p>
        </p:txBody>
      </p:sp>
      <p:sp>
        <p:nvSpPr>
          <p:cNvPr id="19" name="Card"/>
          <p:cNvSpPr/>
          <p:nvPr/>
        </p:nvSpPr>
        <p:spPr>
          <a:xfrm>
            <a:off x="8321040" y="3200400"/>
            <a:ext cx="3108960" cy="2651760"/>
          </a:xfrm>
          <a:prstGeom prst="roundRect">
            <a:avLst>
              <a:gd name="adj" fmla="val 2759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 txBox="1"/>
          <p:nvPr/>
        </p:nvSpPr>
        <p:spPr>
          <a:xfrm>
            <a:off x="8549640" y="33832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Дашборды Grafana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8549640" y="3886200"/>
            <a:ext cx="2651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Подключаются через provisioning datasource, поднимаются вместе с остальными сервисами в Docker Compose.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body" idx="102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КАЧЕСТВО</a:t>
            </a:r>
            <a:endParaRPr lang="en-US" sz="1200" dirty="0"/>
          </a:p>
        </p:txBody>
      </p:sp>
      <p:sp>
        <p:nvSpPr>
          <p:cNvPr id="3" name="Text 2"/>
          <p:cNvSpPr>
            <a:spLocks noGrp="1"/>
          </p:cNvSpPr>
          <p:nvPr>
            <p:ph type="title" idx="103" hasCustomPrompt="1"/>
          </p:nvPr>
        </p:nvSpPr>
        <p:spPr>
          <a:xfrm>
            <a:off x="548640" y="68580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</a:rPr>
              <a:t>CI — GitHub Actions</a:t>
            </a:r>
            <a:endParaRPr lang="en-US" sz="3200" dirty="0"/>
          </a:p>
        </p:txBody>
      </p:sp>
      <p:sp>
        <p:nvSpPr>
          <p:cNvPr id="4" name="Node Триггер"/>
          <p:cNvSpPr/>
          <p:nvPr/>
        </p:nvSpPr>
        <p:spPr>
          <a:xfrm>
            <a:off x="548640" y="1737360"/>
            <a:ext cx="2743200" cy="1188720"/>
          </a:xfrm>
          <a:prstGeom prst="roundRect">
            <a:avLst>
              <a:gd name="adj" fmla="val 6154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Label Триггер"/>
          <p:cNvSpPr txBox="1"/>
          <p:nvPr/>
        </p:nvSpPr>
        <p:spPr>
          <a:xfrm>
            <a:off x="621792" y="1737360"/>
            <a:ext cx="25968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Триггер</a:t>
            </a:r>
            <a:endParaRPr lang="en-US" sz="16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push в main / master или pull_request</a:t>
            </a:r>
            <a:endParaRPr lang="en-US" sz="1600" dirty="0"/>
          </a:p>
        </p:txBody>
      </p:sp>
      <p:sp>
        <p:nvSpPr>
          <p:cNvPr id="6" name="Arrow"/>
          <p:cNvSpPr/>
          <p:nvPr/>
        </p:nvSpPr>
        <p:spPr>
          <a:xfrm>
            <a:off x="3291840" y="2331720"/>
            <a:ext cx="82296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7" name="Node unit"/>
          <p:cNvSpPr/>
          <p:nvPr/>
        </p:nvSpPr>
        <p:spPr>
          <a:xfrm>
            <a:off x="4114800" y="1737360"/>
            <a:ext cx="3291840" cy="1188720"/>
          </a:xfrm>
          <a:prstGeom prst="roundRect">
            <a:avLst>
              <a:gd name="adj" fmla="val 6154"/>
            </a:avLst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Label unit"/>
          <p:cNvSpPr txBox="1"/>
          <p:nvPr/>
        </p:nvSpPr>
        <p:spPr>
          <a:xfrm>
            <a:off x="4187952" y="1737360"/>
            <a:ext cx="31455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unit</a:t>
            </a:r>
            <a:endParaRPr lang="en-US" sz="18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pytest tests/ · Ubuntu · Python 3.12 · без БД и LLM</a:t>
            </a:r>
            <a:endParaRPr lang="en-US" sz="1800" dirty="0"/>
          </a:p>
        </p:txBody>
      </p:sp>
      <p:sp>
        <p:nvSpPr>
          <p:cNvPr id="9" name="Arrow"/>
          <p:cNvSpPr/>
          <p:nvPr/>
        </p:nvSpPr>
        <p:spPr>
          <a:xfrm>
            <a:off x="7406640" y="2331720"/>
            <a:ext cx="82296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7406640" y="20116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needs</a:t>
            </a:r>
            <a:endParaRPr lang="en-US" sz="1100" dirty="0"/>
          </a:p>
        </p:txBody>
      </p:sp>
      <p:sp>
        <p:nvSpPr>
          <p:cNvPr id="11" name="Node integration"/>
          <p:cNvSpPr/>
          <p:nvPr/>
        </p:nvSpPr>
        <p:spPr>
          <a:xfrm>
            <a:off x="8229600" y="1737360"/>
            <a:ext cx="3383280" cy="1188720"/>
          </a:xfrm>
          <a:prstGeom prst="roundRect">
            <a:avLst>
              <a:gd name="adj" fmla="val 6154"/>
            </a:avLst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Label integration"/>
          <p:cNvSpPr txBox="1"/>
          <p:nvPr/>
        </p:nvSpPr>
        <p:spPr>
          <a:xfrm>
            <a:off x="8302752" y="1737360"/>
            <a:ext cx="32369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integration</a:t>
            </a:r>
            <a:endParaRPr lang="en-US" sz="18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pytest tests/integration · TEST_POSTGRES_URL</a:t>
            </a:r>
            <a:endParaRPr lang="en-US" sz="1800" dirty="0"/>
          </a:p>
        </p:txBody>
      </p:sp>
      <p:sp>
        <p:nvSpPr>
          <p:cNvPr id="13" name="Arrow"/>
          <p:cNvSpPr/>
          <p:nvPr/>
        </p:nvSpPr>
        <p:spPr>
          <a:xfrm flipV="1">
            <a:off x="9921240" y="2926080"/>
            <a:ext cx="0" cy="914400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4" name="Node service: postgres:16"/>
          <p:cNvSpPr/>
          <p:nvPr/>
        </p:nvSpPr>
        <p:spPr>
          <a:xfrm>
            <a:off x="8229600" y="3840480"/>
            <a:ext cx="3383280" cy="100584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Label service: postgres:16"/>
          <p:cNvSpPr txBox="1"/>
          <p:nvPr/>
        </p:nvSpPr>
        <p:spPr>
          <a:xfrm>
            <a:off x="8302752" y="3840480"/>
            <a:ext cx="32369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service: postgres:16</a:t>
            </a:r>
            <a:endParaRPr lang="en-US" sz="15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healthcheck · схемы public + mart</a:t>
            </a:r>
            <a:endParaRPr lang="en-US" sz="1500" dirty="0"/>
          </a:p>
        </p:txBody>
      </p:sp>
      <p:sp>
        <p:nvSpPr>
          <p:cNvPr id="16" name="Card"/>
          <p:cNvSpPr/>
          <p:nvPr/>
        </p:nvSpPr>
        <p:spPr>
          <a:xfrm>
            <a:off x="548640" y="3840480"/>
            <a:ext cx="6858000" cy="100584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822960" y="384048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Один workflow ci.yml: юнит-тесты запускаются первыми, интеграционные стартуют только после них.</a:t>
            </a:r>
            <a:endParaRPr lang="en-US" sz="1500" dirty="0"/>
          </a:p>
        </p:txBody>
      </p:sp>
      <p:sp>
        <p:nvSpPr>
          <p:cNvPr id="18" name="Card"/>
          <p:cNvSpPr/>
          <p:nvPr/>
        </p:nvSpPr>
        <p:spPr>
          <a:xfrm>
            <a:off x="548640" y="5212080"/>
            <a:ext cx="11064240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822960" y="52120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Quality gate на каждый push и pull_request: логика парсера, нормализации, классификатора и sql_compiler проверяется автоматически.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itle 2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457200"/>
            <a:ext cx="457200" cy="64008"/>
          </a:xfrm>
          <a:prstGeom prst="rect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56692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C7293"/>
                </a:solidFill>
                <a:latin typeface="Calibri"/>
              </a:rPr>
              <a:t>КАЧЕСТВО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1106424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 dirty="0" err="1">
                <a:solidFill>
                  <a:srgbClr val="FFFFFF"/>
                </a:solidFill>
                <a:latin typeface="Calibri"/>
              </a:rPr>
              <a:t>Метрики</a:t>
            </a:r>
            <a:r>
              <a:rPr sz="30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3000" b="1" i="0" dirty="0" err="1">
                <a:solidFill>
                  <a:srgbClr val="FFFFFF"/>
                </a:solidFill>
                <a:latin typeface="Calibri"/>
              </a:rPr>
              <a:t>качества</a:t>
            </a:r>
            <a:r>
              <a:rPr lang="en-US" sz="30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lang="ru-RU" sz="3000" b="1" i="0" dirty="0">
                <a:solidFill>
                  <a:srgbClr val="FFFFFF"/>
                </a:solidFill>
                <a:latin typeface="Calibri"/>
              </a:rPr>
              <a:t>на бенчмарке</a:t>
            </a:r>
            <a:endParaRPr sz="30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7A6"/>
                </a:solidFill>
                <a:latin typeface="Calibri"/>
              </a:rPr>
              <a:t>EVRAZ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7A6"/>
                </a:solidFill>
                <a:latin typeface="Calibri"/>
              </a:rPr>
              <a:t>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783080"/>
            <a:ext cx="5394960" cy="1417320"/>
          </a:xfrm>
          <a:prstGeom prst="roundRect">
            <a:avLst>
              <a:gd name="adj" fmla="val 8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1947672"/>
            <a:ext cx="2011680" cy="523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3400" b="1" dirty="0">
                <a:solidFill>
                  <a:srgbClr val="FF5A36"/>
                </a:solidFill>
                <a:latin typeface="Calibri"/>
              </a:rPr>
              <a:t>100</a:t>
            </a:r>
            <a:r>
              <a:rPr sz="3400" b="1" i="0" dirty="0">
                <a:solidFill>
                  <a:srgbClr val="FF5A36"/>
                </a:solidFill>
                <a:latin typeface="Calibri"/>
              </a:rPr>
              <a:t>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1984248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pass rate бенчмарка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350008"/>
            <a:ext cx="2926080" cy="3795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 dirty="0">
                <a:solidFill>
                  <a:srgbClr val="8A97A6"/>
                </a:solidFill>
                <a:latin typeface="Calibri"/>
              </a:rPr>
              <a:t>5 </a:t>
            </a:r>
            <a:r>
              <a:rPr sz="1150" b="0" i="0" dirty="0" err="1">
                <a:solidFill>
                  <a:srgbClr val="8A97A6"/>
                </a:solidFill>
                <a:latin typeface="Calibri"/>
              </a:rPr>
              <a:t>из</a:t>
            </a:r>
            <a:r>
              <a:rPr sz="1150" b="0" i="0" dirty="0">
                <a:solidFill>
                  <a:srgbClr val="8A97A6"/>
                </a:solidFill>
                <a:latin typeface="Calibri"/>
              </a:rPr>
              <a:t> </a:t>
            </a:r>
            <a:r>
              <a:rPr lang="en-US" sz="1150" b="0" i="0" dirty="0">
                <a:solidFill>
                  <a:srgbClr val="8A97A6"/>
                </a:solidFill>
                <a:latin typeface="Calibri"/>
              </a:rPr>
              <a:t>5</a:t>
            </a:r>
            <a:r>
              <a:rPr sz="1150" b="0" i="0" dirty="0">
                <a:solidFill>
                  <a:srgbClr val="8A97A6"/>
                </a:solidFill>
                <a:latin typeface="Calibri"/>
              </a:rPr>
              <a:t> </a:t>
            </a:r>
            <a:r>
              <a:rPr sz="1150" b="0" i="0" dirty="0" err="1">
                <a:solidFill>
                  <a:srgbClr val="8A97A6"/>
                </a:solidFill>
                <a:latin typeface="Calibri"/>
              </a:rPr>
              <a:t>запросов</a:t>
            </a:r>
            <a:r>
              <a:rPr sz="1150" b="0" i="0" dirty="0">
                <a:solidFill>
                  <a:srgbClr val="8A97A6"/>
                </a:solidFill>
                <a:latin typeface="Calibri"/>
              </a:rPr>
              <a:t> </a:t>
            </a:r>
            <a:r>
              <a:rPr sz="1150" b="0" i="0" dirty="0" err="1">
                <a:solidFill>
                  <a:srgbClr val="8A97A6"/>
                </a:solidFill>
                <a:latin typeface="Calibri"/>
              </a:rPr>
              <a:t>прошли</a:t>
            </a:r>
            <a:r>
              <a:rPr sz="1150" b="0" i="0" dirty="0">
                <a:solidFill>
                  <a:srgbClr val="8A97A6"/>
                </a:solidFill>
                <a:latin typeface="Calibri"/>
              </a:rPr>
              <a:t> </a:t>
            </a:r>
            <a:r>
              <a:rPr sz="1150" b="0" i="0" dirty="0" err="1">
                <a:solidFill>
                  <a:srgbClr val="8A97A6"/>
                </a:solidFill>
                <a:latin typeface="Calibri"/>
              </a:rPr>
              <a:t>проверку</a:t>
            </a:r>
            <a:r>
              <a:rPr sz="1150" b="0" i="0" dirty="0">
                <a:solidFill>
                  <a:srgbClr val="8A97A6"/>
                </a:solidFill>
                <a:latin typeface="Calibri"/>
              </a:rPr>
              <a:t> </a:t>
            </a:r>
            <a:r>
              <a:rPr sz="1150" b="0" i="0" dirty="0" err="1">
                <a:solidFill>
                  <a:srgbClr val="8A97A6"/>
                </a:solidFill>
                <a:latin typeface="Calibri"/>
              </a:rPr>
              <a:t>по</a:t>
            </a:r>
            <a:r>
              <a:rPr sz="1150" b="0" i="0" dirty="0">
                <a:solidFill>
                  <a:srgbClr val="8A97A6"/>
                </a:solidFill>
                <a:latin typeface="Calibri"/>
              </a:rPr>
              <a:t> </a:t>
            </a:r>
            <a:r>
              <a:rPr sz="1150" b="0" i="0" dirty="0" err="1">
                <a:solidFill>
                  <a:srgbClr val="8A97A6"/>
                </a:solidFill>
                <a:latin typeface="Calibri"/>
              </a:rPr>
              <a:t>числу</a:t>
            </a:r>
            <a:r>
              <a:rPr sz="1150" b="0" i="0" dirty="0">
                <a:solidFill>
                  <a:srgbClr val="8A97A6"/>
                </a:solidFill>
                <a:latin typeface="Calibri"/>
              </a:rPr>
              <a:t> (</a:t>
            </a:r>
            <a:r>
              <a:rPr sz="1150" b="0" i="0" dirty="0" err="1">
                <a:solidFill>
                  <a:srgbClr val="8A97A6"/>
                </a:solidFill>
                <a:latin typeface="Calibri"/>
              </a:rPr>
              <a:t>допуск</a:t>
            </a:r>
            <a:r>
              <a:rPr sz="1150" b="0" i="0" dirty="0">
                <a:solidFill>
                  <a:srgbClr val="8A97A6"/>
                </a:solidFill>
                <a:latin typeface="Calibri"/>
              </a:rPr>
              <a:t> 1%)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783080"/>
            <a:ext cx="5394960" cy="1417320"/>
          </a:xfrm>
          <a:prstGeom prst="roundRect">
            <a:avLst>
              <a:gd name="adj" fmla="val 8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0" y="1947672"/>
            <a:ext cx="2011680" cy="523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 dirty="0">
                <a:solidFill>
                  <a:srgbClr val="FF5A36"/>
                </a:solidFill>
                <a:latin typeface="Calibri"/>
              </a:rPr>
              <a:t>17–34 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1984248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простые запросы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350008"/>
            <a:ext cx="29260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8A97A6"/>
                </a:solidFill>
                <a:latin typeface="Calibri"/>
              </a:rPr>
              <a:t>lookup / aggregate — десятки миллисекунд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46120" y="3439450"/>
            <a:ext cx="5394960" cy="1417320"/>
          </a:xfrm>
          <a:prstGeom prst="roundRect">
            <a:avLst>
              <a:gd name="adj" fmla="val 8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97580" y="3567560"/>
            <a:ext cx="2011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 dirty="0">
                <a:solidFill>
                  <a:srgbClr val="FF5A36"/>
                </a:solidFill>
                <a:latin typeface="Calibri"/>
              </a:rPr>
              <a:t>100%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7445" y="3620068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dirty="0">
                <a:solidFill>
                  <a:srgbClr val="FFFFFF"/>
                </a:solidFill>
                <a:latin typeface="Calibri"/>
              </a:rPr>
              <a:t>traceability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87495" y="4166445"/>
            <a:ext cx="29260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 dirty="0">
                <a:solidFill>
                  <a:srgbClr val="8A97A6"/>
                </a:solidFill>
                <a:latin typeface="Calibri"/>
              </a:rPr>
              <a:t>SQL + </a:t>
            </a:r>
            <a:r>
              <a:rPr sz="1150" b="0" i="0" dirty="0" err="1">
                <a:solidFill>
                  <a:srgbClr val="8A97A6"/>
                </a:solidFill>
                <a:latin typeface="Calibri"/>
              </a:rPr>
              <a:t>результат</a:t>
            </a:r>
            <a:r>
              <a:rPr sz="1150" b="0" i="0" dirty="0">
                <a:solidFill>
                  <a:srgbClr val="8A97A6"/>
                </a:solidFill>
                <a:latin typeface="Calibri"/>
              </a:rPr>
              <a:t> + </a:t>
            </a:r>
            <a:r>
              <a:rPr sz="1150" b="0" i="0" dirty="0" err="1">
                <a:solidFill>
                  <a:srgbClr val="8A97A6"/>
                </a:solidFill>
                <a:latin typeface="Calibri"/>
              </a:rPr>
              <a:t>источники</a:t>
            </a:r>
            <a:r>
              <a:rPr sz="1150" b="0" i="0" dirty="0">
                <a:solidFill>
                  <a:srgbClr val="8A97A6"/>
                </a:solidFill>
                <a:latin typeface="Calibri"/>
              </a:rPr>
              <a:t> </a:t>
            </a:r>
            <a:r>
              <a:rPr sz="1150" b="0" i="0" dirty="0" err="1">
                <a:solidFill>
                  <a:srgbClr val="8A97A6"/>
                </a:solidFill>
                <a:latin typeface="Calibri"/>
              </a:rPr>
              <a:t>для</a:t>
            </a:r>
            <a:r>
              <a:rPr sz="1150" b="0" i="0" dirty="0">
                <a:solidFill>
                  <a:srgbClr val="8A97A6"/>
                </a:solidFill>
                <a:latin typeface="Calibri"/>
              </a:rPr>
              <a:t> </a:t>
            </a:r>
            <a:r>
              <a:rPr sz="1150" b="0" i="0" dirty="0" err="1">
                <a:solidFill>
                  <a:srgbClr val="8A97A6"/>
                </a:solidFill>
                <a:latin typeface="Calibri"/>
              </a:rPr>
              <a:t>каждого</a:t>
            </a:r>
            <a:r>
              <a:rPr sz="1150" b="0" i="0" dirty="0">
                <a:solidFill>
                  <a:srgbClr val="8A97A6"/>
                </a:solidFill>
                <a:latin typeface="Calibri"/>
              </a:rPr>
              <a:t> </a:t>
            </a:r>
            <a:r>
              <a:rPr sz="1150" b="0" i="0" dirty="0" err="1">
                <a:solidFill>
                  <a:srgbClr val="8A97A6"/>
                </a:solidFill>
                <a:latin typeface="Calibri"/>
              </a:rPr>
              <a:t>ответа</a:t>
            </a:r>
            <a:endParaRPr sz="1150" b="0" i="0" dirty="0">
              <a:solidFill>
                <a:srgbClr val="8A97A6"/>
              </a:solidFill>
              <a:latin typeface="Calibr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48640" y="4864608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Бенчмарк запросов (benchmark/results_first6.json)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1044707"/>
              </p:ext>
            </p:extLst>
          </p:nvPr>
        </p:nvGraphicFramePr>
        <p:xfrm>
          <a:off x="548640" y="5193792"/>
          <a:ext cx="1106424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Тип запроса</a:t>
                      </a:r>
                    </a:p>
                  </a:txBody>
                  <a:tcPr marT="27432" marB="27432" anchor="ctr"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Пример</a:t>
                      </a:r>
                    </a:p>
                  </a:txBody>
                  <a:tcPr marT="27432" marB="27432" anchor="ctr"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Результат</a:t>
                      </a:r>
                    </a:p>
                  </a:txBody>
                  <a:tcPr marT="27432" marB="27432" anchor="ctr"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Латентность</a:t>
                      </a:r>
                    </a:p>
                  </a:txBody>
                  <a:tcPr marT="27432" marB="27432" anchor="ctr">
                    <a:solidFill>
                      <a:srgbClr val="1C72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1F24"/>
                          </a:solidFill>
                          <a:latin typeface="Calibri"/>
                        </a:rPr>
                        <a:t>lookup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1F24"/>
                          </a:solidFill>
                          <a:latin typeface="Calibri"/>
                        </a:rPr>
                        <a:t>среднерыночная цена на Лом алюминия, ноябрь 2025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1F24"/>
                          </a:solidFill>
                          <a:latin typeface="Calibri"/>
                        </a:rPr>
                        <a:t>153 369,75 ₽/тн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1B1F24"/>
                          </a:solidFill>
                          <a:latin typeface="Calibri"/>
                        </a:rPr>
                        <a:t>26 с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1F24"/>
                          </a:solidFill>
                          <a:latin typeface="Calibri"/>
                        </a:rPr>
                        <a:t>aggregate</a:t>
                      </a:r>
                    </a:p>
                  </a:txBody>
                  <a:tcPr marT="27432" marB="27432"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1F24"/>
                          </a:solidFill>
                          <a:latin typeface="Calibri"/>
                        </a:rPr>
                        <a:t>средняя цена медного лома у Ферроком, февраль 2025</a:t>
                      </a:r>
                    </a:p>
                  </a:txBody>
                  <a:tcPr marT="27432" marB="27432"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1F24"/>
                          </a:solidFill>
                          <a:latin typeface="Calibri"/>
                        </a:rPr>
                        <a:t>696 625,15 ₽/тн</a:t>
                      </a:r>
                    </a:p>
                  </a:txBody>
                  <a:tcPr marT="27432" marB="27432"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1B1F24"/>
                          </a:solidFill>
                          <a:latin typeface="Calibri"/>
                        </a:rPr>
                        <a:t>21 с</a:t>
                      </a:r>
                    </a:p>
                  </a:txBody>
                  <a:tcPr marT="27432" marB="27432" anchor="ctr">
                    <a:solidFill>
                      <a:srgbClr val="F0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1F24"/>
                          </a:solidFill>
                          <a:latin typeface="Calibri"/>
                        </a:rPr>
                        <a:t>delta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1F24"/>
                          </a:solidFill>
                          <a:latin typeface="Calibri"/>
                        </a:rPr>
                        <a:t>дельта мин/макс по 4 поставщикам, февраль 2025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1F24"/>
                          </a:solidFill>
                          <a:latin typeface="Calibri"/>
                        </a:rPr>
                        <a:t>438 350,10 ₽/тн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1F24"/>
                          </a:solidFill>
                          <a:latin typeface="Calibri"/>
                        </a:rPr>
                        <a:t>76 с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1F24"/>
                          </a:solidFill>
                          <a:latin typeface="Calibri"/>
                        </a:rPr>
                        <a:t>cross_sheet</a:t>
                      </a:r>
                    </a:p>
                  </a:txBody>
                  <a:tcPr marT="27432" marB="27432"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1F24"/>
                          </a:solidFill>
                          <a:latin typeface="Calibri"/>
                        </a:rPr>
                        <a:t>максимум среднерыночной цены за 2025 год</a:t>
                      </a:r>
                    </a:p>
                  </a:txBody>
                  <a:tcPr marT="27432" marB="27432"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1F24"/>
                          </a:solidFill>
                          <a:latin typeface="Calibri"/>
                        </a:rPr>
                        <a:t>906 729,75 ₽/тн</a:t>
                      </a:r>
                    </a:p>
                  </a:txBody>
                  <a:tcPr marT="27432" marB="27432"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1B1F24"/>
                          </a:solidFill>
                          <a:latin typeface="Calibri"/>
                        </a:rPr>
                        <a:t>85 с</a:t>
                      </a:r>
                    </a:p>
                  </a:txBody>
                  <a:tcPr marT="27432" marB="27432" anchor="ctr">
                    <a:solidFill>
                      <a:srgbClr val="F0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itle 2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457200"/>
            <a:ext cx="457200" cy="64008"/>
          </a:xfrm>
          <a:prstGeom prst="rect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56692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C7293"/>
                </a:solidFill>
                <a:latin typeface="Calibri"/>
              </a:rPr>
              <a:t>ДЕМОНСТРАЦИЯ И РАЗВЁРТЫВАНИЕ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110642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Примеры запросов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7A6"/>
                </a:solidFill>
                <a:latin typeface="Calibri"/>
              </a:rPr>
              <a:t>EVRAZ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7A6"/>
                </a:solidFill>
                <a:latin typeface="Calibri"/>
              </a:rPr>
              <a:t>27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783080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77240" y="1984248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2020824"/>
            <a:ext cx="14173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lookup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404872"/>
            <a:ext cx="49377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8A97A6"/>
                </a:solidFill>
                <a:latin typeface="Calibri"/>
              </a:rPr>
              <a:t>«Сколько составила среднерыночная цена на Лом алюминия в ноябре 2025 года?»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172968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B199"/>
                </a:solidFill>
                <a:latin typeface="Calibri"/>
              </a:rPr>
              <a:t>→  153 369,75 ₽/тн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83080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400800" y="1984248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0" y="2020824"/>
            <a:ext cx="14173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aggregate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404872"/>
            <a:ext cx="49377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8A97A6"/>
                </a:solidFill>
                <a:latin typeface="Calibri"/>
              </a:rPr>
              <a:t>«Средняя цена на все виды медного лома по данным Ферроком в феврале 2025?»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172968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B199"/>
                </a:solidFill>
                <a:latin typeface="Calibri"/>
              </a:rPr>
              <a:t>→  696 625,15 ₽/тн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749039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77240" y="3950207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" y="3986783"/>
            <a:ext cx="14173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delta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370831"/>
            <a:ext cx="49377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8A97A6"/>
                </a:solidFill>
                <a:latin typeface="Calibri"/>
              </a:rPr>
              <a:t>«Дельта между мин и макс ценой на медный лом (Ферроком, Сплав-21, ЦветМет, Шами-сервис) в феврале 2025?»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138927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B199"/>
                </a:solidFill>
                <a:latin typeface="Calibri"/>
              </a:rPr>
              <a:t>→  438 350,10 ₽/тн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749039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400800" y="3950207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0" y="3986783"/>
            <a:ext cx="14173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cross_sheet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370831"/>
            <a:ext cx="49377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8A97A6"/>
                </a:solidFill>
                <a:latin typeface="Calibri"/>
              </a:rPr>
              <a:t>«Максимальная среднерыночная цена на Лом меди кусок за 2025 год?»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5138927"/>
            <a:ext cx="493776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dirty="0">
                <a:solidFill>
                  <a:srgbClr val="FFB199"/>
                </a:solidFill>
                <a:latin typeface="Calibri"/>
              </a:rPr>
              <a:t>→  906 729,75 ₽/</a:t>
            </a:r>
            <a:r>
              <a:rPr sz="1400" b="1" i="0" dirty="0" err="1">
                <a:solidFill>
                  <a:srgbClr val="FFB199"/>
                </a:solidFill>
                <a:latin typeface="Calibri"/>
              </a:rPr>
              <a:t>тн</a:t>
            </a:r>
            <a:r>
              <a:rPr sz="1400" b="1" i="0" dirty="0">
                <a:solidFill>
                  <a:srgbClr val="FFB199"/>
                </a:solidFill>
                <a:latin typeface="Calibri"/>
              </a:rPr>
              <a:t> 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897880"/>
            <a:ext cx="11064240" cy="548640"/>
          </a:xfrm>
          <a:prstGeom prst="roundRect">
            <a:avLst>
              <a:gd name="adj" fmla="val 12000"/>
            </a:avLst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2960" y="6007608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Каждый ответ сопровождается выполненным SQL и источниками (лист · строка · колонка) — полная traceability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body" idx="102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ДЕМОНСТРАЦИЯ И РАЗВЁРТЫВАНИЕ</a:t>
            </a:r>
            <a:endParaRPr lang="en-US" sz="1200" dirty="0"/>
          </a:p>
        </p:txBody>
      </p:sp>
      <p:sp>
        <p:nvSpPr>
          <p:cNvPr id="3" name="Text 2"/>
          <p:cNvSpPr>
            <a:spLocks noGrp="1"/>
          </p:cNvSpPr>
          <p:nvPr>
            <p:ph type="title" idx="103" hasCustomPrompt="1"/>
          </p:nvPr>
        </p:nvSpPr>
        <p:spPr>
          <a:xfrm>
            <a:off x="548640" y="68580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</a:rPr>
              <a:t>Архитектура развёртывания</a:t>
            </a:r>
            <a:endParaRPr lang="en-US" sz="3200" dirty="0"/>
          </a:p>
        </p:txBody>
      </p:sp>
      <p:sp>
        <p:nvSpPr>
          <p:cNvPr id="4" name="Node Браузер"/>
          <p:cNvSpPr/>
          <p:nvPr/>
        </p:nvSpPr>
        <p:spPr>
          <a:xfrm>
            <a:off x="685800" y="3017520"/>
            <a:ext cx="2148840" cy="109728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Label Браузер"/>
          <p:cNvSpPr txBox="1"/>
          <p:nvPr/>
        </p:nvSpPr>
        <p:spPr>
          <a:xfrm>
            <a:off x="758952" y="3017520"/>
            <a:ext cx="20025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Браузер</a:t>
            </a:r>
            <a:endParaRPr lang="en-US" sz="15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пользователь</a:t>
            </a:r>
            <a:endParaRPr lang="en-US" sz="1500" dirty="0"/>
          </a:p>
        </p:txBody>
      </p:sp>
      <p:sp>
        <p:nvSpPr>
          <p:cNvPr id="6" name="Arrow"/>
          <p:cNvSpPr/>
          <p:nvPr/>
        </p:nvSpPr>
        <p:spPr>
          <a:xfrm>
            <a:off x="2834640" y="3566160"/>
            <a:ext cx="73152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7" name="Node frontend"/>
          <p:cNvSpPr/>
          <p:nvPr/>
        </p:nvSpPr>
        <p:spPr>
          <a:xfrm>
            <a:off x="3566160" y="3017520"/>
            <a:ext cx="2148840" cy="109728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Label frontend"/>
          <p:cNvSpPr txBox="1"/>
          <p:nvPr/>
        </p:nvSpPr>
        <p:spPr>
          <a:xfrm>
            <a:off x="3639312" y="3017520"/>
            <a:ext cx="20025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frontend</a:t>
            </a:r>
            <a:endParaRPr lang="en-US" sz="15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Nginx :80 / :8080 · прокси /api → :8000</a:t>
            </a:r>
            <a:endParaRPr lang="en-US" sz="1500" dirty="0"/>
          </a:p>
        </p:txBody>
      </p:sp>
      <p:sp>
        <p:nvSpPr>
          <p:cNvPr id="9" name="Arrow"/>
          <p:cNvSpPr/>
          <p:nvPr/>
        </p:nvSpPr>
        <p:spPr>
          <a:xfrm>
            <a:off x="5715000" y="3566160"/>
            <a:ext cx="73152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0" name="Node service"/>
          <p:cNvSpPr/>
          <p:nvPr/>
        </p:nvSpPr>
        <p:spPr>
          <a:xfrm>
            <a:off x="6446520" y="3017520"/>
            <a:ext cx="2148840" cy="109728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1905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Label service"/>
          <p:cNvSpPr txBox="1"/>
          <p:nvPr/>
        </p:nvSpPr>
        <p:spPr>
          <a:xfrm>
            <a:off x="6519672" y="3017520"/>
            <a:ext cx="20025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service</a:t>
            </a:r>
            <a:endParaRPr lang="en-US" sz="15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FastAPI :8000 · /docs · /metrics</a:t>
            </a:r>
            <a:endParaRPr lang="en-US" sz="1500" dirty="0"/>
          </a:p>
        </p:txBody>
      </p:sp>
      <p:sp>
        <p:nvSpPr>
          <p:cNvPr id="12" name="Arrow"/>
          <p:cNvSpPr/>
          <p:nvPr/>
        </p:nvSpPr>
        <p:spPr>
          <a:xfrm>
            <a:off x="8595360" y="3566160"/>
            <a:ext cx="73152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3" name="Node postgres"/>
          <p:cNvSpPr/>
          <p:nvPr/>
        </p:nvSpPr>
        <p:spPr>
          <a:xfrm>
            <a:off x="9326880" y="3017520"/>
            <a:ext cx="2148840" cy="109728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Label postgres"/>
          <p:cNvSpPr txBox="1"/>
          <p:nvPr/>
        </p:nvSpPr>
        <p:spPr>
          <a:xfrm>
            <a:off x="9400032" y="3017520"/>
            <a:ext cx="20025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postgres</a:t>
            </a:r>
            <a:endParaRPr lang="en-US" sz="15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16-alpine :5432 · asyncpg · pg_trgm</a:t>
            </a:r>
            <a:endParaRPr lang="en-US" sz="1500" dirty="0"/>
          </a:p>
        </p:txBody>
      </p:sp>
      <p:sp>
        <p:nvSpPr>
          <p:cNvPr id="15" name="Node LLM API"/>
          <p:cNvSpPr/>
          <p:nvPr/>
        </p:nvSpPr>
        <p:spPr>
          <a:xfrm>
            <a:off x="6446520" y="1463040"/>
            <a:ext cx="2148840" cy="100584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Label LLM API"/>
          <p:cNvSpPr txBox="1"/>
          <p:nvPr/>
        </p:nvSpPr>
        <p:spPr>
          <a:xfrm>
            <a:off x="6519672" y="1463040"/>
            <a:ext cx="20025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LLM API</a:t>
            </a:r>
            <a:endParaRPr lang="en-US" sz="15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OpenAI-совместимый · LLM_BASE_URL</a:t>
            </a:r>
            <a:endParaRPr lang="en-US" sz="1500" dirty="0"/>
          </a:p>
        </p:txBody>
      </p:sp>
      <p:sp>
        <p:nvSpPr>
          <p:cNvPr id="17" name="Arrow"/>
          <p:cNvSpPr/>
          <p:nvPr/>
        </p:nvSpPr>
        <p:spPr>
          <a:xfrm flipV="1">
            <a:off x="7520940" y="2468880"/>
            <a:ext cx="0" cy="54864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8" name="Node prometheus"/>
          <p:cNvSpPr/>
          <p:nvPr/>
        </p:nvSpPr>
        <p:spPr>
          <a:xfrm>
            <a:off x="6446520" y="4846320"/>
            <a:ext cx="2148840" cy="100584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Label prometheus"/>
          <p:cNvSpPr txBox="1"/>
          <p:nvPr/>
        </p:nvSpPr>
        <p:spPr>
          <a:xfrm>
            <a:off x="6519672" y="4846320"/>
            <a:ext cx="20025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prometheus</a:t>
            </a:r>
            <a:endParaRPr lang="en-US" sz="15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:9090 · scrape /metrics</a:t>
            </a:r>
            <a:endParaRPr lang="en-US" sz="1500" dirty="0"/>
          </a:p>
        </p:txBody>
      </p:sp>
      <p:sp>
        <p:nvSpPr>
          <p:cNvPr id="20" name="Arrow"/>
          <p:cNvSpPr/>
          <p:nvPr/>
        </p:nvSpPr>
        <p:spPr>
          <a:xfrm flipV="1">
            <a:off x="7520940" y="4114800"/>
            <a:ext cx="0" cy="73152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1" name="Node grafana"/>
          <p:cNvSpPr/>
          <p:nvPr/>
        </p:nvSpPr>
        <p:spPr>
          <a:xfrm>
            <a:off x="9326880" y="4846320"/>
            <a:ext cx="2148840" cy="100584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Label grafana"/>
          <p:cNvSpPr txBox="1"/>
          <p:nvPr/>
        </p:nvSpPr>
        <p:spPr>
          <a:xfrm>
            <a:off x="9400032" y="4846320"/>
            <a:ext cx="20025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grafana</a:t>
            </a:r>
            <a:endParaRPr lang="en-US" sz="15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:3001 · admin / admin</a:t>
            </a:r>
            <a:endParaRPr lang="en-US" sz="1500" dirty="0"/>
          </a:p>
        </p:txBody>
      </p:sp>
      <p:sp>
        <p:nvSpPr>
          <p:cNvPr id="23" name="Arrow"/>
          <p:cNvSpPr/>
          <p:nvPr/>
        </p:nvSpPr>
        <p:spPr>
          <a:xfrm flipH="1">
            <a:off x="8595360" y="5349240"/>
            <a:ext cx="73152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4" name="Card"/>
          <p:cNvSpPr/>
          <p:nvPr/>
        </p:nvSpPr>
        <p:spPr>
          <a:xfrm>
            <a:off x="685800" y="4846320"/>
            <a:ext cx="4846320" cy="100584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 txBox="1"/>
          <p:nvPr/>
        </p:nvSpPr>
        <p:spPr>
          <a:xfrm>
            <a:off x="914400" y="484632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</a:rPr>
              <a:t>Docker Compose · app_network. Volumes: ./data, ./src. service стартует после healthcheck postgres (pg_isready).</a:t>
            </a:r>
            <a:endParaRPr lang="en-US" sz="1300" dirty="0"/>
          </a:p>
        </p:txBody>
      </p:sp>
      <p:sp>
        <p:nvSpPr>
          <p:cNvPr id="26" name="Card"/>
          <p:cNvSpPr/>
          <p:nvPr/>
        </p:nvSpPr>
        <p:spPr>
          <a:xfrm>
            <a:off x="685800" y="1463040"/>
            <a:ext cx="4846320" cy="100584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 txBox="1"/>
          <p:nvPr/>
        </p:nvSpPr>
        <p:spPr>
          <a:xfrm>
            <a:off x="914400" y="146304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</a:rPr>
              <a:t>Backend собирается из Dockerfile, frontend — из Dockerfile.frontend (Nginx, статика React).</a:t>
            </a:r>
            <a:endParaRPr lang="en-US" sz="13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СПАСИБО ЗА ВНИМАНИЕ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46888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7490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bg2"/>
                </a:solidFill>
              </a:rPr>
              <a:t>EVRAZ Agent — AI-агент для интеллектуальной работы с Excel-</a:t>
            </a:r>
            <a:r>
              <a:rPr lang="en-US" sz="2000" dirty="0" err="1">
                <a:solidFill>
                  <a:schemeClr val="bg2"/>
                </a:solidFill>
              </a:rPr>
              <a:t>файлами</a:t>
            </a:r>
            <a:endParaRPr lang="ru-RU" sz="2000" dirty="0">
              <a:solidFill>
                <a:schemeClr val="bg2"/>
              </a:solidFill>
            </a:endParaRP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5" name="Card"/>
          <p:cNvSpPr/>
          <p:nvPr/>
        </p:nvSpPr>
        <p:spPr>
          <a:xfrm>
            <a:off x="731520" y="4754880"/>
            <a:ext cx="7315200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1005840" y="475488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</a:rPr>
              <a:t>Подробности: README.md · PROJECT.md · INSTRUCTIONS.md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VRAZ Dark">
  <a:themeElements>
    <a:clrScheme name="EVRAZ Dark">
      <a:dk1>
        <a:srgbClr val="1B1F24"/>
      </a:dk1>
      <a:lt1>
        <a:srgbClr val="FFFFFF"/>
      </a:lt1>
      <a:dk2>
        <a:srgbClr val="262C33"/>
      </a:dk2>
      <a:lt2>
        <a:srgbClr val="A9B4C0"/>
      </a:lt2>
      <a:accent1>
        <a:srgbClr val="FF5A36"/>
      </a:accent1>
      <a:accent2>
        <a:srgbClr val="2FA6C9"/>
      </a:accent2>
      <a:accent3>
        <a:srgbClr val="3FBF8A"/>
      </a:accent3>
      <a:accent4>
        <a:srgbClr val="E5B53D"/>
      </a:accent4>
      <a:accent5>
        <a:srgbClr val="3A434D"/>
      </a:accent5>
      <a:accent6>
        <a:srgbClr val="E5484D"/>
      </a:accent6>
      <a:hlink>
        <a:srgbClr val="FF5A36"/>
      </a:hlink>
      <a:folHlink>
        <a:srgbClr val="A9B4C0"/>
      </a:folHlink>
    </a:clrScheme>
    <a:fontScheme name="EVRAZ Dark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1920</Words>
  <Application>Microsoft Office PowerPoint</Application>
  <PresentationFormat>Широкоэкранный</PresentationFormat>
  <Paragraphs>429</Paragraphs>
  <Slides>19</Slides>
  <Notes>17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2" baseType="lpstr">
      <vt:lpstr>Arial</vt:lpstr>
      <vt:lpstr>Calibri</vt:lpstr>
      <vt:lpstr>EVRAZ Dark</vt:lpstr>
      <vt:lpstr>Презентация PowerPoint</vt:lpstr>
      <vt:lpstr>Задача и цели</vt:lpstr>
      <vt:lpstr>Решение — обзор</vt:lpstr>
      <vt:lpstr>Архитектура системы</vt:lpstr>
      <vt:lpstr>Ключевые принципы</vt:lpstr>
      <vt:lpstr>Технологический стек</vt:lpstr>
      <vt:lpstr>Поток обработки файла</vt:lpstr>
      <vt:lpstr>Парсинг Excel и Schema Inference</vt:lpstr>
      <vt:lpstr>Витрина данных (mart)</vt:lpstr>
      <vt:lpstr>Схема базы данных</vt:lpstr>
      <vt:lpstr>Граф LLM-агента (LangGraph)</vt:lpstr>
      <vt:lpstr>Узлы агента</vt:lpstr>
      <vt:lpstr>Безопасная генерация SQL</vt:lpstr>
      <vt:lpstr>Наблюдаемость</vt:lpstr>
      <vt:lpstr>CI — GitHub Actions</vt:lpstr>
      <vt:lpstr>Презентация PowerPoint</vt:lpstr>
      <vt:lpstr>Презентация PowerPoint</vt:lpstr>
      <vt:lpstr>Архитектура развёртывания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EVRAZ Agent</dc:title>
  <dc:subject>PptxGenJS Presentation</dc:subject>
  <dc:creator>EVRAZ Agent</dc:creator>
  <cp:lastModifiedBy>Костя Баландин</cp:lastModifiedBy>
  <cp:revision>18</cp:revision>
  <dcterms:created xsi:type="dcterms:W3CDTF">2026-10-15T13:54:55Z</dcterms:created>
  <dcterms:modified xsi:type="dcterms:W3CDTF">2026-10-22T09:53:46Z</dcterms:modified>
</cp:coreProperties>
</file>