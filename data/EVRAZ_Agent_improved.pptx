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5" r:id="rId26"/>
    <p:sldId id="280" r:id="rId27"/>
    <p:sldId id="286" r:id="rId28"/>
    <p:sldId id="287" r:id="rId29"/>
    <p:sldId id="281" r:id="rId30"/>
    <p:sldId id="282" r:id="rId31"/>
    <p:sldId id="283" r:id="rId32"/>
    <p:sldId id="284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8F374985-0417-E65B-9356-60063E33F926}">
          <p14:sldIdLst>
            <p14:sldId id="256"/>
            <p14:sldId id="257"/>
            <p14:sldId id="258"/>
            <p14:sldId id="259"/>
            <p14:sldId id="260"/>
          </p14:sldIdLst>
        </p14:section>
        <p14:section name="Решение и архитектура" id="{86AB72D7-E6E9-0EAC-A810-CE6A6D53A15D}">
          <p14:sldIdLst>
            <p14:sldId id="261"/>
            <p14:sldId id="262"/>
            <p14:sldId id="263"/>
            <p14:sldId id="264"/>
            <p14:sldId id="265"/>
          </p14:sldIdLst>
        </p14:section>
        <p14:section name="Обработка данных" id="{2C513A19-430A-6780-0742-725569196759}">
          <p14:sldIdLst>
            <p14:sldId id="266"/>
            <p14:sldId id="267"/>
            <p14:sldId id="268"/>
            <p14:sldId id="269"/>
          </p14:sldIdLst>
        </p14:section>
        <p14:section name="LLM-агент" id="{A17A3E4B-91DA-7F30-5FAD-6FA3E0EBB7FA}">
          <p14:sldIdLst>
            <p14:sldId id="270"/>
            <p14:sldId id="271"/>
            <p14:sldId id="272"/>
            <p14:sldId id="273"/>
            <p14:sldId id="274"/>
          </p14:sldIdLst>
        </p14:section>
        <p14:section name="Интерфейс и наблюдаемость" id="{78230BF1-187C-46AB-72D7-21D4FF00BAA0}">
          <p14:sldIdLst>
            <p14:sldId id="275"/>
            <p14:sldId id="276"/>
            <p14:sldId id="277"/>
          </p14:sldIdLst>
        </p14:section>
        <p14:section name="Качество" id="{E2CF5360-D010-4805-781E-9D4588203570}">
          <p14:sldIdLst>
            <p14:sldId id="278"/>
            <p14:sldId id="279"/>
            <p14:sldId id="285"/>
          </p14:sldIdLst>
        </p14:section>
        <p14:section name="Демонстрация и развёртывание" id="{7FA16B21-BA90-E5B0-AD6A-C6F2FB0AF88D}">
          <p14:sldIdLst>
            <p14:sldId id="280"/>
            <p14:sldId id="286"/>
            <p14:sldId id="287"/>
            <p14:sldId id="281"/>
            <p14:sldId id="282"/>
          </p14:sldIdLst>
        </p14:section>
        <p14:section name="Итоги" id="{B6CA99FF-1030-66CA-2D56-ACEA8A6AB160}">
          <p14:sldIdLst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497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EVRAZ Agent</a:t>
            </a:r>
            <a:endParaRPr lang="en-US" sz="1000" dirty="0"/>
          </a:p>
        </p:txBody>
      </p:sp>
      <p:sp>
        <p:nvSpPr>
          <p:cNvPr id="4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b="1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EVRAZ  ·  ДЕМОНСТРАЦИЯ ПРОЕКТА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830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</a:rPr>
              <a:t>EVRAZ Agent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803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AI-агент для работы с Excel-файлами металлургической компании</a:t>
            </a: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731520" y="4297680"/>
            <a:ext cx="292608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Backend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Python 3.12 · FastAPI · LangGraph · PostgreSQL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840480" y="4297680"/>
            <a:ext cx="292608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02336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Frontend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React 18 · TypeScript · Vite</a:t>
            </a:r>
            <a:endParaRPr lang="en-US" sz="1300" dirty="0"/>
          </a:p>
        </p:txBody>
      </p:sp>
      <p:sp>
        <p:nvSpPr>
          <p:cNvPr id="11" name="Node Excel-файлы"/>
          <p:cNvSpPr/>
          <p:nvPr/>
        </p:nvSpPr>
        <p:spPr>
          <a:xfrm>
            <a:off x="7863840" y="118872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Label Excel-файлы"/>
          <p:cNvSpPr txBox="1"/>
          <p:nvPr/>
        </p:nvSpPr>
        <p:spPr>
          <a:xfrm>
            <a:off x="7936992" y="118872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Excel-файлы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цены на цветной лом</a:t>
            </a:r>
            <a:endParaRPr lang="en-US" sz="1600" dirty="0"/>
          </a:p>
        </p:txBody>
      </p:sp>
      <p:sp>
        <p:nvSpPr>
          <p:cNvPr id="13" name="Arrow"/>
          <p:cNvSpPr/>
          <p:nvPr/>
        </p:nvSpPr>
        <p:spPr>
          <a:xfrm>
            <a:off x="9738360" y="196596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Node Витрина mart"/>
          <p:cNvSpPr/>
          <p:nvPr/>
        </p:nvSpPr>
        <p:spPr>
          <a:xfrm>
            <a:off x="7863840" y="251460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 Витрина mart"/>
          <p:cNvSpPr txBox="1"/>
          <p:nvPr/>
        </p:nvSpPr>
        <p:spPr>
          <a:xfrm>
            <a:off x="7936992" y="251460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Витрина mart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нормализованные факты</a:t>
            </a:r>
            <a:endParaRPr lang="en-US" sz="1600" dirty="0"/>
          </a:p>
        </p:txBody>
      </p:sp>
      <p:sp>
        <p:nvSpPr>
          <p:cNvPr id="16" name="Arrow"/>
          <p:cNvSpPr/>
          <p:nvPr/>
        </p:nvSpPr>
        <p:spPr>
          <a:xfrm>
            <a:off x="9738360" y="329184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Node LangGraph-агент"/>
          <p:cNvSpPr/>
          <p:nvPr/>
        </p:nvSpPr>
        <p:spPr>
          <a:xfrm>
            <a:off x="7863840" y="384048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Label LangGraph-агент"/>
          <p:cNvSpPr txBox="1"/>
          <p:nvPr/>
        </p:nvSpPr>
        <p:spPr>
          <a:xfrm>
            <a:off x="7936992" y="384048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LangGraph-агент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безопасный SELECT</a:t>
            </a:r>
            <a:endParaRPr lang="en-US" sz="1600" dirty="0"/>
          </a:p>
        </p:txBody>
      </p:sp>
      <p:sp>
        <p:nvSpPr>
          <p:cNvPr id="19" name="Arrow"/>
          <p:cNvSpPr/>
          <p:nvPr/>
        </p:nvSpPr>
        <p:spPr>
          <a:xfrm>
            <a:off x="9738360" y="461772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Node Ответ"/>
          <p:cNvSpPr/>
          <p:nvPr/>
        </p:nvSpPr>
        <p:spPr>
          <a:xfrm>
            <a:off x="7863840" y="516636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Label Ответ"/>
          <p:cNvSpPr txBox="1"/>
          <p:nvPr/>
        </p:nvSpPr>
        <p:spPr>
          <a:xfrm>
            <a:off x="7936992" y="516636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Ответ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данные · SQL · источники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ВВЕДЕНИЕ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Содержание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60020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adge 1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772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Введение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48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О проекте · Проблематика · Задача и цели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172200" y="160020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Badge 2"/>
          <p:cNvSpPr/>
          <p:nvPr/>
        </p:nvSpPr>
        <p:spPr>
          <a:xfrm>
            <a:off x="6400800" y="18745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Решение и архитектура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148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Обзор · Архитектура · Стек · Принципы · Структура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548640" y="2770632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Badge 3"/>
          <p:cNvSpPr/>
          <p:nvPr/>
        </p:nvSpPr>
        <p:spPr>
          <a:xfrm>
            <a:off x="777240" y="30449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77724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9535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Обработка данных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319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Пайплайн · Парсинг · Витрина · Схема БД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6172200" y="2770632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Badge 4"/>
          <p:cNvSpPr/>
          <p:nvPr/>
        </p:nvSpPr>
        <p:spPr>
          <a:xfrm>
            <a:off x="6400800" y="30449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64008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29535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LLM-агент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319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Граф · Узлы · Безопасный SQL · Entity Resolution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548640" y="3941064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Badge 5"/>
          <p:cNvSpPr/>
          <p:nvPr/>
        </p:nvSpPr>
        <p:spPr>
          <a:xfrm>
            <a:off x="777240" y="4215384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772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412394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Интерфейс и наблюдаемость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48970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Frontend · Метрики · Безопасность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6172200" y="3941064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Badge 6"/>
          <p:cNvSpPr/>
          <p:nvPr/>
        </p:nvSpPr>
        <p:spPr>
          <a:xfrm>
            <a:off x="6400800" y="4215384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640080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412394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Качество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448970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Тесты · CI/CD</a:t>
            </a:r>
            <a:endParaRPr lang="en-US" sz="1300" dirty="0"/>
          </a:p>
        </p:txBody>
      </p:sp>
      <p:sp>
        <p:nvSpPr>
          <p:cNvPr id="34" name="Card"/>
          <p:cNvSpPr/>
          <p:nvPr/>
        </p:nvSpPr>
        <p:spPr>
          <a:xfrm>
            <a:off x="548640" y="5111496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Badge 7"/>
          <p:cNvSpPr/>
          <p:nvPr/>
        </p:nvSpPr>
        <p:spPr>
          <a:xfrm>
            <a:off x="777240" y="538581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77240" y="5385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463040" y="529437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Демонстрация и развёртывание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566013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Сценарий · Docker · Быстрый старт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6172200" y="5111496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Badge 8"/>
          <p:cNvSpPr/>
          <p:nvPr/>
        </p:nvSpPr>
        <p:spPr>
          <a:xfrm>
            <a:off x="6400800" y="538581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 txBox="1"/>
          <p:nvPr/>
        </p:nvSpPr>
        <p:spPr>
          <a:xfrm>
            <a:off x="6400800" y="5385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529437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Итоги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7086600" y="566013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Результаты · Перспективы</a:t>
            </a:r>
            <a:endParaRPr lang="en-US" sz="130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ВВЕДЕНИЕ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О проекте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EVRAZ Agent</a:t>
            </a:r>
            <a:r>
              <a:rPr lang="en-US" sz="1600" dirty="0">
                <a:solidFill>
                  <a:schemeClr val="bg1"/>
                </a:solidFill>
              </a:rPr>
              <a:t> — агентная система «вопрос–ответ» по данным из Excel-файлов с ценами на цветные металлы (лом). Пользователь загружает файлы, система парсит их и нормализует в факт-таблицы витрины, а LLM-агент отвечает на вопросы на естественном языке, генерируя и выполняя безопасный SQL к PostgreSQL.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283464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Вопрос–ответ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478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Естественный язык → точный ответ с данными, SQL и источниками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172200" y="283464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LLM-агент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35478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LangGraph: классификация → планирование → генерация SQL → проверка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548640" y="45262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822960" y="4754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Безопасный SQL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3951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Только SELECT, whitelist таблиц, валидация, read-only выполнение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6172200" y="45262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446520" y="4754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Prod-ready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523951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Асинхронный ingestion, auth, rate limiting, мониторинг, тесты и CI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ВВЕДЕНИЕ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Проблематика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2633472" cy="3200400"/>
          </a:xfrm>
          <a:prstGeom prst="roundRect">
            <a:avLst>
              <a:gd name="adj" fmla="val 27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adge 1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Разные форматы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Ежедневные Excel-файлы с ценами на цветные металлы — десятки листов, разные форматы.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3364992" y="1554480"/>
            <a:ext cx="2633472" cy="3200400"/>
          </a:xfrm>
          <a:prstGeom prst="roundRect">
            <a:avLst>
              <a:gd name="adj" fmla="val 27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Badge 2"/>
          <p:cNvSpPr/>
          <p:nvPr/>
        </p:nvSpPr>
        <p:spPr>
          <a:xfrm>
            <a:off x="3593592" y="17830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593592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«Грязные» файлы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31546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Сдвинутые шапки, объединённые ячейки, вложенные заголовки.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6181344" y="1554480"/>
            <a:ext cx="2633472" cy="3200400"/>
          </a:xfrm>
          <a:prstGeom prst="roundRect">
            <a:avLst>
              <a:gd name="adj" fmla="val 27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Badge 3"/>
          <p:cNvSpPr/>
          <p:nvPr/>
        </p:nvSpPr>
        <p:spPr>
          <a:xfrm>
            <a:off x="6409944" y="17830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640994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Простой язык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09944" y="31546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Бизнес-пользователи хотят задавать вопросы словами, а не разбираться в таблицах.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8997696" y="1554480"/>
            <a:ext cx="2633472" cy="3200400"/>
          </a:xfrm>
          <a:prstGeom prst="roundRect">
            <a:avLst>
              <a:gd name="adj" fmla="val 27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Badge 4"/>
          <p:cNvSpPr/>
          <p:nvPr/>
        </p:nvSpPr>
        <p:spPr>
          <a:xfrm>
            <a:off x="9226296" y="17830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922629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26296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Коммерческая тайна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226296" y="31546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Цены — конфиденциальные данные: они не должны утекать наружу.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822960" y="51206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Результат: менеджер тратит часы на ручной поиск по файлам вместо принятия решений</a:t>
            </a:r>
            <a:endParaRPr lang="en-US" sz="18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ВВЕДЕНИЕ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Задача и цели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Построить prod-ready систему «вопрос–ответ» по Excel-данным</a:t>
            </a:r>
            <a:endParaRPr lang="en-US" sz="1800" dirty="0"/>
          </a:p>
        </p:txBody>
      </p:sp>
      <p:sp>
        <p:nvSpPr>
          <p:cNvPr id="5" name="Card"/>
          <p:cNvSpPr/>
          <p:nvPr/>
        </p:nvSpPr>
        <p:spPr>
          <a:xfrm>
            <a:off x="54864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Badge 1"/>
          <p:cNvSpPr/>
          <p:nvPr/>
        </p:nvSpPr>
        <p:spPr>
          <a:xfrm>
            <a:off x="77724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Загрузил файл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Система сама распарсила и нормализовала данные</a:t>
            </a:r>
            <a:endParaRPr lang="en-US" sz="1300" dirty="0"/>
          </a:p>
        </p:txBody>
      </p:sp>
      <p:sp>
        <p:nvSpPr>
          <p:cNvPr id="10" name="Arrow"/>
          <p:cNvSpPr/>
          <p:nvPr/>
        </p:nvSpPr>
        <p:spPr>
          <a:xfrm>
            <a:off x="3017520" y="310896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Card"/>
          <p:cNvSpPr/>
          <p:nvPr/>
        </p:nvSpPr>
        <p:spPr>
          <a:xfrm>
            <a:off x="338328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Badge 2"/>
          <p:cNvSpPr/>
          <p:nvPr/>
        </p:nvSpPr>
        <p:spPr>
          <a:xfrm>
            <a:off x="361188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361188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Задал вопрос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На естественном языке — получил ответ с данными</a:t>
            </a:r>
            <a:endParaRPr lang="en-US" sz="1300" dirty="0"/>
          </a:p>
        </p:txBody>
      </p:sp>
      <p:sp>
        <p:nvSpPr>
          <p:cNvPr id="16" name="Arrow"/>
          <p:cNvSpPr/>
          <p:nvPr/>
        </p:nvSpPr>
        <p:spPr>
          <a:xfrm>
            <a:off x="5852160" y="310896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Card"/>
          <p:cNvSpPr/>
          <p:nvPr/>
        </p:nvSpPr>
        <p:spPr>
          <a:xfrm>
            <a:off x="621792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Badge 3"/>
          <p:cNvSpPr/>
          <p:nvPr/>
        </p:nvSpPr>
        <p:spPr>
          <a:xfrm>
            <a:off x="644652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44652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Прозрачность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Виден выполненный SQL и источник каждой цифры</a:t>
            </a:r>
            <a:endParaRPr lang="en-US" sz="1300" dirty="0"/>
          </a:p>
        </p:txBody>
      </p:sp>
      <p:sp>
        <p:nvSpPr>
          <p:cNvPr id="22" name="Arrow"/>
          <p:cNvSpPr/>
          <p:nvPr/>
        </p:nvSpPr>
        <p:spPr>
          <a:xfrm>
            <a:off x="8686800" y="310896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Card"/>
          <p:cNvSpPr/>
          <p:nvPr/>
        </p:nvSpPr>
        <p:spPr>
          <a:xfrm>
            <a:off x="905256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Badge 4"/>
          <p:cNvSpPr/>
          <p:nvPr/>
        </p:nvSpPr>
        <p:spPr>
          <a:xfrm>
            <a:off x="928116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928116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Безопасность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Только чтение, только проверенные таблицы, без утечки данных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548640" y="448056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822960" y="45720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≥ 85%</a:t>
            </a:r>
            <a:endParaRPr lang="en-US" sz="5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точность на ключевых типах запросов</a:t>
            </a:r>
            <a:endParaRPr lang="en-US" sz="1500" dirty="0"/>
          </a:p>
        </p:txBody>
      </p:sp>
      <p:sp>
        <p:nvSpPr>
          <p:cNvPr id="31" name="Card"/>
          <p:cNvSpPr/>
          <p:nvPr/>
        </p:nvSpPr>
        <p:spPr>
          <a:xfrm>
            <a:off x="6172200" y="448056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6446520" y="45720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100%</a:t>
            </a:r>
            <a:endParaRPr lang="en-US" sz="540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traceability: SQL, результат и источники каждого ответа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Решение — обзор</a:t>
            </a:r>
            <a:endParaRPr lang="en-US" sz="3200" dirty="0"/>
          </a:p>
        </p:txBody>
      </p:sp>
      <p:sp>
        <p:nvSpPr>
          <p:cNvPr id="4" name="Node Excel"/>
          <p:cNvSpPr/>
          <p:nvPr/>
        </p:nvSpPr>
        <p:spPr>
          <a:xfrm>
            <a:off x="54864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Excel"/>
          <p:cNvSpPr txBox="1"/>
          <p:nvPr/>
        </p:nvSpPr>
        <p:spPr>
          <a:xfrm>
            <a:off x="62179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Excel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файл</a:t>
            </a:r>
            <a:endParaRPr lang="en-US" sz="1500" dirty="0"/>
          </a:p>
        </p:txBody>
      </p:sp>
      <p:sp>
        <p:nvSpPr>
          <p:cNvPr id="6" name="Arrow"/>
          <p:cNvSpPr/>
          <p:nvPr/>
        </p:nvSpPr>
        <p:spPr>
          <a:xfrm>
            <a:off x="2103120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Парсинг"/>
          <p:cNvSpPr/>
          <p:nvPr/>
        </p:nvSpPr>
        <p:spPr>
          <a:xfrm>
            <a:off x="2450592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Парсинг"/>
          <p:cNvSpPr txBox="1"/>
          <p:nvPr/>
        </p:nvSpPr>
        <p:spPr>
          <a:xfrm>
            <a:off x="2523744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Парсинг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src/core/excel</a:t>
            </a:r>
            <a:endParaRPr lang="en-US" sz="1500" dirty="0"/>
          </a:p>
        </p:txBody>
      </p:sp>
      <p:sp>
        <p:nvSpPr>
          <p:cNvPr id="9" name="Arrow"/>
          <p:cNvSpPr/>
          <p:nvPr/>
        </p:nvSpPr>
        <p:spPr>
          <a:xfrm>
            <a:off x="4005072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RAW"/>
          <p:cNvSpPr/>
          <p:nvPr/>
        </p:nvSpPr>
        <p:spPr>
          <a:xfrm>
            <a:off x="4352544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RAW"/>
          <p:cNvSpPr txBox="1"/>
          <p:nvPr/>
        </p:nvSpPr>
        <p:spPr>
          <a:xfrm>
            <a:off x="4425696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RAW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таблицы public</a:t>
            </a:r>
            <a:endParaRPr lang="en-US" sz="1500" dirty="0"/>
          </a:p>
        </p:txBody>
      </p:sp>
      <p:sp>
        <p:nvSpPr>
          <p:cNvPr id="12" name="Arrow"/>
          <p:cNvSpPr/>
          <p:nvPr/>
        </p:nvSpPr>
        <p:spPr>
          <a:xfrm>
            <a:off x="5907024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Нормализация"/>
          <p:cNvSpPr/>
          <p:nvPr/>
        </p:nvSpPr>
        <p:spPr>
          <a:xfrm>
            <a:off x="6254496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Нормализация"/>
          <p:cNvSpPr txBox="1"/>
          <p:nvPr/>
        </p:nvSpPr>
        <p:spPr>
          <a:xfrm>
            <a:off x="6327648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Нормализация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витрина mart</a:t>
            </a:r>
            <a:endParaRPr lang="en-US" sz="1500" dirty="0"/>
          </a:p>
        </p:txBody>
      </p:sp>
      <p:sp>
        <p:nvSpPr>
          <p:cNvPr id="15" name="Arrow"/>
          <p:cNvSpPr/>
          <p:nvPr/>
        </p:nvSpPr>
        <p:spPr>
          <a:xfrm>
            <a:off x="7808976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Node LangGraph"/>
          <p:cNvSpPr/>
          <p:nvPr/>
        </p:nvSpPr>
        <p:spPr>
          <a:xfrm>
            <a:off x="8156448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Label LangGraph"/>
          <p:cNvSpPr txBox="1"/>
          <p:nvPr/>
        </p:nvSpPr>
        <p:spPr>
          <a:xfrm>
            <a:off x="8229600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LangGraph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агент</a:t>
            </a:r>
            <a:endParaRPr lang="en-US" sz="1500" dirty="0"/>
          </a:p>
        </p:txBody>
      </p:sp>
      <p:sp>
        <p:nvSpPr>
          <p:cNvPr id="18" name="Arrow"/>
          <p:cNvSpPr/>
          <p:nvPr/>
        </p:nvSpPr>
        <p:spPr>
          <a:xfrm>
            <a:off x="9710928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Node Безопасный"/>
          <p:cNvSpPr/>
          <p:nvPr/>
        </p:nvSpPr>
        <p:spPr>
          <a:xfrm>
            <a:off x="1005840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Безопасный"/>
          <p:cNvSpPr txBox="1"/>
          <p:nvPr/>
        </p:nvSpPr>
        <p:spPr>
          <a:xfrm>
            <a:off x="1013155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Безопасный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SELECT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bg2"/>
                </a:solidFill>
              </a:rPr>
              <a:t>Вопрос пользователя → агент планирует и выполняет SQL → ответ + SQL + источники (PostgreSQL)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11064240" cy="13208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Часть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Технологии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Назначение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Backend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FastAPI, LangGraph, SQLAlchemy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API, парсинг, агент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Frontend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React 18 + TypeScript + Vite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Чат, файлы, дашборд, метрики, трейсы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Инфраструктура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Docker Compose, Nginx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PostgreSQL, Prometheus, Grafana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Архитектура системы</a:t>
            </a:r>
            <a:endParaRPr lang="en-US" sz="3200" dirty="0"/>
          </a:p>
        </p:txBody>
      </p:sp>
      <p:sp>
        <p:nvSpPr>
          <p:cNvPr id="4" name="Node Пользователь"/>
          <p:cNvSpPr/>
          <p:nvPr/>
        </p:nvSpPr>
        <p:spPr>
          <a:xfrm>
            <a:off x="548640" y="1371600"/>
            <a:ext cx="182880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Пользователь"/>
          <p:cNvSpPr txBox="1"/>
          <p:nvPr/>
        </p:nvSpPr>
        <p:spPr>
          <a:xfrm>
            <a:off x="621792" y="137160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Пользователь</a:t>
            </a:r>
            <a:endParaRPr lang="en-US" sz="1400" dirty="0"/>
          </a:p>
        </p:txBody>
      </p:sp>
      <p:sp>
        <p:nvSpPr>
          <p:cNvPr id="6" name="Arrow"/>
          <p:cNvSpPr/>
          <p:nvPr/>
        </p:nvSpPr>
        <p:spPr>
          <a:xfrm>
            <a:off x="2377440" y="1691640"/>
            <a:ext cx="8229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Frontend"/>
          <p:cNvSpPr/>
          <p:nvPr/>
        </p:nvSpPr>
        <p:spPr>
          <a:xfrm>
            <a:off x="3200400" y="1371600"/>
            <a:ext cx="320040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Frontend"/>
          <p:cNvSpPr txBox="1"/>
          <p:nvPr/>
        </p:nvSpPr>
        <p:spPr>
          <a:xfrm>
            <a:off x="3273552" y="1371600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Frontend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React + Vite · Nginx</a:t>
            </a:r>
            <a:endParaRPr lang="en-US" sz="1400" dirty="0"/>
          </a:p>
        </p:txBody>
      </p:sp>
      <p:sp>
        <p:nvSpPr>
          <p:cNvPr id="9" name="Backend frame"/>
          <p:cNvSpPr/>
          <p:nvPr/>
        </p:nvSpPr>
        <p:spPr>
          <a:xfrm>
            <a:off x="548640" y="2377440"/>
            <a:ext cx="8503920" cy="2743200"/>
          </a:xfrm>
          <a:prstGeom prst="rect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Backend — FastAPI (uvicorn, :8000)</a:t>
            </a:r>
            <a:endParaRPr lang="en-US" sz="1300" dirty="0"/>
          </a:p>
        </p:txBody>
      </p:sp>
      <p:sp>
        <p:nvSpPr>
          <p:cNvPr id="11" name="Arrow"/>
          <p:cNvSpPr/>
          <p:nvPr/>
        </p:nvSpPr>
        <p:spPr>
          <a:xfrm>
            <a:off x="4800600" y="2011680"/>
            <a:ext cx="0" cy="7772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4910328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REST</a:t>
            </a:r>
            <a:endParaRPr lang="en-US" sz="1100" dirty="0"/>
          </a:p>
        </p:txBody>
      </p:sp>
      <p:sp>
        <p:nvSpPr>
          <p:cNvPr id="13" name="Node API-роутеры"/>
          <p:cNvSpPr/>
          <p:nvPr/>
        </p:nvSpPr>
        <p:spPr>
          <a:xfrm>
            <a:off x="777240" y="2788920"/>
            <a:ext cx="804672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API-роутеры"/>
          <p:cNvSpPr txBox="1"/>
          <p:nvPr/>
        </p:nvSpPr>
        <p:spPr>
          <a:xfrm>
            <a:off x="850392" y="2788920"/>
            <a:ext cx="7900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API-роутеры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/files · /ask · /trace · /schema · /cache · /metrics</a:t>
            </a:r>
            <a:endParaRPr lang="en-US" sz="1400" dirty="0"/>
          </a:p>
        </p:txBody>
      </p:sp>
      <p:sp>
        <p:nvSpPr>
          <p:cNvPr id="15" name="Arrow"/>
          <p:cNvSpPr/>
          <p:nvPr/>
        </p:nvSpPr>
        <p:spPr>
          <a:xfrm>
            <a:off x="2697480" y="3474720"/>
            <a:ext cx="0" cy="3657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Arrow"/>
          <p:cNvSpPr/>
          <p:nvPr/>
        </p:nvSpPr>
        <p:spPr>
          <a:xfrm>
            <a:off x="6926580" y="3474720"/>
            <a:ext cx="0" cy="3657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2807208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POST /files/upload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031736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POST /ask</a:t>
            </a:r>
            <a:endParaRPr lang="en-US" sz="1100" dirty="0"/>
          </a:p>
        </p:txBody>
      </p:sp>
      <p:sp>
        <p:nvSpPr>
          <p:cNvPr id="19" name="Node Excel Ingestion"/>
          <p:cNvSpPr/>
          <p:nvPr/>
        </p:nvSpPr>
        <p:spPr>
          <a:xfrm>
            <a:off x="777240" y="3840480"/>
            <a:ext cx="384048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Excel Ingestion"/>
          <p:cNvSpPr txBox="1"/>
          <p:nvPr/>
        </p:nvSpPr>
        <p:spPr>
          <a:xfrm>
            <a:off x="850392" y="3840480"/>
            <a:ext cx="36941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Excel Ingestion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Queue (async) → парсер → repository → mart-normalizer</a:t>
            </a:r>
            <a:endParaRPr lang="en-US" sz="1400" dirty="0"/>
          </a:p>
        </p:txBody>
      </p:sp>
      <p:sp>
        <p:nvSpPr>
          <p:cNvPr id="21" name="Node LangGraph-агент"/>
          <p:cNvSpPr/>
          <p:nvPr/>
        </p:nvSpPr>
        <p:spPr>
          <a:xfrm>
            <a:off x="5029200" y="3840480"/>
            <a:ext cx="379476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Label LangGraph-агент"/>
          <p:cNvSpPr txBox="1"/>
          <p:nvPr/>
        </p:nvSpPr>
        <p:spPr>
          <a:xfrm>
            <a:off x="5102352" y="384048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LangGraph-агент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classifier → … → answer · Entity Resolution · Query Cache</a:t>
            </a:r>
            <a:endParaRPr lang="en-US" sz="1400" dirty="0"/>
          </a:p>
        </p:txBody>
      </p:sp>
      <p:sp>
        <p:nvSpPr>
          <p:cNvPr id="23" name="Node Мониторинг"/>
          <p:cNvSpPr/>
          <p:nvPr/>
        </p:nvSpPr>
        <p:spPr>
          <a:xfrm>
            <a:off x="9601200" y="2788920"/>
            <a:ext cx="203911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Label Мониторинг"/>
          <p:cNvSpPr txBox="1"/>
          <p:nvPr/>
        </p:nvSpPr>
        <p:spPr>
          <a:xfrm>
            <a:off x="9674352" y="2788920"/>
            <a:ext cx="1892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Мониторинг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Prometheus · Grafana</a:t>
            </a:r>
            <a:endParaRPr lang="en-US" sz="1400" dirty="0"/>
          </a:p>
        </p:txBody>
      </p:sp>
      <p:sp>
        <p:nvSpPr>
          <p:cNvPr id="25" name="Arrow"/>
          <p:cNvSpPr/>
          <p:nvPr/>
        </p:nvSpPr>
        <p:spPr>
          <a:xfrm>
            <a:off x="8823960" y="313182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Node LLM-провайдер"/>
          <p:cNvSpPr/>
          <p:nvPr/>
        </p:nvSpPr>
        <p:spPr>
          <a:xfrm>
            <a:off x="9601200" y="3840480"/>
            <a:ext cx="2039112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Label LLM-провайдер"/>
          <p:cNvSpPr txBox="1"/>
          <p:nvPr/>
        </p:nvSpPr>
        <p:spPr>
          <a:xfrm>
            <a:off x="9674352" y="3840480"/>
            <a:ext cx="189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LLM-провайдер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OpenAI-совместимый API · DeepSeek</a:t>
            </a:r>
            <a:endParaRPr lang="en-US" sz="1400" dirty="0"/>
          </a:p>
        </p:txBody>
      </p:sp>
      <p:sp>
        <p:nvSpPr>
          <p:cNvPr id="28" name="Arrow"/>
          <p:cNvSpPr/>
          <p:nvPr/>
        </p:nvSpPr>
        <p:spPr>
          <a:xfrm>
            <a:off x="8823960" y="438912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Arrow"/>
          <p:cNvSpPr/>
          <p:nvPr/>
        </p:nvSpPr>
        <p:spPr>
          <a:xfrm>
            <a:off x="2697480" y="4937760"/>
            <a:ext cx="0" cy="5943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Arrow"/>
          <p:cNvSpPr/>
          <p:nvPr/>
        </p:nvSpPr>
        <p:spPr>
          <a:xfrm>
            <a:off x="6926580" y="4937760"/>
            <a:ext cx="0" cy="5943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2807208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RAW + нормализация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031736" y="5212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безопасный SELECT</a:t>
            </a:r>
            <a:endParaRPr lang="en-US" sz="1100" dirty="0"/>
          </a:p>
        </p:txBody>
      </p:sp>
      <p:sp>
        <p:nvSpPr>
          <p:cNvPr id="33" name="Node PostgreSQL 16"/>
          <p:cNvSpPr/>
          <p:nvPr/>
        </p:nvSpPr>
        <p:spPr>
          <a:xfrm>
            <a:off x="548640" y="553212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Label PostgreSQL 16"/>
          <p:cNvSpPr txBox="1"/>
          <p:nvPr/>
        </p:nvSpPr>
        <p:spPr>
          <a:xfrm>
            <a:off x="621792" y="5532120"/>
            <a:ext cx="8357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PostgreSQL 16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public: files, sheets, cells, query_logs … · mart: price_facts, metrics</a:t>
            </a:r>
            <a:endParaRPr lang="en-US" sz="14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Ключевые принципы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Нормализация вместо векторного поиска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Long-факт-таблицы mart.price_facts / mart.metrics: агент генерирует простой SQL и не обращается к сырым ячейкам.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5720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Детерминизм вместо «магии» LLM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Правки SQL в codegen_node (префиксный поиск, нормализация поставщиков, is_blank → 0/1) повышают надёжность генерации.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804672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832104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Прозрачность каждого ответа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Пользователь видит SQL, результат, источники, а полный трейс шагов графа доступен на странице «Трейс».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Кэш ответов и fallback-логика верификатора уменьшают число повторных прогонов графа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Технологический стек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Backend (Python ≥ 3.12)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FastAPI + uvicorn — REST API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LangGraph + checkpoint-postgres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langchain-openai — structured output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SQLAlchemy 2.0 (async) + Alembic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openpyxl, pandas — Excel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rapidfuzz — fuzzy match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loguru, prometheus-client, slowapi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9768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457200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Frontend (React)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React 18 + TypeScript + Vite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react-router-dom — роутинг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chart.js — графики результатов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framer-motion — анимации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lucide-react — иконки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react-markdown — рендер ответов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4672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832104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Инфраструктура (Docker)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postgres:16-alpine — БД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service — FastAPI (:8000)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frontend — Nginx (:8080)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prometheus — метрики (:9090)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grafana — дашборды (:3001)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Структура проекта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6035040" cy="4526280"/>
          </a:xfrm>
          <a:prstGeom prst="roundRect">
            <a:avLst>
              <a:gd name="adj" fmla="val 16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777240" y="1691640"/>
            <a:ext cx="5669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alembic/       # миграции БД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          # данные, bm25_index.pkl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diagrams/      # Mermaid-диаграммы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          # примеры запросов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frontend/      # React-приложение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src/       # pages, components, api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scripts/       # init-db, prometheus, grafana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           # Backend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main.py    # FastAPI app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api/       # роутеры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core/      # config, db, excel, metrics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services/  # agent, llm, mart, excel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tests/         # pytest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6858000" y="1508760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7040880" y="15819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src/services/agent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040880" y="18745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LangGraph-граф, узлы, sql_compiler, промпты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6858000" y="2276856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7040880" y="23500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src/core/excel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264261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парсер, нормализация, schema_inference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858000" y="3044952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7040880" y="31181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src/services/mart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34107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нормализация в витрину (price_facts, metrics)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6858000" y="3813048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7040880" y="38862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src/services/llm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41788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LLMClient, structured output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6858000" y="4581144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7040880" y="46542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src/services/entity_resolution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49469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fuzzy-match, query_cache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858000" y="5349240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040880" y="54223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frontend/src/pages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5715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Chat, Files, Dashboard, Metrics, Trace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Поток обработки файла</a:t>
            </a:r>
            <a:endParaRPr lang="en-US" sz="3200" dirty="0"/>
          </a:p>
        </p:txBody>
      </p:sp>
      <p:sp>
        <p:nvSpPr>
          <p:cNvPr id="4" name="Node Upload"/>
          <p:cNvSpPr/>
          <p:nvPr/>
        </p:nvSpPr>
        <p:spPr>
          <a:xfrm>
            <a:off x="54864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Upload"/>
          <p:cNvSpPr txBox="1"/>
          <p:nvPr/>
        </p:nvSpPr>
        <p:spPr>
          <a:xfrm>
            <a:off x="62179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Upload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POST /files/upload</a:t>
            </a:r>
            <a:endParaRPr lang="en-US" sz="1400" dirty="0"/>
          </a:p>
        </p:txBody>
      </p:sp>
      <p:sp>
        <p:nvSpPr>
          <p:cNvPr id="6" name="Arrow"/>
          <p:cNvSpPr/>
          <p:nvPr/>
        </p:nvSpPr>
        <p:spPr>
          <a:xfrm>
            <a:off x="2103120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Card"/>
          <p:cNvSpPr/>
          <p:nvPr/>
        </p:nvSpPr>
        <p:spPr>
          <a:xfrm>
            <a:off x="548640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58368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Валидация: .xlsx / .xls, до 50 МБ. Иначе 400 ValidationError. Файл пишется во временный.</a:t>
            </a:r>
            <a:endParaRPr lang="en-US" sz="1200" dirty="0"/>
          </a:p>
        </p:txBody>
      </p:sp>
      <p:sp>
        <p:nvSpPr>
          <p:cNvPr id="9" name="Node IngestionQueue"/>
          <p:cNvSpPr/>
          <p:nvPr/>
        </p:nvSpPr>
        <p:spPr>
          <a:xfrm>
            <a:off x="2450592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Label IngestionQueue"/>
          <p:cNvSpPr txBox="1"/>
          <p:nvPr/>
        </p:nvSpPr>
        <p:spPr>
          <a:xfrm>
            <a:off x="2523744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IngestionQueue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async worker</a:t>
            </a:r>
            <a:endParaRPr lang="en-US" sz="1400" dirty="0"/>
          </a:p>
        </p:txBody>
      </p:sp>
      <p:sp>
        <p:nvSpPr>
          <p:cNvPr id="11" name="Arrow"/>
          <p:cNvSpPr/>
          <p:nvPr/>
        </p:nvSpPr>
        <p:spPr>
          <a:xfrm>
            <a:off x="4005072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Card"/>
          <p:cNvSpPr/>
          <p:nvPr/>
        </p:nvSpPr>
        <p:spPr>
          <a:xfrm>
            <a:off x="2450592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2560320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create_pending_file: запись File со статусом pending, затем process_file.</a:t>
            </a:r>
            <a:endParaRPr lang="en-US" sz="1200" dirty="0"/>
          </a:p>
        </p:txBody>
      </p:sp>
      <p:sp>
        <p:nvSpPr>
          <p:cNvPr id="14" name="Node Парсинг"/>
          <p:cNvSpPr/>
          <p:nvPr/>
        </p:nvSpPr>
        <p:spPr>
          <a:xfrm>
            <a:off x="4352544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 Парсинг"/>
          <p:cNvSpPr txBox="1"/>
          <p:nvPr/>
        </p:nvSpPr>
        <p:spPr>
          <a:xfrm>
            <a:off x="4425696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Парсинг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src/core/excel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5907024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Card"/>
          <p:cNvSpPr/>
          <p:nvPr/>
        </p:nvSpPr>
        <p:spPr>
          <a:xfrm>
            <a:off x="4352544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4462272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unmerge ячеек, поиск строк шапки, тип листа (prices / matrix / generic), период из имени листа, комментарии.</a:t>
            </a:r>
            <a:endParaRPr lang="en-US" sz="1200" dirty="0"/>
          </a:p>
        </p:txBody>
      </p:sp>
      <p:sp>
        <p:nvSpPr>
          <p:cNvPr id="19" name="Node RAW"/>
          <p:cNvSpPr/>
          <p:nvPr/>
        </p:nvSpPr>
        <p:spPr>
          <a:xfrm>
            <a:off x="6254496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RAW"/>
          <p:cNvSpPr txBox="1"/>
          <p:nvPr/>
        </p:nvSpPr>
        <p:spPr>
          <a:xfrm>
            <a:off x="6327648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RAW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схема public</a:t>
            </a:r>
            <a:endParaRPr lang="en-US" sz="1400" dirty="0"/>
          </a:p>
        </p:txBody>
      </p:sp>
      <p:sp>
        <p:nvSpPr>
          <p:cNvPr id="21" name="Arrow"/>
          <p:cNvSpPr/>
          <p:nvPr/>
        </p:nvSpPr>
        <p:spPr>
          <a:xfrm>
            <a:off x="7808976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Card"/>
          <p:cNvSpPr/>
          <p:nvPr/>
        </p:nvSpPr>
        <p:spPr>
          <a:xfrm>
            <a:off x="6254496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364224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files, sheets, column_metadata, cells, excel_comments. Идемпотентность: старые листы файла удаляются.</a:t>
            </a:r>
            <a:endParaRPr lang="en-US" sz="1200" dirty="0"/>
          </a:p>
        </p:txBody>
      </p:sp>
      <p:sp>
        <p:nvSpPr>
          <p:cNvPr id="24" name="Node Нормализация"/>
          <p:cNvSpPr/>
          <p:nvPr/>
        </p:nvSpPr>
        <p:spPr>
          <a:xfrm>
            <a:off x="8156448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Label Нормализация"/>
          <p:cNvSpPr txBox="1"/>
          <p:nvPr/>
        </p:nvSpPr>
        <p:spPr>
          <a:xfrm>
            <a:off x="8229600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Нормализация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схема mart</a:t>
            </a:r>
            <a:endParaRPr lang="en-US" sz="1400" dirty="0"/>
          </a:p>
        </p:txBody>
      </p:sp>
      <p:sp>
        <p:nvSpPr>
          <p:cNvPr id="26" name="Arrow"/>
          <p:cNvSpPr/>
          <p:nvPr/>
        </p:nvSpPr>
        <p:spPr>
          <a:xfrm>
            <a:off x="9710928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Card"/>
          <p:cNvSpPr/>
          <p:nvPr/>
        </p:nvSpPr>
        <p:spPr>
          <a:xfrm>
            <a:off x="8156448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8266176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prices → price_facts; matrix → metrics; supplier_aliases; sheet_templates по fingerprint.</a:t>
            </a:r>
            <a:endParaRPr lang="en-US" sz="1200" dirty="0"/>
          </a:p>
        </p:txBody>
      </p:sp>
      <p:sp>
        <p:nvSpPr>
          <p:cNvPr id="29" name="Node Entity Resolution"/>
          <p:cNvSpPr/>
          <p:nvPr/>
        </p:nvSpPr>
        <p:spPr>
          <a:xfrm>
            <a:off x="1005840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Label Entity Resolution"/>
          <p:cNvSpPr txBox="1"/>
          <p:nvPr/>
        </p:nvSpPr>
        <p:spPr>
          <a:xfrm>
            <a:off x="1013155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Entity Resolution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каталоги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10058400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10168128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Каталог item / supplier / period для агента. Статус файла: processed.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40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Статус файла</a:t>
            </a:r>
            <a:endParaRPr lang="en-US" sz="1400" dirty="0"/>
          </a:p>
        </p:txBody>
      </p:sp>
      <p:sp>
        <p:nvSpPr>
          <p:cNvPr id="34" name="Node pending"/>
          <p:cNvSpPr/>
          <p:nvPr/>
        </p:nvSpPr>
        <p:spPr>
          <a:xfrm>
            <a:off x="2286000" y="544068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Label pending"/>
          <p:cNvSpPr txBox="1"/>
          <p:nvPr/>
        </p:nvSpPr>
        <p:spPr>
          <a:xfrm>
            <a:off x="2359152" y="544068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pending</a:t>
            </a:r>
            <a:endParaRPr lang="en-US" sz="1300" dirty="0"/>
          </a:p>
        </p:txBody>
      </p:sp>
      <p:sp>
        <p:nvSpPr>
          <p:cNvPr id="36" name="Arrow"/>
          <p:cNvSpPr/>
          <p:nvPr/>
        </p:nvSpPr>
        <p:spPr>
          <a:xfrm>
            <a:off x="3931920" y="5669280"/>
            <a:ext cx="5486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7" name="Node processed"/>
          <p:cNvSpPr/>
          <p:nvPr/>
        </p:nvSpPr>
        <p:spPr>
          <a:xfrm>
            <a:off x="4480560" y="544068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Label processed"/>
          <p:cNvSpPr txBox="1"/>
          <p:nvPr/>
        </p:nvSpPr>
        <p:spPr>
          <a:xfrm>
            <a:off x="4553712" y="544068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processed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217920" y="5440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bg2"/>
                </a:solidFill>
              </a:rPr>
              <a:t>или</a:t>
            </a:r>
            <a:endParaRPr lang="en-US" sz="1300" dirty="0"/>
          </a:p>
        </p:txBody>
      </p:sp>
      <p:sp>
        <p:nvSpPr>
          <p:cNvPr id="40" name="Node failed"/>
          <p:cNvSpPr/>
          <p:nvPr/>
        </p:nvSpPr>
        <p:spPr>
          <a:xfrm>
            <a:off x="6858000" y="544068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Label failed"/>
          <p:cNvSpPr txBox="1"/>
          <p:nvPr/>
        </p:nvSpPr>
        <p:spPr>
          <a:xfrm>
            <a:off x="6931152" y="544068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failed</a:t>
            </a:r>
            <a:endParaRPr lang="en-US" sz="13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Парсинг Excel и Schema Inference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486400" cy="239776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Модуль (src/core/excel)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Назначение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parser.py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чтение .xlsx (openpyxl / pandas)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comment_extractor.py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комментарии ячеек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normalize.py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имена листов и колонок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schema_inference.py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типы колонок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sheet_kind_detector.py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prices / matrix / generic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table_structurer.py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структура таблицы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template_fingerprint.py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отпечаток шаблона листа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Node Fingerprint"/>
          <p:cNvSpPr/>
          <p:nvPr/>
        </p:nvSpPr>
        <p:spPr>
          <a:xfrm>
            <a:off x="6400800" y="3108960"/>
            <a:ext cx="16459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abel Fingerprint"/>
          <p:cNvSpPr txBox="1"/>
          <p:nvPr/>
        </p:nvSpPr>
        <p:spPr>
          <a:xfrm>
            <a:off x="6473952" y="310896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Fingerprint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compute_sheet_fingerprint</a:t>
            </a:r>
            <a:endParaRPr lang="en-US" sz="1400" dirty="0"/>
          </a:p>
        </p:txBody>
      </p:sp>
      <p:sp>
        <p:nvSpPr>
          <p:cNvPr id="7" name="Arrow"/>
          <p:cNvSpPr/>
          <p:nvPr/>
        </p:nvSpPr>
        <p:spPr>
          <a:xfrm>
            <a:off x="804672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Arrow"/>
          <p:cNvSpPr/>
          <p:nvPr/>
        </p:nvSpPr>
        <p:spPr>
          <a:xfrm flipV="1">
            <a:off x="8412480" y="2057400"/>
            <a:ext cx="0" cy="15544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Arrow"/>
          <p:cNvSpPr/>
          <p:nvPr/>
        </p:nvSpPr>
        <p:spPr>
          <a:xfrm>
            <a:off x="8412480" y="205740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Arrow"/>
          <p:cNvSpPr/>
          <p:nvPr/>
        </p:nvSpPr>
        <p:spPr>
          <a:xfrm>
            <a:off x="841248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Node Шаблон найден"/>
          <p:cNvSpPr/>
          <p:nvPr/>
        </p:nvSpPr>
        <p:spPr>
          <a:xfrm>
            <a:off x="8778240" y="1554480"/>
            <a:ext cx="2862072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Label Шаблон найден"/>
          <p:cNvSpPr txBox="1"/>
          <p:nvPr/>
        </p:nvSpPr>
        <p:spPr>
          <a:xfrm>
            <a:off x="8851392" y="1554480"/>
            <a:ext cx="2715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Шаблон найден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схема из mart.sheet_templates применяется без LLM</a:t>
            </a:r>
            <a:endParaRPr lang="en-US" sz="1400" dirty="0"/>
          </a:p>
        </p:txBody>
      </p:sp>
      <p:sp>
        <p:nvSpPr>
          <p:cNvPr id="4" name="Node LLM-инференс"/>
          <p:cNvSpPr/>
          <p:nvPr/>
        </p:nvSpPr>
        <p:spPr>
          <a:xfrm>
            <a:off x="8778240" y="3108960"/>
            <a:ext cx="2862072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LLM-инференс"/>
          <p:cNvSpPr txBox="1"/>
          <p:nvPr/>
        </p:nvSpPr>
        <p:spPr>
          <a:xfrm>
            <a:off x="8851392" y="3108960"/>
            <a:ext cx="2715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LLM-инференс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Pydantic SheetSchema → pending_confirmation</a:t>
            </a:r>
            <a:endParaRPr lang="en-US" sz="1400" dirty="0"/>
          </a:p>
        </p:txBody>
      </p:sp>
      <p:sp>
        <p:nvSpPr>
          <p:cNvPr id="15" name="Arrow"/>
          <p:cNvSpPr/>
          <p:nvPr/>
        </p:nvSpPr>
        <p:spPr>
          <a:xfrm>
            <a:off x="10209276" y="4114800"/>
            <a:ext cx="0" cy="6400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Node Подтверждение"/>
          <p:cNvSpPr/>
          <p:nvPr/>
        </p:nvSpPr>
        <p:spPr>
          <a:xfrm>
            <a:off x="8778240" y="4754880"/>
            <a:ext cx="2862072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Label Подтверждение"/>
          <p:cNvSpPr txBox="1"/>
          <p:nvPr/>
        </p:nvSpPr>
        <p:spPr>
          <a:xfrm>
            <a:off x="8851392" y="4754880"/>
            <a:ext cx="2715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Подтверждение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пользователь правит или подтверждает схему → confirmed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092440" y="2331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известный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657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новый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Витрина данных (mart)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mart.price_facts — цены лома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583680" cy="20980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Колонка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Пример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sheet_period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2025-01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item_name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Лом меди марки 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supplier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Сплав-21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price_type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среднерыночная / аукцион_старт / поставщик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value, currency, unit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486 500, ₽, т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is_blank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0/1 — пустые ячейки не превращаются в 0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7498080" y="1463040"/>
            <a:ext cx="4114800" cy="27432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7772400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mart.metrics — метрики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21945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dimension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period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metric_type · metric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value · unit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is_blank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484632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Long-факт-таблицы: агент генерирует простой SQL без обращения к сырым ячейкам, а пустые значения остаются пустыми (is_blank), а не нулями.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Схема базы данных</a:t>
            </a:r>
            <a:endParaRPr lang="en-US" sz="3200" dirty="0"/>
          </a:p>
        </p:txBody>
      </p:sp>
      <p:sp>
        <p:nvSpPr>
          <p:cNvPr id="4" name="Zone схема public"/>
          <p:cNvSpPr/>
          <p:nvPr/>
        </p:nvSpPr>
        <p:spPr>
          <a:xfrm>
            <a:off x="548640" y="1371600"/>
            <a:ext cx="6675120" cy="4709160"/>
          </a:xfrm>
          <a:prstGeom prst="rect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731520" y="144475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схема public</a:t>
            </a:r>
            <a:endParaRPr lang="en-US" sz="1300" dirty="0"/>
          </a:p>
        </p:txBody>
      </p:sp>
      <p:sp>
        <p:nvSpPr>
          <p:cNvPr id="6" name="Zone схема mart"/>
          <p:cNvSpPr/>
          <p:nvPr/>
        </p:nvSpPr>
        <p:spPr>
          <a:xfrm>
            <a:off x="7589520" y="1371600"/>
            <a:ext cx="4050792" cy="4709160"/>
          </a:xfrm>
          <a:prstGeom prst="rect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7772400" y="1444752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схема mart</a:t>
            </a:r>
            <a:endParaRPr lang="en-US" sz="1300" dirty="0"/>
          </a:p>
        </p:txBody>
      </p:sp>
      <p:sp>
        <p:nvSpPr>
          <p:cNvPr id="8" name="Node files"/>
          <p:cNvSpPr/>
          <p:nvPr/>
        </p:nvSpPr>
        <p:spPr>
          <a:xfrm>
            <a:off x="4754880" y="18745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Label files"/>
          <p:cNvSpPr txBox="1"/>
          <p:nvPr/>
        </p:nvSpPr>
        <p:spPr>
          <a:xfrm>
            <a:off x="4828032" y="1874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files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id · filename · file_hash UK · status</a:t>
            </a:r>
            <a:endParaRPr lang="en-US" sz="1400" dirty="0"/>
          </a:p>
        </p:txBody>
      </p:sp>
      <p:sp>
        <p:nvSpPr>
          <p:cNvPr id="10" name="Node sheets"/>
          <p:cNvSpPr/>
          <p:nvPr/>
        </p:nvSpPr>
        <p:spPr>
          <a:xfrm>
            <a:off x="914400" y="1874520"/>
            <a:ext cx="25603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sheets"/>
          <p:cNvSpPr txBox="1"/>
          <p:nvPr/>
        </p:nvSpPr>
        <p:spPr>
          <a:xfrm>
            <a:off x="987552" y="1874520"/>
            <a:ext cx="24140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sheets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file_id FK · period · sheet_kind</a:t>
            </a:r>
            <a:endParaRPr lang="en-US" sz="1400" dirty="0"/>
          </a:p>
        </p:txBody>
      </p:sp>
      <p:sp>
        <p:nvSpPr>
          <p:cNvPr id="12" name="Arrow"/>
          <p:cNvSpPr/>
          <p:nvPr/>
        </p:nvSpPr>
        <p:spPr>
          <a:xfrm flipH="1">
            <a:off x="3474720" y="2377440"/>
            <a:ext cx="12801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374904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1 : N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2194560" y="2880360"/>
            <a:ext cx="0" cy="45720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Arrow"/>
          <p:cNvSpPr/>
          <p:nvPr/>
        </p:nvSpPr>
        <p:spPr>
          <a:xfrm>
            <a:off x="1737360" y="3337560"/>
            <a:ext cx="40233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Arrow"/>
          <p:cNvSpPr/>
          <p:nvPr/>
        </p:nvSpPr>
        <p:spPr>
          <a:xfrm>
            <a:off x="1737360" y="3337560"/>
            <a:ext cx="0" cy="5029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Arrow"/>
          <p:cNvSpPr/>
          <p:nvPr/>
        </p:nvSpPr>
        <p:spPr>
          <a:xfrm>
            <a:off x="3749040" y="3337560"/>
            <a:ext cx="0" cy="5029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Arrow"/>
          <p:cNvSpPr/>
          <p:nvPr/>
        </p:nvSpPr>
        <p:spPr>
          <a:xfrm>
            <a:off x="5760720" y="3337560"/>
            <a:ext cx="0" cy="5029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Node column_metadata"/>
          <p:cNvSpPr/>
          <p:nvPr/>
        </p:nvSpPr>
        <p:spPr>
          <a:xfrm>
            <a:off x="82296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column_metadata"/>
          <p:cNvSpPr txBox="1"/>
          <p:nvPr/>
        </p:nvSpPr>
        <p:spPr>
          <a:xfrm>
            <a:off x="89611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column_metadata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data_type · role</a:t>
            </a:r>
            <a:endParaRPr lang="en-US" sz="1300" dirty="0"/>
          </a:p>
        </p:txBody>
      </p:sp>
      <p:sp>
        <p:nvSpPr>
          <p:cNvPr id="21" name="Node cells"/>
          <p:cNvSpPr/>
          <p:nvPr/>
        </p:nvSpPr>
        <p:spPr>
          <a:xfrm>
            <a:off x="283464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Label cells"/>
          <p:cNvSpPr txBox="1"/>
          <p:nvPr/>
        </p:nvSpPr>
        <p:spPr>
          <a:xfrm>
            <a:off x="290779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cells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row_num · value_text · value_number</a:t>
            </a:r>
            <a:endParaRPr lang="en-US" sz="1300" dirty="0"/>
          </a:p>
        </p:txBody>
      </p:sp>
      <p:sp>
        <p:nvSpPr>
          <p:cNvPr id="23" name="Node excel_comments"/>
          <p:cNvSpPr/>
          <p:nvPr/>
        </p:nvSpPr>
        <p:spPr>
          <a:xfrm>
            <a:off x="484632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Label excel_comments"/>
          <p:cNvSpPr txBox="1"/>
          <p:nvPr/>
        </p:nvSpPr>
        <p:spPr>
          <a:xfrm>
            <a:off x="491947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excel_comments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cell_ref · author · text</a:t>
            </a:r>
            <a:endParaRPr lang="en-US" sz="1300" dirty="0"/>
          </a:p>
        </p:txBody>
      </p:sp>
      <p:sp>
        <p:nvSpPr>
          <p:cNvPr id="25" name="Node Служебные таблицы"/>
          <p:cNvSpPr/>
          <p:nvPr/>
        </p:nvSpPr>
        <p:spPr>
          <a:xfrm>
            <a:off x="822960" y="5166360"/>
            <a:ext cx="58521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Label Служебные таблицы"/>
          <p:cNvSpPr txBox="1"/>
          <p:nvPr/>
        </p:nvSpPr>
        <p:spPr>
          <a:xfrm>
            <a:off x="896112" y="5166360"/>
            <a:ext cx="5705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Служебные таблицы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entity_dictionary · query_cache · query_logs</a:t>
            </a:r>
            <a:endParaRPr lang="en-US" sz="1300" dirty="0"/>
          </a:p>
        </p:txBody>
      </p:sp>
      <p:sp>
        <p:nvSpPr>
          <p:cNvPr id="27" name="Arrow"/>
          <p:cNvSpPr/>
          <p:nvPr/>
        </p:nvSpPr>
        <p:spPr>
          <a:xfrm>
            <a:off x="6949440" y="2377440"/>
            <a:ext cx="4572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Arrow"/>
          <p:cNvSpPr/>
          <p:nvPr/>
        </p:nvSpPr>
        <p:spPr>
          <a:xfrm>
            <a:off x="7406640" y="2377440"/>
            <a:ext cx="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Arrow"/>
          <p:cNvSpPr/>
          <p:nvPr/>
        </p:nvSpPr>
        <p:spPr>
          <a:xfrm>
            <a:off x="6949440" y="2377440"/>
            <a:ext cx="10058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Arrow"/>
          <p:cNvSpPr/>
          <p:nvPr/>
        </p:nvSpPr>
        <p:spPr>
          <a:xfrm>
            <a:off x="7406640" y="2377440"/>
            <a:ext cx="0" cy="160020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Arrow"/>
          <p:cNvSpPr/>
          <p:nvPr/>
        </p:nvSpPr>
        <p:spPr>
          <a:xfrm>
            <a:off x="7406640" y="3977640"/>
            <a:ext cx="5486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2" name="Node price_facts"/>
          <p:cNvSpPr/>
          <p:nvPr/>
        </p:nvSpPr>
        <p:spPr>
          <a:xfrm>
            <a:off x="7955280" y="187452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Label price_facts"/>
          <p:cNvSpPr txBox="1"/>
          <p:nvPr/>
        </p:nvSpPr>
        <p:spPr>
          <a:xfrm>
            <a:off x="8028432" y="18745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price_facts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file_id FK · item_name · supplier · price_type · value · is_blank</a:t>
            </a:r>
            <a:endParaRPr lang="en-US" sz="1400" dirty="0"/>
          </a:p>
        </p:txBody>
      </p:sp>
      <p:sp>
        <p:nvSpPr>
          <p:cNvPr id="34" name="Node metrics"/>
          <p:cNvSpPr/>
          <p:nvPr/>
        </p:nvSpPr>
        <p:spPr>
          <a:xfrm>
            <a:off x="7955280" y="347472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Label metrics"/>
          <p:cNvSpPr txBox="1"/>
          <p:nvPr/>
        </p:nvSpPr>
        <p:spPr>
          <a:xfrm>
            <a:off x="8028432" y="34747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metrics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file_id FK · dimension · metric_type · value · is_blank</a:t>
            </a:r>
            <a:endParaRPr lang="en-US" sz="1400" dirty="0"/>
          </a:p>
        </p:txBody>
      </p:sp>
      <p:sp>
        <p:nvSpPr>
          <p:cNvPr id="36" name="Node supplier_aliases · sheet_templates"/>
          <p:cNvSpPr/>
          <p:nvPr/>
        </p:nvSpPr>
        <p:spPr>
          <a:xfrm>
            <a:off x="7955280" y="484632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Label supplier_aliases · sheet_templates"/>
          <p:cNvSpPr txBox="1"/>
          <p:nvPr/>
        </p:nvSpPr>
        <p:spPr>
          <a:xfrm>
            <a:off x="8028432" y="48463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supplier_aliases · sheet_templates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канонические имена · шаблоны по fingerprint</a:t>
            </a:r>
            <a:endParaRPr lang="en-US" sz="1300" dirty="0"/>
          </a:p>
        </p:txBody>
      </p:sp>
      <p:sp>
        <p:nvSpPr>
          <p:cNvPr id="38" name="Arrow"/>
          <p:cNvSpPr/>
          <p:nvPr/>
        </p:nvSpPr>
        <p:spPr>
          <a:xfrm>
            <a:off x="6949440" y="2377440"/>
            <a:ext cx="10058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699516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file_id</a:t>
            </a:r>
            <a:endParaRPr lang="en-US" sz="10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Граф LLM-агента (LangGraph)</a:t>
            </a:r>
            <a:endParaRPr lang="en-US" sz="3200" dirty="0"/>
          </a:p>
        </p:txBody>
      </p:sp>
      <p:sp>
        <p:nvSpPr>
          <p:cNvPr id="4" name="Node classifier"/>
          <p:cNvSpPr/>
          <p:nvPr/>
        </p:nvSpPr>
        <p:spPr>
          <a:xfrm>
            <a:off x="548640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classifier"/>
          <p:cNvSpPr txBox="1"/>
          <p:nvPr/>
        </p:nvSpPr>
        <p:spPr>
          <a:xfrm>
            <a:off x="621792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classifier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тип + домен</a:t>
            </a:r>
            <a:endParaRPr lang="en-US" sz="1200" dirty="0"/>
          </a:p>
        </p:txBody>
      </p:sp>
      <p:sp>
        <p:nvSpPr>
          <p:cNvPr id="6" name="Arrow"/>
          <p:cNvSpPr/>
          <p:nvPr/>
        </p:nvSpPr>
        <p:spPr>
          <a:xfrm>
            <a:off x="1828800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disambiguation"/>
          <p:cNvSpPr/>
          <p:nvPr/>
        </p:nvSpPr>
        <p:spPr>
          <a:xfrm>
            <a:off x="2176272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disambiguation"/>
          <p:cNvSpPr txBox="1"/>
          <p:nvPr/>
        </p:nvSpPr>
        <p:spPr>
          <a:xfrm>
            <a:off x="2249424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disambiguation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уточнение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3456432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planner"/>
          <p:cNvSpPr/>
          <p:nvPr/>
        </p:nvSpPr>
        <p:spPr>
          <a:xfrm>
            <a:off x="3803904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planner"/>
          <p:cNvSpPr txBox="1"/>
          <p:nvPr/>
        </p:nvSpPr>
        <p:spPr>
          <a:xfrm>
            <a:off x="3877056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planner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план</a:t>
            </a:r>
            <a:endParaRPr lang="en-US" sz="1200" dirty="0"/>
          </a:p>
        </p:txBody>
      </p:sp>
      <p:sp>
        <p:nvSpPr>
          <p:cNvPr id="12" name="Arrow"/>
          <p:cNvSpPr/>
          <p:nvPr/>
        </p:nvSpPr>
        <p:spPr>
          <a:xfrm>
            <a:off x="5084064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codegen"/>
          <p:cNvSpPr/>
          <p:nvPr/>
        </p:nvSpPr>
        <p:spPr>
          <a:xfrm>
            <a:off x="5431536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codegen"/>
          <p:cNvSpPr txBox="1"/>
          <p:nvPr/>
        </p:nvSpPr>
        <p:spPr>
          <a:xfrm>
            <a:off x="5504688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codegen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SQL + валидация</a:t>
            </a:r>
            <a:endParaRPr lang="en-US" sz="1200" dirty="0"/>
          </a:p>
        </p:txBody>
      </p:sp>
      <p:sp>
        <p:nvSpPr>
          <p:cNvPr id="15" name="Arrow"/>
          <p:cNvSpPr/>
          <p:nvPr/>
        </p:nvSpPr>
        <p:spPr>
          <a:xfrm>
            <a:off x="6711696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Node executor"/>
          <p:cNvSpPr/>
          <p:nvPr/>
        </p:nvSpPr>
        <p:spPr>
          <a:xfrm>
            <a:off x="7059168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Label executor"/>
          <p:cNvSpPr txBox="1"/>
          <p:nvPr/>
        </p:nvSpPr>
        <p:spPr>
          <a:xfrm>
            <a:off x="7132320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executor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SELECT read-only</a:t>
            </a:r>
            <a:endParaRPr lang="en-US" sz="1200" dirty="0"/>
          </a:p>
        </p:txBody>
      </p:sp>
      <p:sp>
        <p:nvSpPr>
          <p:cNvPr id="18" name="Arrow"/>
          <p:cNvSpPr/>
          <p:nvPr/>
        </p:nvSpPr>
        <p:spPr>
          <a:xfrm>
            <a:off x="8339328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Node verifier"/>
          <p:cNvSpPr/>
          <p:nvPr/>
        </p:nvSpPr>
        <p:spPr>
          <a:xfrm>
            <a:off x="8686800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verifier"/>
          <p:cNvSpPr txBox="1"/>
          <p:nvPr/>
        </p:nvSpPr>
        <p:spPr>
          <a:xfrm>
            <a:off x="8759952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verifier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LLM-проверка</a:t>
            </a:r>
            <a:endParaRPr lang="en-US" sz="1200" dirty="0"/>
          </a:p>
        </p:txBody>
      </p:sp>
      <p:sp>
        <p:nvSpPr>
          <p:cNvPr id="21" name="Arrow"/>
          <p:cNvSpPr/>
          <p:nvPr/>
        </p:nvSpPr>
        <p:spPr>
          <a:xfrm>
            <a:off x="9966960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Node answer"/>
          <p:cNvSpPr/>
          <p:nvPr/>
        </p:nvSpPr>
        <p:spPr>
          <a:xfrm>
            <a:off x="10314432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Label answer"/>
          <p:cNvSpPr txBox="1"/>
          <p:nvPr/>
        </p:nvSpPr>
        <p:spPr>
          <a:xfrm>
            <a:off x="10387584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answer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ответ + chart</a:t>
            </a:r>
            <a:endParaRPr lang="en-US" sz="1200" dirty="0"/>
          </a:p>
        </p:txBody>
      </p:sp>
      <p:sp>
        <p:nvSpPr>
          <p:cNvPr id="24" name="Node failed — ошибка графа"/>
          <p:cNvSpPr/>
          <p:nvPr/>
        </p:nvSpPr>
        <p:spPr>
          <a:xfrm>
            <a:off x="548640" y="1508760"/>
            <a:ext cx="768096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Label failed — ошибка графа"/>
          <p:cNvSpPr txBox="1"/>
          <p:nvPr/>
        </p:nvSpPr>
        <p:spPr>
          <a:xfrm>
            <a:off x="621792" y="1508760"/>
            <a:ext cx="7534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6"/>
                </a:solidFill>
              </a:rPr>
              <a:t>failed — ошибка графа</a:t>
            </a:r>
            <a:endParaRPr lang="en-US" sz="1300" dirty="0"/>
          </a:p>
        </p:txBody>
      </p:sp>
      <p:sp>
        <p:nvSpPr>
          <p:cNvPr id="26" name="Arrow"/>
          <p:cNvSpPr/>
          <p:nvPr/>
        </p:nvSpPr>
        <p:spPr>
          <a:xfrm flipV="1">
            <a:off x="1188720" y="1965960"/>
            <a:ext cx="0" cy="5486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1280160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query_type = None</a:t>
            </a:r>
            <a:endParaRPr lang="en-US" sz="1000" dirty="0"/>
          </a:p>
        </p:txBody>
      </p:sp>
      <p:sp>
        <p:nvSpPr>
          <p:cNvPr id="28" name="Arrow"/>
          <p:cNvSpPr/>
          <p:nvPr/>
        </p:nvSpPr>
        <p:spPr>
          <a:xfrm flipV="1">
            <a:off x="6071616" y="1965960"/>
            <a:ext cx="0" cy="5486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6163056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SQL пуст · ретраи = 3</a:t>
            </a:r>
            <a:endParaRPr lang="en-US" sz="1000" dirty="0"/>
          </a:p>
        </p:txBody>
      </p:sp>
      <p:sp>
        <p:nvSpPr>
          <p:cNvPr id="30" name="Arrow"/>
          <p:cNvSpPr/>
          <p:nvPr/>
        </p:nvSpPr>
        <p:spPr>
          <a:xfrm flipV="1">
            <a:off x="7699248" y="1965960"/>
            <a:ext cx="0" cy="5486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779068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sql_error · ретраи = 3</a:t>
            </a:r>
            <a:endParaRPr lang="en-US" sz="1000" dirty="0"/>
          </a:p>
        </p:txBody>
      </p:sp>
      <p:sp>
        <p:nvSpPr>
          <p:cNvPr id="32" name="Arrow"/>
          <p:cNvSpPr/>
          <p:nvPr/>
        </p:nvSpPr>
        <p:spPr>
          <a:xfrm>
            <a:off x="7699248" y="3383280"/>
            <a:ext cx="0" cy="5029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Arrow"/>
          <p:cNvSpPr/>
          <p:nvPr/>
        </p:nvSpPr>
        <p:spPr>
          <a:xfrm flipH="1">
            <a:off x="6309360" y="3886200"/>
            <a:ext cx="1389888" cy="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Arrow"/>
          <p:cNvSpPr/>
          <p:nvPr/>
        </p:nvSpPr>
        <p:spPr>
          <a:xfrm flipV="1">
            <a:off x="6309360" y="3383280"/>
            <a:ext cx="0" cy="5029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640080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2"/>
                </a:solidFill>
              </a:rPr>
              <a:t>sql_error · ретраи &lt; 3</a:t>
            </a:r>
            <a:endParaRPr lang="en-US" sz="1100" dirty="0"/>
          </a:p>
        </p:txBody>
      </p:sp>
      <p:sp>
        <p:nvSpPr>
          <p:cNvPr id="36" name="Arrow"/>
          <p:cNvSpPr/>
          <p:nvPr/>
        </p:nvSpPr>
        <p:spPr>
          <a:xfrm>
            <a:off x="9326880" y="3383280"/>
            <a:ext cx="0" cy="9601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Arrow"/>
          <p:cNvSpPr/>
          <p:nvPr/>
        </p:nvSpPr>
        <p:spPr>
          <a:xfrm flipH="1">
            <a:off x="5833872" y="4343400"/>
            <a:ext cx="3493008" cy="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Arrow"/>
          <p:cNvSpPr/>
          <p:nvPr/>
        </p:nvSpPr>
        <p:spPr>
          <a:xfrm flipV="1">
            <a:off x="5833872" y="3383280"/>
            <a:ext cx="0" cy="9601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5925312" y="4389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2"/>
                </a:solidFill>
              </a:rPr>
              <a:t>needs_retry · ретраи &lt; 3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509760" y="36118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Валидация codegen: пустой SQL или ошибки → повтор (ретраи &lt; 3). При needs_retry и ретраях = 3 verifier передаёт управление в answer.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4754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Вход: вопрос через POST /ask · MAX_RETRY_COUNT = 3 · кэш query_cache проверяется до построения графа</a:t>
            </a:r>
            <a:endParaRPr lang="en-US" sz="1200" dirty="0"/>
          </a:p>
        </p:txBody>
      </p:sp>
      <p:sp>
        <p:nvSpPr>
          <p:cNvPr id="42" name="Node success"/>
          <p:cNvSpPr/>
          <p:nvPr/>
        </p:nvSpPr>
        <p:spPr>
          <a:xfrm>
            <a:off x="54864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Label success"/>
          <p:cNvSpPr txBox="1"/>
          <p:nvPr/>
        </p:nvSpPr>
        <p:spPr>
          <a:xfrm>
            <a:off x="62179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success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confidence ≥ 0.7</a:t>
            </a:r>
            <a:endParaRPr lang="en-US" sz="1400" dirty="0"/>
          </a:p>
        </p:txBody>
      </p:sp>
      <p:sp>
        <p:nvSpPr>
          <p:cNvPr id="44" name="Node low_confidence"/>
          <p:cNvSpPr/>
          <p:nvPr/>
        </p:nvSpPr>
        <p:spPr>
          <a:xfrm>
            <a:off x="429768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Label low_confidence"/>
          <p:cNvSpPr txBox="1"/>
          <p:nvPr/>
        </p:nvSpPr>
        <p:spPr>
          <a:xfrm>
            <a:off x="437083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low_confidence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confidence &lt; 0.7 → self-correction на уровне pipeline</a:t>
            </a:r>
            <a:endParaRPr lang="en-US" sz="1400" dirty="0"/>
          </a:p>
        </p:txBody>
      </p:sp>
      <p:sp>
        <p:nvSpPr>
          <p:cNvPr id="46" name="Node failed"/>
          <p:cNvSpPr/>
          <p:nvPr/>
        </p:nvSpPr>
        <p:spPr>
          <a:xfrm>
            <a:off x="804672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Label failed"/>
          <p:cNvSpPr txBox="1"/>
          <p:nvPr/>
        </p:nvSpPr>
        <p:spPr>
          <a:xfrm>
            <a:off x="811987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failed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ошибки графа</a:t>
            </a:r>
            <a:endParaRPr lang="en-US" sz="14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Узлы агента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259588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Узел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Что делает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Ключевая деталь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classifier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Тип запроса (lookup, aggregate, cross_sheet, delta, sum_by_supplier, find_period) и домен (prices / metrics / generic)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Structured output (Pydantic)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disambiguation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Проверяет, нужно ли уточнение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interrupt() при необходимости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planner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Текстовый план действий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PlannerResult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codegen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SQL: LLM или детерминированный sql_compiler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Whitelist mart.*, только SELECT, баланс кавычек и скобок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executor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Выполняет SELECT с statement_timeout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Fallback-SQL при пустом результате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verifier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LLM-проверка SQL и результата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Fallback с confidence 0.75, если нет JSON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answer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Ответ на естественном языке + chart-данные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Временной ряд из sql_result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Безопасная генерация SQL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Детерминированные правки в codegen</a:t>
            </a:r>
            <a:endParaRPr lang="en-US" sz="1800" dirty="0"/>
          </a:p>
        </p:txBody>
      </p:sp>
      <p:sp>
        <p:nvSpPr>
          <p:cNvPr id="5" name="Node «Все виды меди»"/>
          <p:cNvSpPr/>
          <p:nvPr/>
        </p:nvSpPr>
        <p:spPr>
          <a:xfrm>
            <a:off x="548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abel «Все виды меди»"/>
          <p:cNvSpPr txBox="1"/>
          <p:nvPr/>
        </p:nvSpPr>
        <p:spPr>
          <a:xfrm>
            <a:off x="621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«Все виды меди»</a:t>
            </a:r>
            <a:endParaRPr lang="en-US" sz="1300" dirty="0"/>
          </a:p>
        </p:txBody>
      </p:sp>
      <p:sp>
        <p:nvSpPr>
          <p:cNvPr id="7" name="Arrow"/>
          <p:cNvSpPr/>
          <p:nvPr/>
        </p:nvSpPr>
        <p:spPr>
          <a:xfrm>
            <a:off x="2148840" y="237744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Node item_name ILIKE 'Лом меди%'"/>
          <p:cNvSpPr/>
          <p:nvPr/>
        </p:nvSpPr>
        <p:spPr>
          <a:xfrm>
            <a:off x="251460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Label item_name ILIKE 'Лом меди%'"/>
          <p:cNvSpPr txBox="1"/>
          <p:nvPr/>
        </p:nvSpPr>
        <p:spPr>
          <a:xfrm>
            <a:off x="258775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item_name ILIKE 'Лом меди%'</a:t>
            </a:r>
            <a:endParaRPr lang="en-US" sz="1200" dirty="0"/>
          </a:p>
        </p:txBody>
      </p:sp>
      <p:sp>
        <p:nvSpPr>
          <p:cNvPr id="10" name="Node Поставщик «Сплав-21»"/>
          <p:cNvSpPr/>
          <p:nvPr/>
        </p:nvSpPr>
        <p:spPr>
          <a:xfrm>
            <a:off x="4297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Поставщик «Сплав-21»"/>
          <p:cNvSpPr txBox="1"/>
          <p:nvPr/>
        </p:nvSpPr>
        <p:spPr>
          <a:xfrm>
            <a:off x="4370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Поставщик «Сплав-21»</a:t>
            </a:r>
            <a:endParaRPr lang="en-US" sz="1300" dirty="0"/>
          </a:p>
        </p:txBody>
      </p:sp>
      <p:sp>
        <p:nvSpPr>
          <p:cNvPr id="12" name="Arrow"/>
          <p:cNvSpPr/>
          <p:nvPr/>
        </p:nvSpPr>
        <p:spPr>
          <a:xfrm>
            <a:off x="5897880" y="237744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'%сплав21%'"/>
          <p:cNvSpPr/>
          <p:nvPr/>
        </p:nvSpPr>
        <p:spPr>
          <a:xfrm>
            <a:off x="6263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'%сплав21%'"/>
          <p:cNvSpPr txBox="1"/>
          <p:nvPr/>
        </p:nvSpPr>
        <p:spPr>
          <a:xfrm>
            <a:off x="6336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'%сплав21%'</a:t>
            </a:r>
            <a:endParaRPr lang="en-US" sz="1200" dirty="0"/>
          </a:p>
        </p:txBody>
      </p:sp>
      <p:sp>
        <p:nvSpPr>
          <p:cNvPr id="15" name="Node Булевы поля is_blank"/>
          <p:cNvSpPr/>
          <p:nvPr/>
        </p:nvSpPr>
        <p:spPr>
          <a:xfrm>
            <a:off x="804672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Label Булевы поля is_blank"/>
          <p:cNvSpPr txBox="1"/>
          <p:nvPr/>
        </p:nvSpPr>
        <p:spPr>
          <a:xfrm>
            <a:off x="811987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Булевы поля is_blank</a:t>
            </a:r>
            <a:endParaRPr lang="en-US" sz="1300" dirty="0"/>
          </a:p>
        </p:txBody>
      </p:sp>
      <p:sp>
        <p:nvSpPr>
          <p:cNvPr id="17" name="Arrow"/>
          <p:cNvSpPr/>
          <p:nvPr/>
        </p:nvSpPr>
        <p:spPr>
          <a:xfrm>
            <a:off x="9646920" y="237744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Node целые 0 / 1"/>
          <p:cNvSpPr/>
          <p:nvPr/>
        </p:nvSpPr>
        <p:spPr>
          <a:xfrm>
            <a:off x="10012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bel целые 0 / 1"/>
          <p:cNvSpPr txBox="1"/>
          <p:nvPr/>
        </p:nvSpPr>
        <p:spPr>
          <a:xfrm>
            <a:off x="10085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целые 0 / 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Валидация перед выполнением</a:t>
            </a:r>
            <a:endParaRPr lang="en-US" sz="1800" dirty="0"/>
          </a:p>
        </p:txBody>
      </p:sp>
      <p:sp>
        <p:nvSpPr>
          <p:cNvPr id="21" name="Card"/>
          <p:cNvSpPr/>
          <p:nvPr/>
        </p:nvSpPr>
        <p:spPr>
          <a:xfrm>
            <a:off x="548640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Badge 1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Только SELECT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whitelist таблиц mart.*</a:t>
            </a:r>
            <a:endParaRPr lang="en-US" sz="1200" dirty="0"/>
          </a:p>
        </p:txBody>
      </p:sp>
      <p:sp>
        <p:nvSpPr>
          <p:cNvPr id="26" name="Card"/>
          <p:cNvSpPr/>
          <p:nvPr/>
        </p:nvSpPr>
        <p:spPr>
          <a:xfrm>
            <a:off x="3364992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Badge 2"/>
          <p:cNvSpPr/>
          <p:nvPr/>
        </p:nvSpPr>
        <p:spPr>
          <a:xfrm>
            <a:off x="3547872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3547872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547872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Blacklist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47872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INSERT · UPDATE · DELETE · DROP · ALTER</a:t>
            </a:r>
            <a:endParaRPr lang="en-US" sz="1200" dirty="0"/>
          </a:p>
        </p:txBody>
      </p:sp>
      <p:sp>
        <p:nvSpPr>
          <p:cNvPr id="31" name="Card"/>
          <p:cNvSpPr/>
          <p:nvPr/>
        </p:nvSpPr>
        <p:spPr>
          <a:xfrm>
            <a:off x="6181344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Badge 3"/>
          <p:cNvSpPr/>
          <p:nvPr/>
        </p:nvSpPr>
        <p:spPr>
          <a:xfrm>
            <a:off x="6364224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6364224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364224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Баланс скобок и кавычек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364224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детекция обрезанного SQL</a:t>
            </a:r>
            <a:endParaRPr lang="en-US" sz="1200" dirty="0"/>
          </a:p>
        </p:txBody>
      </p:sp>
      <p:sp>
        <p:nvSpPr>
          <p:cNvPr id="36" name="Card"/>
          <p:cNvSpPr/>
          <p:nvPr/>
        </p:nvSpPr>
        <p:spPr>
          <a:xfrm>
            <a:off x="8997696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Badge 4"/>
          <p:cNvSpPr/>
          <p:nvPr/>
        </p:nvSpPr>
        <p:spPr>
          <a:xfrm>
            <a:off x="9180576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9180576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9180576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statement_timeout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180576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30 секунд</a:t>
            </a:r>
            <a:endParaRPr lang="en-US" sz="1200" dirty="0"/>
          </a:p>
        </p:txBody>
      </p:sp>
      <p:sp>
        <p:nvSpPr>
          <p:cNvPr id="41" name="Card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 txBox="1"/>
          <p:nvPr/>
        </p:nvSpPr>
        <p:spPr>
          <a:xfrm>
            <a:off x="822960" y="5440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sql_compiler.py — альтернатива LLM: компилирует структурированную спеку в безопасный SELECT без модели.</a:t>
            </a:r>
            <a:endParaRPr lang="en-US" sz="15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Entity Resolution</a:t>
            </a:r>
            <a:endParaRPr lang="en-US" sz="3200" dirty="0"/>
          </a:p>
        </p:txBody>
      </p:sp>
      <p:sp>
        <p:nvSpPr>
          <p:cNvPr id="4" name="Node Вопрос"/>
          <p:cNvSpPr/>
          <p:nvPr/>
        </p:nvSpPr>
        <p:spPr>
          <a:xfrm>
            <a:off x="548640" y="1645920"/>
            <a:ext cx="228600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Вопрос"/>
          <p:cNvSpPr txBox="1"/>
          <p:nvPr/>
        </p:nvSpPr>
        <p:spPr>
          <a:xfrm>
            <a:off x="621792" y="164592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Вопрос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«Средняя цена лома меди у Сплав-21 в январе?»</a:t>
            </a:r>
            <a:endParaRPr lang="en-US" sz="1500" dirty="0"/>
          </a:p>
        </p:txBody>
      </p:sp>
      <p:sp>
        <p:nvSpPr>
          <p:cNvPr id="6" name="Arrow"/>
          <p:cNvSpPr/>
          <p:nvPr/>
        </p:nvSpPr>
        <p:spPr>
          <a:xfrm>
            <a:off x="2834640" y="2194560"/>
            <a:ext cx="4572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EntityResolver"/>
          <p:cNvSpPr/>
          <p:nvPr/>
        </p:nvSpPr>
        <p:spPr>
          <a:xfrm>
            <a:off x="3291840" y="1645920"/>
            <a:ext cx="502920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90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EntityResolver"/>
          <p:cNvSpPr txBox="1"/>
          <p:nvPr/>
        </p:nvSpPr>
        <p:spPr>
          <a:xfrm>
            <a:off x="3364992" y="1645920"/>
            <a:ext cx="4882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EntityResolver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сопоставление сущностей из вопроса с реальными значениями</a:t>
            </a:r>
            <a:endParaRPr lang="en-US" sz="1600" dirty="0"/>
          </a:p>
        </p:txBody>
      </p:sp>
      <p:sp>
        <p:nvSpPr>
          <p:cNvPr id="9" name="Arrow"/>
          <p:cNvSpPr/>
          <p:nvPr/>
        </p:nvSpPr>
        <p:spPr>
          <a:xfrm>
            <a:off x="8321040" y="2194560"/>
            <a:ext cx="4572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Кандидаты из БД"/>
          <p:cNvSpPr/>
          <p:nvPr/>
        </p:nvSpPr>
        <p:spPr>
          <a:xfrm>
            <a:off x="8778240" y="1645920"/>
            <a:ext cx="2862072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Кандидаты из БД"/>
          <p:cNvSpPr txBox="1"/>
          <p:nvPr/>
        </p:nvSpPr>
        <p:spPr>
          <a:xfrm>
            <a:off x="8851392" y="1645920"/>
            <a:ext cx="27157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Кандидаты из БД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реальные названия → в codegen</a:t>
            </a:r>
            <a:endParaRPr lang="en-US" sz="1500" dirty="0"/>
          </a:p>
        </p:txBody>
      </p:sp>
      <p:sp>
        <p:nvSpPr>
          <p:cNvPr id="12" name="Node Справочники"/>
          <p:cNvSpPr/>
          <p:nvPr/>
        </p:nvSpPr>
        <p:spPr>
          <a:xfrm>
            <a:off x="3291840" y="3749040"/>
            <a:ext cx="14630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Label Справочники"/>
          <p:cNvSpPr txBox="1"/>
          <p:nvPr/>
        </p:nvSpPr>
        <p:spPr>
          <a:xfrm>
            <a:off x="3364992" y="374904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Справочники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item_name · supplier · sheet_period</a:t>
            </a:r>
            <a:endParaRPr lang="en-US" sz="1300" dirty="0"/>
          </a:p>
        </p:txBody>
      </p:sp>
      <p:sp>
        <p:nvSpPr>
          <p:cNvPr id="14" name="Arrow"/>
          <p:cNvSpPr/>
          <p:nvPr/>
        </p:nvSpPr>
        <p:spPr>
          <a:xfrm flipV="1">
            <a:off x="4023360" y="2743200"/>
            <a:ext cx="0" cy="10058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Node Fuzzy-match"/>
          <p:cNvSpPr/>
          <p:nvPr/>
        </p:nvSpPr>
        <p:spPr>
          <a:xfrm>
            <a:off x="5074920" y="3749040"/>
            <a:ext cx="14630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Label Fuzzy-match"/>
          <p:cNvSpPr txBox="1"/>
          <p:nvPr/>
        </p:nvSpPr>
        <p:spPr>
          <a:xfrm>
            <a:off x="5148072" y="374904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Fuzzy-match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rapidfuzz + pg_trgm</a:t>
            </a:r>
            <a:endParaRPr lang="en-US" sz="1300" dirty="0"/>
          </a:p>
        </p:txBody>
      </p:sp>
      <p:sp>
        <p:nvSpPr>
          <p:cNvPr id="17" name="Arrow"/>
          <p:cNvSpPr/>
          <p:nvPr/>
        </p:nvSpPr>
        <p:spPr>
          <a:xfrm flipV="1">
            <a:off x="5806440" y="2743200"/>
            <a:ext cx="0" cy="10058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Node BM25-индекс"/>
          <p:cNvSpPr/>
          <p:nvPr/>
        </p:nvSpPr>
        <p:spPr>
          <a:xfrm>
            <a:off x="6858000" y="3749040"/>
            <a:ext cx="14630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bel BM25-индекс"/>
          <p:cNvSpPr txBox="1"/>
          <p:nvPr/>
        </p:nvSpPr>
        <p:spPr>
          <a:xfrm>
            <a:off x="6931152" y="374904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BM25-индекс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bm25_index.pkl · top_k листов</a:t>
            </a:r>
            <a:endParaRPr lang="en-US" sz="1300" dirty="0"/>
          </a:p>
        </p:txBody>
      </p:sp>
      <p:sp>
        <p:nvSpPr>
          <p:cNvPr id="20" name="Arrow"/>
          <p:cNvSpPr/>
          <p:nvPr/>
        </p:nvSpPr>
        <p:spPr>
          <a:xfrm flipV="1">
            <a:off x="7589520" y="2743200"/>
            <a:ext cx="0" cy="10058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Card"/>
          <p:cNvSpPr/>
          <p:nvPr/>
        </p:nvSpPr>
        <p:spPr>
          <a:xfrm>
            <a:off x="548640" y="530352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822960" y="5303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Каталог индексируется при загрузке файла (index_entities). В запросе подставляются реальные значения-кандидаты — меньше галлюцинаций названий.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LLM-клиент и устойчивость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LLMClient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src/services/llm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chat() — обычный запрос, возвращает строку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chat_stream() — стриминг токенов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Любое OpenAI-совместимое API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57200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Retry-логика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_try_with_retries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974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Повтор до MAX_RETRIES раз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RateLimitError / APITimeoutError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Пустой ответ (content = None) считается сбоем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804672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832104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Structured output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Pydantic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6974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get_structured_llm(schema)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with_structured_output (json_mode)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Кэш Runnable по схеме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5394960"/>
            <a:ext cx="11064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Конфигурация: LLM_BASE_URL · LLM_API_KEY · LLM_MODEL_PRIMARY. Пустой ответ нестабильных моделей — сбой, а не результат.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ИНТЕРФЕЙС И НАБЛЮДАЕМОСТЬ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Frontend (React + TypeScript)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2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5A36"/>
                          </a:solidFill>
                        </a:rPr>
                        <a:t>Страница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5A36"/>
                          </a:solidFill>
                        </a:rPr>
                        <a:t>Возможности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Чат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вопросы агенту, прогресс шагов, SQL-блок, таблица / график результата, источники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Файлы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загрузка Excel, статусы обработки, просмотр листов и структуры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Дашборд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общая панель состояния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Метрики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Prometheus-метрики системы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Трейсы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просмотр выполнения графа агента по шагам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Ключевые компоненты</a:t>
            </a:r>
            <a:endParaRPr lang="en-US" sz="1600" dirty="0"/>
          </a:p>
        </p:txBody>
      </p:sp>
      <p:sp>
        <p:nvSpPr>
          <p:cNvPr id="6" name="Node AgentProgress"/>
          <p:cNvSpPr/>
          <p:nvPr/>
        </p:nvSpPr>
        <p:spPr>
          <a:xfrm>
            <a:off x="548640" y="502920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Label AgentProgress"/>
          <p:cNvSpPr txBox="1"/>
          <p:nvPr/>
        </p:nvSpPr>
        <p:spPr>
          <a:xfrm>
            <a:off x="621792" y="502920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AgentProgress</a:t>
            </a:r>
            <a:endParaRPr lang="en-US" sz="1200" dirty="0"/>
          </a:p>
        </p:txBody>
      </p:sp>
      <p:sp>
        <p:nvSpPr>
          <p:cNvPr id="8" name="Node ChatMessage"/>
          <p:cNvSpPr/>
          <p:nvPr/>
        </p:nvSpPr>
        <p:spPr>
          <a:xfrm>
            <a:off x="2807208" y="502920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Label ChatMessage"/>
          <p:cNvSpPr txBox="1"/>
          <p:nvPr/>
        </p:nvSpPr>
        <p:spPr>
          <a:xfrm>
            <a:off x="2880360" y="502920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ChatMessage</a:t>
            </a:r>
            <a:endParaRPr lang="en-US" sz="1200" dirty="0"/>
          </a:p>
        </p:txBody>
      </p:sp>
      <p:sp>
        <p:nvSpPr>
          <p:cNvPr id="10" name="Node ResultChart"/>
          <p:cNvSpPr/>
          <p:nvPr/>
        </p:nvSpPr>
        <p:spPr>
          <a:xfrm>
            <a:off x="5065776" y="502920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ResultChart"/>
          <p:cNvSpPr txBox="1"/>
          <p:nvPr/>
        </p:nvSpPr>
        <p:spPr>
          <a:xfrm>
            <a:off x="5138928" y="502920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ResultChart</a:t>
            </a:r>
            <a:endParaRPr lang="en-US" sz="1200" dirty="0"/>
          </a:p>
        </p:txBody>
      </p:sp>
      <p:sp>
        <p:nvSpPr>
          <p:cNvPr id="12" name="Node ResultTable"/>
          <p:cNvSpPr/>
          <p:nvPr/>
        </p:nvSpPr>
        <p:spPr>
          <a:xfrm>
            <a:off x="7324344" y="502920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Label ResultTable"/>
          <p:cNvSpPr txBox="1"/>
          <p:nvPr/>
        </p:nvSpPr>
        <p:spPr>
          <a:xfrm>
            <a:off x="7397496" y="502920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ResultTable</a:t>
            </a:r>
            <a:endParaRPr lang="en-US" sz="1200" dirty="0"/>
          </a:p>
        </p:txBody>
      </p:sp>
      <p:sp>
        <p:nvSpPr>
          <p:cNvPr id="14" name="Node SourcesModal"/>
          <p:cNvSpPr/>
          <p:nvPr/>
        </p:nvSpPr>
        <p:spPr>
          <a:xfrm>
            <a:off x="9582912" y="502920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 SourcesModal"/>
          <p:cNvSpPr txBox="1"/>
          <p:nvPr/>
        </p:nvSpPr>
        <p:spPr>
          <a:xfrm>
            <a:off x="9656064" y="502920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SourcesModal</a:t>
            </a:r>
            <a:endParaRPr lang="en-US" sz="1200" dirty="0"/>
          </a:p>
        </p:txBody>
      </p:sp>
      <p:sp>
        <p:nvSpPr>
          <p:cNvPr id="16" name="Node SqlBlock"/>
          <p:cNvSpPr/>
          <p:nvPr/>
        </p:nvSpPr>
        <p:spPr>
          <a:xfrm>
            <a:off x="548640" y="557784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Label SqlBlock"/>
          <p:cNvSpPr txBox="1"/>
          <p:nvPr/>
        </p:nvSpPr>
        <p:spPr>
          <a:xfrm>
            <a:off x="621792" y="557784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SqlBlock</a:t>
            </a:r>
            <a:endParaRPr lang="en-US" sz="1200" dirty="0"/>
          </a:p>
        </p:txBody>
      </p:sp>
      <p:sp>
        <p:nvSpPr>
          <p:cNvPr id="18" name="Node TypingIndicator"/>
          <p:cNvSpPr/>
          <p:nvPr/>
        </p:nvSpPr>
        <p:spPr>
          <a:xfrm>
            <a:off x="2807208" y="557784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bel TypingIndicator"/>
          <p:cNvSpPr txBox="1"/>
          <p:nvPr/>
        </p:nvSpPr>
        <p:spPr>
          <a:xfrm>
            <a:off x="2880360" y="557784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TypingIndicator</a:t>
            </a:r>
            <a:endParaRPr lang="en-US" sz="1200" dirty="0"/>
          </a:p>
        </p:txBody>
      </p:sp>
      <p:sp>
        <p:nvSpPr>
          <p:cNvPr id="20" name="Node SheetViewer"/>
          <p:cNvSpPr/>
          <p:nvPr/>
        </p:nvSpPr>
        <p:spPr>
          <a:xfrm>
            <a:off x="5065776" y="557784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Label SheetViewer"/>
          <p:cNvSpPr txBox="1"/>
          <p:nvPr/>
        </p:nvSpPr>
        <p:spPr>
          <a:xfrm>
            <a:off x="5138928" y="557784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SheetViewer</a:t>
            </a:r>
            <a:endParaRPr lang="en-US" sz="1200" dirty="0"/>
          </a:p>
        </p:txBody>
      </p:sp>
      <p:sp>
        <p:nvSpPr>
          <p:cNvPr id="22" name="Node FileUpload"/>
          <p:cNvSpPr/>
          <p:nvPr/>
        </p:nvSpPr>
        <p:spPr>
          <a:xfrm>
            <a:off x="7324344" y="557784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Label FileUpload"/>
          <p:cNvSpPr txBox="1"/>
          <p:nvPr/>
        </p:nvSpPr>
        <p:spPr>
          <a:xfrm>
            <a:off x="7397496" y="557784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FileUpload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ИНТЕРФЕЙС И НАБЛЮДАЕМОСТЬ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Наблюдаемость</a:t>
            </a:r>
            <a:endParaRPr lang="en-US" sz="3200" dirty="0"/>
          </a:p>
        </p:txBody>
      </p:sp>
      <p:sp>
        <p:nvSpPr>
          <p:cNvPr id="4" name="Node FastAPI"/>
          <p:cNvSpPr/>
          <p:nvPr/>
        </p:nvSpPr>
        <p:spPr>
          <a:xfrm>
            <a:off x="54864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FastAPI"/>
          <p:cNvSpPr txBox="1"/>
          <p:nvPr/>
        </p:nvSpPr>
        <p:spPr>
          <a:xfrm>
            <a:off x="621792" y="155448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FastAPI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/metrics · loguru · query_logs</a:t>
            </a:r>
            <a:endParaRPr lang="en-US" sz="1600" dirty="0"/>
          </a:p>
        </p:txBody>
      </p:sp>
      <p:sp>
        <p:nvSpPr>
          <p:cNvPr id="6" name="Arrow"/>
          <p:cNvSpPr/>
          <p:nvPr/>
        </p:nvSpPr>
        <p:spPr>
          <a:xfrm>
            <a:off x="3657600" y="205740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Prometheus"/>
          <p:cNvSpPr/>
          <p:nvPr/>
        </p:nvSpPr>
        <p:spPr>
          <a:xfrm>
            <a:off x="443484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Prometheus"/>
          <p:cNvSpPr txBox="1"/>
          <p:nvPr/>
        </p:nvSpPr>
        <p:spPr>
          <a:xfrm>
            <a:off x="4507992" y="155448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Prometheus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:9090 · сбор метрик</a:t>
            </a:r>
            <a:endParaRPr lang="en-US" sz="1600" dirty="0"/>
          </a:p>
        </p:txBody>
      </p:sp>
      <p:sp>
        <p:nvSpPr>
          <p:cNvPr id="9" name="Arrow"/>
          <p:cNvSpPr/>
          <p:nvPr/>
        </p:nvSpPr>
        <p:spPr>
          <a:xfrm>
            <a:off x="7543800" y="205740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Grafana"/>
          <p:cNvSpPr/>
          <p:nvPr/>
        </p:nvSpPr>
        <p:spPr>
          <a:xfrm>
            <a:off x="832104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Grafana"/>
          <p:cNvSpPr txBox="1"/>
          <p:nvPr/>
        </p:nvSpPr>
        <p:spPr>
          <a:xfrm>
            <a:off x="8394192" y="155448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Grafana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:3001 · визуализация</a:t>
            </a:r>
            <a:endParaRPr lang="en-US" sz="1600" dirty="0"/>
          </a:p>
        </p:txBody>
      </p:sp>
      <p:sp>
        <p:nvSpPr>
          <p:cNvPr id="12" name="Arrow"/>
          <p:cNvSpPr/>
          <p:nvPr/>
        </p:nvSpPr>
        <p:spPr>
          <a:xfrm>
            <a:off x="2103120" y="2560320"/>
            <a:ext cx="0" cy="6400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Card"/>
          <p:cNvSpPr/>
          <p:nvPr/>
        </p:nvSpPr>
        <p:spPr>
          <a:xfrm>
            <a:off x="548640" y="3200400"/>
            <a:ext cx="3108960" cy="26517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777240" y="3383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query_logs и логи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88620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Журнал запросов: latency по узлам, тексты ошибок, полные трейсы (страница «Трейс»). Логи loguru собираются в Docker Compose.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4434840" y="3200400"/>
            <a:ext cx="3108960" cy="26517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4663440" y="3383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Метрики Prometheus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88620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RPS и латентность /ask · latency каждого узла графа · доля failed / low_confidence · token usage LLM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8321040" y="3200400"/>
            <a:ext cx="3108960" cy="26517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549640" y="3383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Дашборды Grafana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388620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Подключаются через provisioning datasource, поднимаются вместе с остальными сервисами в Docker Compose.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ИНТЕРФЕЙС И НАБЛЮДАЕМОСТЬ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Безопасность и защита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adge 1"/>
          <p:cNvSpPr/>
          <p:nvPr/>
        </p:nvSpPr>
        <p:spPr>
          <a:xfrm>
            <a:off x="777240" y="178308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7724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API-key auth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Заголовок X-API-Key для /files/* и /ask/*; в dev отключена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297680" y="1554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Badge 2"/>
          <p:cNvSpPr/>
          <p:nvPr/>
        </p:nvSpPr>
        <p:spPr>
          <a:xfrm>
            <a:off x="4526280" y="178308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52628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Rate limiting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88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slowapi: RATE_LIMIT_ASK = 30/min, RATE_LIMIT_UPLOAD = 10/min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8046720" y="1554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Badge 3"/>
          <p:cNvSpPr/>
          <p:nvPr/>
        </p:nvSpPr>
        <p:spPr>
          <a:xfrm>
            <a:off x="8275320" y="178308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827532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Read-only SQL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788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Агент физически не может изменить данные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48640" y="3886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Badge 4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77724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709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Секреты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Только через .env; для прода рекомендуется secrets-менеджер (Vault)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4297680" y="3886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Badge 5"/>
          <p:cNvSpPr/>
          <p:nvPr/>
        </p:nvSpPr>
        <p:spPr>
          <a:xfrm>
            <a:off x="4526280" y="41148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452628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709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Устойчивость LLM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Ретраи при rate-limit, таймаутах и пустом ответе модели</a:t>
            </a:r>
            <a:endParaRPr lang="en-US" sz="1400" dirty="0"/>
          </a:p>
        </p:txBody>
      </p:sp>
      <p:sp>
        <p:nvSpPr>
          <p:cNvPr id="29" name="Card"/>
          <p:cNvSpPr/>
          <p:nvPr/>
        </p:nvSpPr>
        <p:spPr>
          <a:xfrm>
            <a:off x="8046720" y="3886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Badge 6"/>
          <p:cNvSpPr/>
          <p:nvPr/>
        </p:nvSpPr>
        <p:spPr>
          <a:xfrm>
            <a:off x="8275320" y="41148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827532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709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Structured output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Pydantic для классификатора и планировщика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КАЧЕСТВО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Тесты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766560" cy="2098040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Тест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Что проверяет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test_sql_compiler.py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безопасный компилятор SQL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test_normalizer_dimension.py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нормализация измерений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test_classifier_domain.py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классификатор доменов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test_parser_header_detection.py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определение шапки Excel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test_sheet_kind_detector_domain.py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тип листа (prices / matrix / generic)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tests/integration/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интеграционные тесты с PostgreSQL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7680960" y="1508760"/>
            <a:ext cx="3931920" cy="27432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95528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Запуск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1945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юнит-тесты, без БД и LLM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tests/integration/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нужен TEST_POSTGRES_URL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548640" y="484632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Локально юнит-тесты идут сразу, а integration пропускаются без TEST_POSTGRES_URL. Интеграционные тесты создают и удаляют таблицы в схемах public и mart.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КАЧЕСТВО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CI/CD — GitHub Actions</a:t>
            </a:r>
            <a:endParaRPr lang="en-US" sz="3200" dirty="0"/>
          </a:p>
        </p:txBody>
      </p:sp>
      <p:sp>
        <p:nvSpPr>
          <p:cNvPr id="4" name="Node Триггер"/>
          <p:cNvSpPr/>
          <p:nvPr/>
        </p:nvSpPr>
        <p:spPr>
          <a:xfrm>
            <a:off x="548640" y="1737360"/>
            <a:ext cx="27432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Триггер"/>
          <p:cNvSpPr txBox="1"/>
          <p:nvPr/>
        </p:nvSpPr>
        <p:spPr>
          <a:xfrm>
            <a:off x="621792" y="1737360"/>
            <a:ext cx="2596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Триггер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push в main / master или pull_request</a:t>
            </a:r>
            <a:endParaRPr lang="en-US" sz="1600" dirty="0"/>
          </a:p>
        </p:txBody>
      </p:sp>
      <p:sp>
        <p:nvSpPr>
          <p:cNvPr id="6" name="Arrow"/>
          <p:cNvSpPr/>
          <p:nvPr/>
        </p:nvSpPr>
        <p:spPr>
          <a:xfrm>
            <a:off x="3291840" y="2331720"/>
            <a:ext cx="8229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unit"/>
          <p:cNvSpPr/>
          <p:nvPr/>
        </p:nvSpPr>
        <p:spPr>
          <a:xfrm>
            <a:off x="4114800" y="1737360"/>
            <a:ext cx="329184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unit"/>
          <p:cNvSpPr txBox="1"/>
          <p:nvPr/>
        </p:nvSpPr>
        <p:spPr>
          <a:xfrm>
            <a:off x="4187952" y="1737360"/>
            <a:ext cx="3145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unit</a:t>
            </a:r>
            <a:endParaRPr lang="en-US" sz="18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pytest tests/ · Ubuntu · Python 3.12 · без БД и LLM</a:t>
            </a:r>
            <a:endParaRPr lang="en-US" sz="1800" dirty="0"/>
          </a:p>
        </p:txBody>
      </p:sp>
      <p:sp>
        <p:nvSpPr>
          <p:cNvPr id="9" name="Arrow"/>
          <p:cNvSpPr/>
          <p:nvPr/>
        </p:nvSpPr>
        <p:spPr>
          <a:xfrm>
            <a:off x="7406640" y="2331720"/>
            <a:ext cx="8229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7406640" y="2011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needs</a:t>
            </a:r>
            <a:endParaRPr lang="en-US" sz="1100" dirty="0"/>
          </a:p>
        </p:txBody>
      </p:sp>
      <p:sp>
        <p:nvSpPr>
          <p:cNvPr id="11" name="Node integration"/>
          <p:cNvSpPr/>
          <p:nvPr/>
        </p:nvSpPr>
        <p:spPr>
          <a:xfrm>
            <a:off x="8229600" y="1737360"/>
            <a:ext cx="338328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Label integration"/>
          <p:cNvSpPr txBox="1"/>
          <p:nvPr/>
        </p:nvSpPr>
        <p:spPr>
          <a:xfrm>
            <a:off x="8302752" y="1737360"/>
            <a:ext cx="3236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integration</a:t>
            </a:r>
            <a:endParaRPr lang="en-US" sz="18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pytest tests/integration · TEST_POSTGRES_URL</a:t>
            </a:r>
            <a:endParaRPr lang="en-US" sz="1800" dirty="0"/>
          </a:p>
        </p:txBody>
      </p:sp>
      <p:sp>
        <p:nvSpPr>
          <p:cNvPr id="13" name="Arrow"/>
          <p:cNvSpPr/>
          <p:nvPr/>
        </p:nvSpPr>
        <p:spPr>
          <a:xfrm flipV="1">
            <a:off x="9921240" y="2926080"/>
            <a:ext cx="0" cy="91440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Node service: postgres:16"/>
          <p:cNvSpPr/>
          <p:nvPr/>
        </p:nvSpPr>
        <p:spPr>
          <a:xfrm>
            <a:off x="8229600" y="384048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 service: postgres:16"/>
          <p:cNvSpPr txBox="1"/>
          <p:nvPr/>
        </p:nvSpPr>
        <p:spPr>
          <a:xfrm>
            <a:off x="8302752" y="3840480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service: postgres:16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healthcheck · схемы public + mart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548640" y="3840480"/>
            <a:ext cx="68580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22960" y="38404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Один workflow ci.yml: юнит-тесты запускаются первыми, интеграционные стартуют только после них.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548640" y="521208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Quality gate на каждый push и pull_request: логика парсера, нормализации, классификатора и sql_compiler проверяется автоматически.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КАЧЕСТВО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Метрики качества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947672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5A36"/>
                </a:solidFill>
                <a:latin typeface="Calibri"/>
              </a:rPr>
              <a:t>83,3%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8424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pass rate бенчмарка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350008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5 из 6 запросов прошли проверку по числу (допуск 1%)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7830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947672"/>
            <a:ext cx="201168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 dirty="0">
                <a:solidFill>
                  <a:srgbClr val="FF5A36"/>
                </a:solidFill>
                <a:latin typeface="Calibri"/>
              </a:rPr>
              <a:t>17–34 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198424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простые запросы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0008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lookup / aggregate — десятки миллисекунд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343945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97580" y="356756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 dirty="0">
                <a:solidFill>
                  <a:srgbClr val="FF5A36"/>
                </a:solidFill>
                <a:latin typeface="Calibri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7445" y="36200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FFFFFF"/>
                </a:solidFill>
                <a:latin typeface="Calibri"/>
              </a:rPr>
              <a:t>traceability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7495" y="4166445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8A97A6"/>
                </a:solidFill>
                <a:latin typeface="Calibri"/>
              </a:rPr>
              <a:t>SQL +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результат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+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источники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для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каждого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ответа</a:t>
            </a:r>
            <a:endParaRPr sz="1150" b="0" i="0" dirty="0">
              <a:solidFill>
                <a:srgbClr val="8A97A6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48640" y="486460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Бенчмарк запросов (benchmark/results_first6.json)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044707"/>
              </p:ext>
            </p:extLst>
          </p:nvPr>
        </p:nvGraphicFramePr>
        <p:xfrm>
          <a:off x="548640" y="5193792"/>
          <a:ext cx="110642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Тип запроса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Пример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Результат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Латентность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lookup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среднерыночная цена на Лом алюминия, ноябрь 2025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153 369,75 ₽/тн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B1F24"/>
                          </a:solidFill>
                          <a:latin typeface="Calibri"/>
                        </a:rPr>
                        <a:t>26 с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aggregate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средняя цена медного лома у Ферроком, февраль 2025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696 625,15 ₽/тн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B1F24"/>
                          </a:solidFill>
                          <a:latin typeface="Calibri"/>
                        </a:rPr>
                        <a:t>21 с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дельта мин/макс по 4 поставщикам, февраль 2025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438 350,10 ₽/тн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76 с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cross_sheet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максимум среднерыночной цены за 2025 год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906 729,75 ₽/тн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B1F24"/>
                          </a:solidFill>
                          <a:latin typeface="Calibri"/>
                        </a:rPr>
                        <a:t>85 с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ДЕМОНСТРАЦИЯ И РАЗВЁРТЫВАНИЕ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Демонстрация — сценарий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645920"/>
            <a:ext cx="1920240" cy="39319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adge 1"/>
          <p:cNvSpPr/>
          <p:nvPr/>
        </p:nvSpPr>
        <p:spPr>
          <a:xfrm>
            <a:off x="777240" y="18745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77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Загрузка файла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42900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«Файлы» → загрузить xlsx → парсинг, схема и нормализация в витрину</a:t>
            </a:r>
            <a:endParaRPr lang="en-US" sz="1300" dirty="0"/>
          </a:p>
        </p:txBody>
      </p:sp>
      <p:sp>
        <p:nvSpPr>
          <p:cNvPr id="9" name="Arrow"/>
          <p:cNvSpPr/>
          <p:nvPr/>
        </p:nvSpPr>
        <p:spPr>
          <a:xfrm>
            <a:off x="246888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Card"/>
          <p:cNvSpPr/>
          <p:nvPr/>
        </p:nvSpPr>
        <p:spPr>
          <a:xfrm>
            <a:off x="2834640" y="1645920"/>
            <a:ext cx="1920240" cy="39319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Badge 2"/>
          <p:cNvSpPr/>
          <p:nvPr/>
        </p:nvSpPr>
        <p:spPr>
          <a:xfrm>
            <a:off x="3063240" y="18745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3063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Вопрос в чате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42900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«Покажи среднюю цену лома меди у поставщика Сплав-21 за январь»</a:t>
            </a:r>
            <a:endParaRPr lang="en-US" sz="1300" dirty="0"/>
          </a:p>
        </p:txBody>
      </p:sp>
      <p:sp>
        <p:nvSpPr>
          <p:cNvPr id="15" name="Arrow"/>
          <p:cNvSpPr/>
          <p:nvPr/>
        </p:nvSpPr>
        <p:spPr>
          <a:xfrm>
            <a:off x="475488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Card"/>
          <p:cNvSpPr/>
          <p:nvPr/>
        </p:nvSpPr>
        <p:spPr>
          <a:xfrm>
            <a:off x="5120640" y="1645920"/>
            <a:ext cx="1920240" cy="39319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Badge 3"/>
          <p:cNvSpPr/>
          <p:nvPr/>
        </p:nvSpPr>
        <p:spPr>
          <a:xfrm>
            <a:off x="5349240" y="18745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5349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Наблюдаем агента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342900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Прогресс: Classifier → Planner → CodeGen → Executor → Verifier → Answer</a:t>
            </a:r>
            <a:endParaRPr lang="en-US" sz="1300" dirty="0"/>
          </a:p>
        </p:txBody>
      </p:sp>
      <p:sp>
        <p:nvSpPr>
          <p:cNvPr id="21" name="Arrow"/>
          <p:cNvSpPr/>
          <p:nvPr/>
        </p:nvSpPr>
        <p:spPr>
          <a:xfrm>
            <a:off x="704088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Card"/>
          <p:cNvSpPr/>
          <p:nvPr/>
        </p:nvSpPr>
        <p:spPr>
          <a:xfrm>
            <a:off x="7406640" y="1645920"/>
            <a:ext cx="1920240" cy="39319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Badge 4"/>
          <p:cNvSpPr/>
          <p:nvPr/>
        </p:nvSpPr>
        <p:spPr>
          <a:xfrm>
            <a:off x="7635240" y="18745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635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63524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Прозрачность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342900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SQL-запрос, таблица / график, источники (листы и ячейки)</a:t>
            </a:r>
            <a:endParaRPr lang="en-US" sz="1300" dirty="0"/>
          </a:p>
        </p:txBody>
      </p:sp>
      <p:sp>
        <p:nvSpPr>
          <p:cNvPr id="27" name="Arrow"/>
          <p:cNvSpPr/>
          <p:nvPr/>
        </p:nvSpPr>
        <p:spPr>
          <a:xfrm>
            <a:off x="932688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Card"/>
          <p:cNvSpPr/>
          <p:nvPr/>
        </p:nvSpPr>
        <p:spPr>
          <a:xfrm>
            <a:off x="9692640" y="1645920"/>
            <a:ext cx="1920240" cy="39319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Badge 5"/>
          <p:cNvSpPr/>
          <p:nvPr/>
        </p:nvSpPr>
        <p:spPr>
          <a:xfrm>
            <a:off x="9921240" y="18745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9921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92124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Метрики и трейсы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9921240" y="342900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Latency узлов в «Метриках» и полный трейс в «Трейсе»</a:t>
            </a:r>
            <a:endParaRPr lang="en-US" sz="13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ДЕМОНСТРАЦИЯ И РАЗВЁРТЫВАНИЕ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Примеры запросов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98424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020824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lookup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04872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«Сколько составила среднерыночная цена на Лом алюминия в ноябре 2025 года?»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7296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→  153 369,75 ₽/тн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830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0" y="198424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2020824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aggregate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«Средняя цена на все виды медного лома по данным Ферроком в феврале 2025?»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7296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→  696 625,15 ₽/тн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49039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77240" y="3950207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3986783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delta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70831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«Дельта между мин и макс ценой на медный лом (Ферроком, Сплав-21, ЦветМет, Шами-сервис) в феврале 2025?»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38927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→  438 350,10 ₽/тн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749039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00800" y="3950207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3986783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cross_sheet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370831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«Максимальная среднерыночная цена на Лом меди кусок за 2025 год?»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138927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→  906 729,75 ₽/тн ·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97880"/>
            <a:ext cx="11064240" cy="54864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600760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Каждый ответ сопровождается выполненным SQL и источниками (лист · строка · колонка) — полная traceability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ДЕМОНСТРАЦИЯ И РАЗВЁРТЫВАНИЕ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Динамика цен — лом меди кусок,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7A6"/>
                </a:solidFill>
                <a:latin typeface="Calibri"/>
              </a:rPr>
              <a:t>Среднерыночная цена, руб./тн · данные из mart.price_facts (12 листов Excel)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349240"/>
            <a:ext cx="10789920" cy="18288"/>
          </a:xfrm>
          <a:prstGeom prst="rect">
            <a:avLst/>
          </a:prstGeom>
          <a:solidFill>
            <a:srgbClr val="3D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2247614"/>
            <a:ext cx="475488" cy="3101625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009870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891 480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янв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5697" y="2194559"/>
            <a:ext cx="475488" cy="3154680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25969" y="1956815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906 729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969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фев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48434" y="2211904"/>
            <a:ext cx="475488" cy="3137335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38706" y="1974160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901 744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706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мар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1172" y="2242512"/>
            <a:ext cx="475488" cy="3106727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51444" y="2004768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892 946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1444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апр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3909" y="2609810"/>
            <a:ext cx="475488" cy="2739429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64181" y="2372066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787 376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4181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май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86647" y="2645520"/>
            <a:ext cx="475488" cy="2703719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76919" y="2407776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777 112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76919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июн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99384" y="2727141"/>
            <a:ext cx="475488" cy="2622098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89656" y="2489397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753 652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9656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июл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12122" y="2671026"/>
            <a:ext cx="475488" cy="2678213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02394" y="2433282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769 781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2394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авг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4859" y="2574101"/>
            <a:ext cx="475488" cy="2775138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15131" y="2336357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797 640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5131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сен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7597" y="2410857"/>
            <a:ext cx="475488" cy="2938382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27869" y="217311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844 560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27869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окт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50334" y="2262918"/>
            <a:ext cx="475488" cy="3086321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840606" y="2025174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887 081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0606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ноя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863072" y="2242512"/>
            <a:ext cx="475488" cy="3106727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753344" y="2004768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892 946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53344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дек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7790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Calibri"/>
              </a:rPr>
              <a:t>▲ максимум: 906 729 ₽/тн (февраль)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0350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62828"/>
                </a:solidFill>
                <a:latin typeface="Calibri"/>
              </a:rPr>
              <a:t>▼ минимум: 753 653 ₽/тн (июль)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77900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97A6"/>
                </a:solidFill>
                <a:latin typeface="Calibri"/>
              </a:rPr>
              <a:t>Источник: data/data_proportional_prices.xlsx · запрос: SELECT sheet_period, value FROM mart.price_facts WHERE item_name = 'Лом меди кусок' AND price_type = 'среднерыночная'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ДЕМОНСТРАЦИЯ И РАЗВЁРТЫВАНИЕ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Архитектура развёртывания</a:t>
            </a:r>
            <a:endParaRPr lang="en-US" sz="3200" dirty="0"/>
          </a:p>
        </p:txBody>
      </p:sp>
      <p:sp>
        <p:nvSpPr>
          <p:cNvPr id="4" name="Node Браузер"/>
          <p:cNvSpPr/>
          <p:nvPr/>
        </p:nvSpPr>
        <p:spPr>
          <a:xfrm>
            <a:off x="68580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Браузер"/>
          <p:cNvSpPr txBox="1"/>
          <p:nvPr/>
        </p:nvSpPr>
        <p:spPr>
          <a:xfrm>
            <a:off x="75895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Браузер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пользователь</a:t>
            </a:r>
            <a:endParaRPr lang="en-US" sz="1500" dirty="0"/>
          </a:p>
        </p:txBody>
      </p:sp>
      <p:sp>
        <p:nvSpPr>
          <p:cNvPr id="6" name="Arrow"/>
          <p:cNvSpPr/>
          <p:nvPr/>
        </p:nvSpPr>
        <p:spPr>
          <a:xfrm>
            <a:off x="2834640" y="356616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frontend"/>
          <p:cNvSpPr/>
          <p:nvPr/>
        </p:nvSpPr>
        <p:spPr>
          <a:xfrm>
            <a:off x="356616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frontend"/>
          <p:cNvSpPr txBox="1"/>
          <p:nvPr/>
        </p:nvSpPr>
        <p:spPr>
          <a:xfrm>
            <a:off x="363931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frontend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Nginx :80 / :8080 · прокси /api → :8000</a:t>
            </a:r>
            <a:endParaRPr lang="en-US" sz="1500" dirty="0"/>
          </a:p>
        </p:txBody>
      </p:sp>
      <p:sp>
        <p:nvSpPr>
          <p:cNvPr id="9" name="Arrow"/>
          <p:cNvSpPr/>
          <p:nvPr/>
        </p:nvSpPr>
        <p:spPr>
          <a:xfrm>
            <a:off x="5715000" y="356616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service"/>
          <p:cNvSpPr/>
          <p:nvPr/>
        </p:nvSpPr>
        <p:spPr>
          <a:xfrm>
            <a:off x="644652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90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service"/>
          <p:cNvSpPr txBox="1"/>
          <p:nvPr/>
        </p:nvSpPr>
        <p:spPr>
          <a:xfrm>
            <a:off x="651967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service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FastAPI :8000 · /docs · /metrics</a:t>
            </a:r>
            <a:endParaRPr lang="en-US" sz="1500" dirty="0"/>
          </a:p>
        </p:txBody>
      </p:sp>
      <p:sp>
        <p:nvSpPr>
          <p:cNvPr id="12" name="Arrow"/>
          <p:cNvSpPr/>
          <p:nvPr/>
        </p:nvSpPr>
        <p:spPr>
          <a:xfrm>
            <a:off x="8595360" y="356616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postgres"/>
          <p:cNvSpPr/>
          <p:nvPr/>
        </p:nvSpPr>
        <p:spPr>
          <a:xfrm>
            <a:off x="932688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postgres"/>
          <p:cNvSpPr txBox="1"/>
          <p:nvPr/>
        </p:nvSpPr>
        <p:spPr>
          <a:xfrm>
            <a:off x="940003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16-alpine :5432 · asyncpg · pg_trgm</a:t>
            </a:r>
            <a:endParaRPr lang="en-US" sz="1500" dirty="0"/>
          </a:p>
        </p:txBody>
      </p:sp>
      <p:sp>
        <p:nvSpPr>
          <p:cNvPr id="15" name="Node LLM API"/>
          <p:cNvSpPr/>
          <p:nvPr/>
        </p:nvSpPr>
        <p:spPr>
          <a:xfrm>
            <a:off x="6446520" y="1463040"/>
            <a:ext cx="21488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Label LLM API"/>
          <p:cNvSpPr txBox="1"/>
          <p:nvPr/>
        </p:nvSpPr>
        <p:spPr>
          <a:xfrm>
            <a:off x="6519672" y="1463040"/>
            <a:ext cx="2002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LLM API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OpenAI-совместимый · LLM_BASE_URL</a:t>
            </a:r>
            <a:endParaRPr lang="en-US" sz="1500" dirty="0"/>
          </a:p>
        </p:txBody>
      </p:sp>
      <p:sp>
        <p:nvSpPr>
          <p:cNvPr id="17" name="Arrow"/>
          <p:cNvSpPr/>
          <p:nvPr/>
        </p:nvSpPr>
        <p:spPr>
          <a:xfrm flipV="1">
            <a:off x="7520940" y="246888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Node prometheus"/>
          <p:cNvSpPr/>
          <p:nvPr/>
        </p:nvSpPr>
        <p:spPr>
          <a:xfrm>
            <a:off x="6446520" y="4846320"/>
            <a:ext cx="21488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bel prometheus"/>
          <p:cNvSpPr txBox="1"/>
          <p:nvPr/>
        </p:nvSpPr>
        <p:spPr>
          <a:xfrm>
            <a:off x="6519672" y="4846320"/>
            <a:ext cx="2002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prometheus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:9090 · scrape /metrics</a:t>
            </a:r>
            <a:endParaRPr lang="en-US" sz="1500" dirty="0"/>
          </a:p>
        </p:txBody>
      </p:sp>
      <p:sp>
        <p:nvSpPr>
          <p:cNvPr id="20" name="Arrow"/>
          <p:cNvSpPr/>
          <p:nvPr/>
        </p:nvSpPr>
        <p:spPr>
          <a:xfrm flipV="1">
            <a:off x="7520940" y="4114800"/>
            <a:ext cx="0" cy="7315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Node grafana"/>
          <p:cNvSpPr/>
          <p:nvPr/>
        </p:nvSpPr>
        <p:spPr>
          <a:xfrm>
            <a:off x="9326880" y="4846320"/>
            <a:ext cx="21488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Label grafana"/>
          <p:cNvSpPr txBox="1"/>
          <p:nvPr/>
        </p:nvSpPr>
        <p:spPr>
          <a:xfrm>
            <a:off x="9400032" y="4846320"/>
            <a:ext cx="2002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grafana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:3001 · admin / admin</a:t>
            </a:r>
            <a:endParaRPr lang="en-US" sz="1500" dirty="0"/>
          </a:p>
        </p:txBody>
      </p:sp>
      <p:sp>
        <p:nvSpPr>
          <p:cNvPr id="23" name="Arrow"/>
          <p:cNvSpPr/>
          <p:nvPr/>
        </p:nvSpPr>
        <p:spPr>
          <a:xfrm flipH="1">
            <a:off x="8595360" y="534924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Card"/>
          <p:cNvSpPr/>
          <p:nvPr/>
        </p:nvSpPr>
        <p:spPr>
          <a:xfrm>
            <a:off x="685800" y="4846320"/>
            <a:ext cx="48463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914400" y="484632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Docker Compose · app_network. Volumes: ./data, ./src. service стартует после healthcheck postgres (pg_isready).</a:t>
            </a:r>
            <a:endParaRPr lang="en-US" sz="1300" dirty="0"/>
          </a:p>
        </p:txBody>
      </p:sp>
      <p:sp>
        <p:nvSpPr>
          <p:cNvPr id="26" name="Card"/>
          <p:cNvSpPr/>
          <p:nvPr/>
        </p:nvSpPr>
        <p:spPr>
          <a:xfrm>
            <a:off x="685800" y="1463040"/>
            <a:ext cx="48463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914400" y="14630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Backend собирается из Dockerfile, frontend — из Dockerfile.frontend (Nginx, статика React).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ДЕМОНСТРАЦИЯ И РАЗВЁРТЫВАНИЕ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Быстрый старт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6035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adge 1"/>
          <p:cNvSpPr/>
          <p:nvPr/>
        </p:nvSpPr>
        <p:spPr>
          <a:xfrm>
            <a:off x="731520" y="16733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31520" y="1673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600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Конфигурация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cp .env.example .env → заполнить LLM_* и POSTGRES_*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548640" y="2423160"/>
            <a:ext cx="6035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Badge 2"/>
          <p:cNvSpPr/>
          <p:nvPr/>
        </p:nvSpPr>
        <p:spPr>
          <a:xfrm>
            <a:off x="731520" y="25877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731520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514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Запуск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834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docker compose up --build -d</a:t>
            </a:r>
            <a:endParaRPr lang="en-US" sz="1200" dirty="0"/>
          </a:p>
        </p:txBody>
      </p:sp>
      <p:sp>
        <p:nvSpPr>
          <p:cNvPr id="14" name="Card"/>
          <p:cNvSpPr/>
          <p:nvPr/>
        </p:nvSpPr>
        <p:spPr>
          <a:xfrm>
            <a:off x="548640" y="3337560"/>
            <a:ext cx="6035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Badge 3"/>
          <p:cNvSpPr/>
          <p:nvPr/>
        </p:nvSpPr>
        <p:spPr>
          <a:xfrm>
            <a:off x="731520" y="35021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73152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Миграции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49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docker compose exec service alembic upgrade head</a:t>
            </a:r>
            <a:endParaRPr lang="en-US" sz="1200" dirty="0"/>
          </a:p>
        </p:txBody>
      </p:sp>
      <p:sp>
        <p:nvSpPr>
          <p:cNvPr id="19" name="Card"/>
          <p:cNvSpPr/>
          <p:nvPr/>
        </p:nvSpPr>
        <p:spPr>
          <a:xfrm>
            <a:off x="548640" y="4251960"/>
            <a:ext cx="6035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Badge 4"/>
          <p:cNvSpPr/>
          <p:nvPr/>
        </p:nvSpPr>
        <p:spPr>
          <a:xfrm>
            <a:off x="731520" y="44165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73152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Данные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663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загрузить Excel на странице «Файлы»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548640" y="5166360"/>
            <a:ext cx="6035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Badge 5"/>
          <p:cNvSpPr/>
          <p:nvPr/>
        </p:nvSpPr>
        <p:spPr>
          <a:xfrm>
            <a:off x="731520" y="53309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0" y="5330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257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Вопросы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5577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задавать вопросы в «Чате»</a:t>
            </a:r>
            <a:endParaRPr lang="en-US" sz="1200" dirty="0"/>
          </a:p>
        </p:txBody>
      </p:sp>
      <p:sp>
        <p:nvSpPr>
          <p:cNvPr id="29" name="Card"/>
          <p:cNvSpPr/>
          <p:nvPr/>
        </p:nvSpPr>
        <p:spPr>
          <a:xfrm>
            <a:off x="6858000" y="1508760"/>
            <a:ext cx="4754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132320" y="1645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Команды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0" y="210312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 -d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exec service \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alembic upgrade head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6858000" y="3749040"/>
            <a:ext cx="4754880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7132320" y="3886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Адреса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0" y="4343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Frontend  </a:t>
            </a:r>
            <a:r>
              <a:rPr lang="en-US" sz="1400" dirty="0">
                <a:solidFill>
                  <a:schemeClr val="bg2"/>
                </a:solidFill>
              </a:rPr>
              <a:t>localhost:8080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Swagger  </a:t>
            </a:r>
            <a:r>
              <a:rPr lang="en-US" sz="1400" dirty="0">
                <a:solidFill>
                  <a:schemeClr val="bg2"/>
                </a:solidFill>
              </a:rPr>
              <a:t>localhost:8000/docs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Prometheus  </a:t>
            </a:r>
            <a:r>
              <a:rPr lang="en-US" sz="1400" dirty="0">
                <a:solidFill>
                  <a:schemeClr val="bg2"/>
                </a:solidFill>
              </a:rPr>
              <a:t>localhost:9090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Grafana  </a:t>
            </a:r>
            <a:r>
              <a:rPr lang="en-US" sz="1400" dirty="0">
                <a:solidFill>
                  <a:schemeClr val="bg2"/>
                </a:solidFill>
              </a:rPr>
              <a:t>localhost:3001</a:t>
            </a:r>
            <a:endParaRPr lang="en-US" sz="14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ИТОГИ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Итоги и перспективы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6309360" cy="4526280"/>
          </a:xfrm>
          <a:prstGeom prst="roundRect">
            <a:avLst>
              <a:gd name="adj" fmla="val 16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Что сделано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Асинхронный ingestion Excel → нормализованная витрина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LangGraph-агент «вопрос → SQL → ответ» с полным трейсом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Безопасная генерация SQL (whitelist + blacklist + валидация)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Entity Resolution для точного сопоставления сущностей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Современный React-интерфейс: чат, файлы, метрики, трейсы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Наблюдаемость: Prometheus + Grafana + журнал запросов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Автотесты и CI: unit + integration на каждый push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7132320" y="1508760"/>
            <a:ext cx="4480560" cy="4526280"/>
          </a:xfrm>
          <a:prstGeom prst="roundRect">
            <a:avLst>
              <a:gd name="adj" fmla="val 163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7406640" y="16916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Перспективы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2240280"/>
            <a:ext cx="393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Расширение типов вопросов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Поддержка новых форматов листов (Schema Inference готов)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Secrets-менеджер (Vault) для прод-контура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Корпоративная авторизация (SSO)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Алерты в Grafana по качеству ответов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Мобильный клиент и экспорт отчётов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СПАСИБО ЗА ВНИМАНИЕ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</a:rPr>
              <a:t>Вопросы?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EVRAZ Agent — AI-агент для интеллектуальной работы с Excel-файлами</a:t>
            </a: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731520" y="4754880"/>
            <a:ext cx="73152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1005840" y="47548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Подробности: README.md · PROJECT.md · INSTRUCTIONS.md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VRAZ Dark">
  <a:themeElements>
    <a:clrScheme name="EVRAZ Dark">
      <a:dk1>
        <a:srgbClr val="1B1F24"/>
      </a:dk1>
      <a:lt1>
        <a:srgbClr val="FFFFFF"/>
      </a:lt1>
      <a:dk2>
        <a:srgbClr val="262C33"/>
      </a:dk2>
      <a:lt2>
        <a:srgbClr val="A9B4C0"/>
      </a:lt2>
      <a:accent1>
        <a:srgbClr val="FF5A36"/>
      </a:accent1>
      <a:accent2>
        <a:srgbClr val="2FA6C9"/>
      </a:accent2>
      <a:accent3>
        <a:srgbClr val="3FBF8A"/>
      </a:accent3>
      <a:accent4>
        <a:srgbClr val="E5B53D"/>
      </a:accent4>
      <a:accent5>
        <a:srgbClr val="3A434D"/>
      </a:accent5>
      <a:accent6>
        <a:srgbClr val="E5484D"/>
      </a:accent6>
      <a:hlink>
        <a:srgbClr val="FF5A36"/>
      </a:hlink>
      <a:folHlink>
        <a:srgbClr val="A9B4C0"/>
      </a:folHlink>
    </a:clrScheme>
    <a:fontScheme name="EVRAZ Da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3292</Words>
  <Application>Microsoft Office PowerPoint</Application>
  <PresentationFormat>Широкоэкранный</PresentationFormat>
  <Paragraphs>727</Paragraphs>
  <Slides>32</Slides>
  <Notes>29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36" baseType="lpstr">
      <vt:lpstr>Arial</vt:lpstr>
      <vt:lpstr>Calibri</vt:lpstr>
      <vt:lpstr>Courier New</vt:lpstr>
      <vt:lpstr>EVRAZ Dark</vt:lpstr>
      <vt:lpstr>Презентация PowerPoint</vt:lpstr>
      <vt:lpstr>Содержание</vt:lpstr>
      <vt:lpstr>О проекте</vt:lpstr>
      <vt:lpstr>Проблематика</vt:lpstr>
      <vt:lpstr>Задача и цели</vt:lpstr>
      <vt:lpstr>Решение — обзор</vt:lpstr>
      <vt:lpstr>Архитектура системы</vt:lpstr>
      <vt:lpstr>Ключевые принципы</vt:lpstr>
      <vt:lpstr>Технологический стек</vt:lpstr>
      <vt:lpstr>Структура проекта</vt:lpstr>
      <vt:lpstr>Поток обработки файла</vt:lpstr>
      <vt:lpstr>Парсинг Excel и Schema Inference</vt:lpstr>
      <vt:lpstr>Витрина данных (mart)</vt:lpstr>
      <vt:lpstr>Схема базы данных</vt:lpstr>
      <vt:lpstr>Граф LLM-агента (LangGraph)</vt:lpstr>
      <vt:lpstr>Узлы агента</vt:lpstr>
      <vt:lpstr>Безопасная генерация SQL</vt:lpstr>
      <vt:lpstr>Entity Resolution</vt:lpstr>
      <vt:lpstr>LLM-клиент и устойчивость</vt:lpstr>
      <vt:lpstr>Frontend (React + TypeScript)</vt:lpstr>
      <vt:lpstr>Наблюдаемость</vt:lpstr>
      <vt:lpstr>Безопасность и защита</vt:lpstr>
      <vt:lpstr>Тесты</vt:lpstr>
      <vt:lpstr>CI/CD — GitHub Actions</vt:lpstr>
      <vt:lpstr>Презентация PowerPoint</vt:lpstr>
      <vt:lpstr>Демонстрация — сценарий</vt:lpstr>
      <vt:lpstr>Презентация PowerPoint</vt:lpstr>
      <vt:lpstr>Презентация PowerPoint</vt:lpstr>
      <vt:lpstr>Архитектура развёртывания</vt:lpstr>
      <vt:lpstr>Быстрый старт</vt:lpstr>
      <vt:lpstr>Итоги и перспективы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EVRAZ Agent</dc:title>
  <dc:subject>PptxGenJS Presentation</dc:subject>
  <dc:creator>EVRAZ Agent</dc:creator>
  <cp:lastModifiedBy>Костя Баландин</cp:lastModifiedBy>
  <cp:revision>2</cp:revision>
  <dcterms:created xsi:type="dcterms:W3CDTF">2026-10-15T13:54:55Z</dcterms:created>
  <dcterms:modified xsi:type="dcterms:W3CDTF">2026-10-15T14:49:31Z</dcterms:modified>
</cp:coreProperties>
</file>