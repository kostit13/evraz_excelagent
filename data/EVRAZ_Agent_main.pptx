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80" r:id="rId4"/>
    <p:sldId id="275" r:id="rId5"/>
    <p:sldId id="279" r:id="rId6"/>
    <p:sldId id="277" r:id="rId7"/>
    <p:sldId id="259" r:id="rId8"/>
    <p:sldId id="281" r:id="rId9"/>
    <p:sldId id="282" r:id="rId10"/>
    <p:sldId id="278" r:id="rId11"/>
    <p:sldId id="262" r:id="rId12"/>
    <p:sldId id="264" r:id="rId13"/>
    <p:sldId id="266" r:id="rId14"/>
    <p:sldId id="26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69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Ярослав Zhjckfd" userId="180ae11dff91542b" providerId="LiveId" clId="{E2501CB2-C655-458D-845F-849DFB16B14F}"/>
    <pc:docChg chg="undo custSel modSld sldOrd">
      <pc:chgData name="Ярослав Zhjckfd" userId="180ae11dff91542b" providerId="LiveId" clId="{E2501CB2-C655-458D-845F-849DFB16B14F}" dt="2026-10-24T13:21:51.426" v="114" actId="255"/>
      <pc:docMkLst>
        <pc:docMk/>
      </pc:docMkLst>
      <pc:sldChg chg="modSp mod">
        <pc:chgData name="Ярослав Zhjckfd" userId="180ae11dff91542b" providerId="LiveId" clId="{E2501CB2-C655-458D-845F-849DFB16B14F}" dt="2026-10-24T12:51:41.614" v="23" actId="255"/>
        <pc:sldMkLst>
          <pc:docMk/>
          <pc:sldMk cId="0" sldId="256"/>
        </pc:sldMkLst>
        <pc:spChg chg="mod">
          <ac:chgData name="Ярослав Zhjckfd" userId="180ae11dff91542b" providerId="LiveId" clId="{E2501CB2-C655-458D-845F-849DFB16B14F}" dt="2026-10-24T12:50:55.467" v="17" actId="207"/>
          <ac:spMkLst>
            <pc:docMk/>
            <pc:sldMk cId="0" sldId="256"/>
            <ac:spMk id="10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1:05.579" v="18" actId="255"/>
          <ac:spMkLst>
            <pc:docMk/>
            <pc:sldMk cId="0" sldId="256"/>
            <ac:spMk id="13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1:32.758" v="21" actId="255"/>
          <ac:spMkLst>
            <pc:docMk/>
            <pc:sldMk cId="0" sldId="256"/>
            <ac:spMk id="14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1:09.266" v="19" actId="255"/>
          <ac:spMkLst>
            <pc:docMk/>
            <pc:sldMk cId="0" sldId="256"/>
            <ac:spMk id="16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1:37.539" v="22" actId="255"/>
          <ac:spMkLst>
            <pc:docMk/>
            <pc:sldMk cId="0" sldId="256"/>
            <ac:spMk id="17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1:13.417" v="20" actId="255"/>
          <ac:spMkLst>
            <pc:docMk/>
            <pc:sldMk cId="0" sldId="256"/>
            <ac:spMk id="19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1:41.614" v="23" actId="255"/>
          <ac:spMkLst>
            <pc:docMk/>
            <pc:sldMk cId="0" sldId="256"/>
            <ac:spMk id="20" creationId="{00000000-0000-0000-0000-000000000000}"/>
          </ac:spMkLst>
        </pc:spChg>
      </pc:sldChg>
      <pc:sldChg chg="modSp mod">
        <pc:chgData name="Ярослав Zhjckfd" userId="180ae11dff91542b" providerId="LiveId" clId="{E2501CB2-C655-458D-845F-849DFB16B14F}" dt="2026-10-24T12:54:18.469" v="32" actId="1076"/>
        <pc:sldMkLst>
          <pc:docMk/>
          <pc:sldMk cId="0" sldId="258"/>
        </pc:sldMkLst>
        <pc:spChg chg="mod">
          <ac:chgData name="Ярослав Zhjckfd" userId="180ae11dff91542b" providerId="LiveId" clId="{E2501CB2-C655-458D-845F-849DFB16B14F}" dt="2026-10-24T12:54:18.469" v="32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3:52.438" v="28" actId="255"/>
          <ac:spMkLst>
            <pc:docMk/>
            <pc:sldMk cId="0" sldId="258"/>
            <ac:spMk id="11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3:56.590" v="29" actId="255"/>
          <ac:spMkLst>
            <pc:docMk/>
            <pc:sldMk cId="0" sldId="258"/>
            <ac:spMk id="15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4:00.222" v="30" actId="255"/>
          <ac:spMkLst>
            <pc:docMk/>
            <pc:sldMk cId="0" sldId="258"/>
            <ac:spMk id="19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4:04.134" v="31" actId="255"/>
          <ac:spMkLst>
            <pc:docMk/>
            <pc:sldMk cId="0" sldId="258"/>
            <ac:spMk id="23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3:45.636" v="27" actId="14100"/>
          <ac:spMkLst>
            <pc:docMk/>
            <pc:sldMk cId="0" sldId="258"/>
            <ac:spMk id="27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3:42.488" v="26" actId="14100"/>
          <ac:spMkLst>
            <pc:docMk/>
            <pc:sldMk cId="0" sldId="258"/>
            <ac:spMk id="30" creationId="{00000000-0000-0000-0000-000000000000}"/>
          </ac:spMkLst>
        </pc:spChg>
      </pc:sldChg>
      <pc:sldChg chg="modSp mod">
        <pc:chgData name="Ярослав Zhjckfd" userId="180ae11dff91542b" providerId="LiveId" clId="{E2501CB2-C655-458D-845F-849DFB16B14F}" dt="2026-10-24T12:46:19.575" v="15" actId="255"/>
        <pc:sldMkLst>
          <pc:docMk/>
          <pc:sldMk cId="0" sldId="259"/>
        </pc:sldMkLst>
        <pc:spChg chg="mod">
          <ac:chgData name="Ярослав Zhjckfd" userId="180ae11dff91542b" providerId="LiveId" clId="{E2501CB2-C655-458D-845F-849DFB16B14F}" dt="2026-10-24T12:45:49.518" v="10" actId="207"/>
          <ac:spMkLst>
            <pc:docMk/>
            <pc:sldMk cId="0" sldId="259"/>
            <ac:spMk id="8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45:59.966" v="11" actId="255"/>
          <ac:spMkLst>
            <pc:docMk/>
            <pc:sldMk cId="0" sldId="259"/>
            <ac:spMk id="11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46:04.390" v="12" actId="255"/>
          <ac:spMkLst>
            <pc:docMk/>
            <pc:sldMk cId="0" sldId="259"/>
            <ac:spMk id="16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46:09.548" v="13" actId="255"/>
          <ac:spMkLst>
            <pc:docMk/>
            <pc:sldMk cId="0" sldId="259"/>
            <ac:spMk id="21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46:14.908" v="14" actId="255"/>
          <ac:spMkLst>
            <pc:docMk/>
            <pc:sldMk cId="0" sldId="259"/>
            <ac:spMk id="26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46:19.575" v="15" actId="255"/>
          <ac:spMkLst>
            <pc:docMk/>
            <pc:sldMk cId="0" sldId="259"/>
            <ac:spMk id="31" creationId="{00000000-0000-0000-0000-000000000000}"/>
          </ac:spMkLst>
        </pc:spChg>
      </pc:sldChg>
      <pc:sldChg chg="modSp mod ord">
        <pc:chgData name="Ярослав Zhjckfd" userId="180ae11dff91542b" providerId="LiveId" clId="{E2501CB2-C655-458D-845F-849DFB16B14F}" dt="2026-10-24T13:02:43.158" v="65" actId="255"/>
        <pc:sldMkLst>
          <pc:docMk/>
          <pc:sldMk cId="0" sldId="275"/>
        </pc:sldMkLst>
        <pc:spChg chg="mod">
          <ac:chgData name="Ярослав Zhjckfd" userId="180ae11dff91542b" providerId="LiveId" clId="{E2501CB2-C655-458D-845F-849DFB16B14F}" dt="2026-10-24T13:02:15.253" v="60" actId="255"/>
          <ac:spMkLst>
            <pc:docMk/>
            <pc:sldMk cId="0" sldId="275"/>
            <ac:spMk id="103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02:11.833" v="59" actId="255"/>
          <ac:spMkLst>
            <pc:docMk/>
            <pc:sldMk cId="0" sldId="275"/>
            <ac:spMk id="106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02:08.933" v="58" actId="255"/>
          <ac:spMkLst>
            <pc:docMk/>
            <pc:sldMk cId="0" sldId="275"/>
            <ac:spMk id="109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02:05.388" v="57" actId="255"/>
          <ac:spMkLst>
            <pc:docMk/>
            <pc:sldMk cId="0" sldId="275"/>
            <ac:spMk id="112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02:24.344" v="62" actId="255"/>
          <ac:spMkLst>
            <pc:docMk/>
            <pc:sldMk cId="0" sldId="275"/>
            <ac:spMk id="115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02:32.209" v="64" actId="255"/>
          <ac:spMkLst>
            <pc:docMk/>
            <pc:sldMk cId="0" sldId="275"/>
            <ac:spMk id="118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00:46.733" v="47" actId="255"/>
          <ac:spMkLst>
            <pc:docMk/>
            <pc:sldMk cId="0" sldId="275"/>
            <ac:spMk id="119" creationId="{00000000-0000-0000-0000-000000000000}"/>
          </ac:spMkLst>
        </pc:spChg>
        <pc:graphicFrameChg chg="modGraphic">
          <ac:chgData name="Ярослав Zhjckfd" userId="180ae11dff91542b" providerId="LiveId" clId="{E2501CB2-C655-458D-845F-849DFB16B14F}" dt="2026-10-24T13:02:43.158" v="65" actId="255"/>
          <ac:graphicFrameMkLst>
            <pc:docMk/>
            <pc:sldMk cId="0" sldId="275"/>
            <ac:graphicFrameMk id="120" creationId="{00000000-0000-0000-0000-000000000000}"/>
          </ac:graphicFrameMkLst>
        </pc:graphicFrameChg>
      </pc:sldChg>
      <pc:sldChg chg="modSp mod">
        <pc:chgData name="Ярослав Zhjckfd" userId="180ae11dff91542b" providerId="LiveId" clId="{E2501CB2-C655-458D-845F-849DFB16B14F}" dt="2026-10-24T13:05:16.393" v="79" actId="20577"/>
        <pc:sldMkLst>
          <pc:docMk/>
          <pc:sldMk cId="0" sldId="277"/>
        </pc:sldMkLst>
        <pc:spChg chg="mod">
          <ac:chgData name="Ярослав Zhjckfd" userId="180ae11dff91542b" providerId="LiveId" clId="{E2501CB2-C655-458D-845F-849DFB16B14F}" dt="2026-10-24T13:05:16.393" v="79" actId="20577"/>
          <ac:spMkLst>
            <pc:docMk/>
            <pc:sldMk cId="0" sldId="277"/>
            <ac:spMk id="104" creationId="{00000000-0000-0000-0000-000000000000}"/>
          </ac:spMkLst>
        </pc:spChg>
      </pc:sldChg>
      <pc:sldChg chg="modSp mod ord">
        <pc:chgData name="Ярослав Zhjckfd" userId="180ae11dff91542b" providerId="LiveId" clId="{E2501CB2-C655-458D-845F-849DFB16B14F}" dt="2026-10-24T13:21:51.426" v="114" actId="255"/>
        <pc:sldMkLst>
          <pc:docMk/>
          <pc:sldMk cId="0" sldId="279"/>
        </pc:sldMkLst>
        <pc:spChg chg="mod">
          <ac:chgData name="Ярослав Zhjckfd" userId="180ae11dff91542b" providerId="LiveId" clId="{E2501CB2-C655-458D-845F-849DFB16B14F}" dt="2026-10-24T13:20:58.870" v="102" actId="255"/>
          <ac:spMkLst>
            <pc:docMk/>
            <pc:sldMk cId="0" sldId="279"/>
            <ac:spMk id="103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03.024" v="103" actId="255"/>
          <ac:spMkLst>
            <pc:docMk/>
            <pc:sldMk cId="0" sldId="279"/>
            <ac:spMk id="106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51.426" v="114" actId="255"/>
          <ac:spMkLst>
            <pc:docMk/>
            <pc:sldMk cId="0" sldId="279"/>
            <ac:spMk id="108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31.856" v="110" actId="255"/>
          <ac:spMkLst>
            <pc:docMk/>
            <pc:sldMk cId="0" sldId="279"/>
            <ac:spMk id="110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55.182" v="101" actId="255"/>
          <ac:spMkLst>
            <pc:docMk/>
            <pc:sldMk cId="0" sldId="279"/>
            <ac:spMk id="112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37.082" v="111" actId="255"/>
          <ac:spMkLst>
            <pc:docMk/>
            <pc:sldMk cId="0" sldId="279"/>
            <ac:spMk id="115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28.205" v="109" actId="255"/>
          <ac:spMkLst>
            <pc:docMk/>
            <pc:sldMk cId="0" sldId="279"/>
            <ac:spMk id="116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07.366" v="104" actId="255"/>
          <ac:spMkLst>
            <pc:docMk/>
            <pc:sldMk cId="0" sldId="279"/>
            <ac:spMk id="118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11.485" v="105" actId="255"/>
          <ac:spMkLst>
            <pc:docMk/>
            <pc:sldMk cId="0" sldId="279"/>
            <ac:spMk id="120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04:21.365" v="76" actId="14100"/>
          <ac:spMkLst>
            <pc:docMk/>
            <pc:sldMk cId="0" sldId="279"/>
            <ac:spMk id="121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18.532" v="107" actId="255"/>
          <ac:spMkLst>
            <pc:docMk/>
            <pc:sldMk cId="0" sldId="279"/>
            <ac:spMk id="122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21.891" v="108" actId="255"/>
          <ac:spMkLst>
            <pc:docMk/>
            <pc:sldMk cId="0" sldId="279"/>
            <ac:spMk id="125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41.219" v="112" actId="255"/>
          <ac:spMkLst>
            <pc:docMk/>
            <pc:sldMk cId="0" sldId="279"/>
            <ac:spMk id="129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45.344" v="113" actId="255"/>
          <ac:spMkLst>
            <pc:docMk/>
            <pc:sldMk cId="0" sldId="279"/>
            <ac:spMk id="130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1:14.952" v="106" actId="255"/>
          <ac:spMkLst>
            <pc:docMk/>
            <pc:sldMk cId="0" sldId="279"/>
            <ac:spMk id="132" creationId="{00000000-0000-0000-0000-000000000000}"/>
          </ac:spMkLst>
        </pc:spChg>
      </pc:sldChg>
      <pc:sldChg chg="modSp mod">
        <pc:chgData name="Ярослав Zhjckfd" userId="180ae11dff91542b" providerId="LiveId" clId="{E2501CB2-C655-458D-845F-849DFB16B14F}" dt="2026-10-24T12:58:39.847" v="36" actId="255"/>
        <pc:sldMkLst>
          <pc:docMk/>
          <pc:sldMk cId="0" sldId="280"/>
        </pc:sldMkLst>
        <pc:spChg chg="mod">
          <ac:chgData name="Ярослав Zhjckfd" userId="180ae11dff91542b" providerId="LiveId" clId="{E2501CB2-C655-458D-845F-849DFB16B14F}" dt="2026-10-24T12:58:31.447" v="34" actId="255"/>
          <ac:spMkLst>
            <pc:docMk/>
            <pc:sldMk cId="0" sldId="280"/>
            <ac:spMk id="104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8:35.920" v="35" actId="255"/>
          <ac:spMkLst>
            <pc:docMk/>
            <pc:sldMk cId="0" sldId="280"/>
            <ac:spMk id="108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8:39.847" v="36" actId="255"/>
          <ac:spMkLst>
            <pc:docMk/>
            <pc:sldMk cId="0" sldId="280"/>
            <ac:spMk id="112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2:54:55.017" v="33" actId="255"/>
          <ac:spMkLst>
            <pc:docMk/>
            <pc:sldMk cId="0" sldId="280"/>
            <ac:spMk id="115" creationId="{00000000-0000-0000-0000-000000000000}"/>
          </ac:spMkLst>
        </pc:spChg>
      </pc:sldChg>
      <pc:sldChg chg="modSp mod">
        <pc:chgData name="Ярослав Zhjckfd" userId="180ae11dff91542b" providerId="LiveId" clId="{E2501CB2-C655-458D-845F-849DFB16B14F}" dt="2026-10-24T13:20:45.505" v="100" actId="255"/>
        <pc:sldMkLst>
          <pc:docMk/>
          <pc:sldMk cId="0" sldId="281"/>
        </pc:sldMkLst>
        <pc:spChg chg="mod">
          <ac:chgData name="Ярослав Zhjckfd" userId="180ae11dff91542b" providerId="LiveId" clId="{E2501CB2-C655-458D-845F-849DFB16B14F}" dt="2026-10-24T13:08:33.263" v="82" actId="20577"/>
          <ac:spMkLst>
            <pc:docMk/>
            <pc:sldMk cId="0" sldId="281"/>
            <ac:spMk id="103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08:47.599" v="85" actId="20577"/>
          <ac:spMkLst>
            <pc:docMk/>
            <pc:sldMk cId="0" sldId="281"/>
            <ac:spMk id="105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00.249" v="89" actId="255"/>
          <ac:spMkLst>
            <pc:docMk/>
            <pc:sldMk cId="0" sldId="281"/>
            <ac:spMk id="107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19:56.803" v="88" actId="255"/>
          <ac:spMkLst>
            <pc:docMk/>
            <pc:sldMk cId="0" sldId="281"/>
            <ac:spMk id="109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45.505" v="100" actId="255"/>
          <ac:spMkLst>
            <pc:docMk/>
            <pc:sldMk cId="0" sldId="281"/>
            <ac:spMk id="111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04.066" v="90" actId="255"/>
          <ac:spMkLst>
            <pc:docMk/>
            <pc:sldMk cId="0" sldId="281"/>
            <ac:spMk id="118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08.193" v="91" actId="255"/>
          <ac:spMkLst>
            <pc:docMk/>
            <pc:sldMk cId="0" sldId="281"/>
            <ac:spMk id="120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18.980" v="94" actId="255"/>
          <ac:spMkLst>
            <pc:docMk/>
            <pc:sldMk cId="0" sldId="281"/>
            <ac:spMk id="122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23.045" v="95" actId="255"/>
          <ac:spMkLst>
            <pc:docMk/>
            <pc:sldMk cId="0" sldId="281"/>
            <ac:spMk id="124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26.840" v="96" actId="255"/>
          <ac:spMkLst>
            <pc:docMk/>
            <pc:sldMk cId="0" sldId="281"/>
            <ac:spMk id="131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30.916" v="97" actId="255"/>
          <ac:spMkLst>
            <pc:docMk/>
            <pc:sldMk cId="0" sldId="281"/>
            <ac:spMk id="133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34.483" v="98" actId="255"/>
          <ac:spMkLst>
            <pc:docMk/>
            <pc:sldMk cId="0" sldId="281"/>
            <ac:spMk id="135" creationId="{00000000-0000-0000-0000-000000000000}"/>
          </ac:spMkLst>
        </pc:spChg>
        <pc:spChg chg="mod">
          <ac:chgData name="Ярослав Zhjckfd" userId="180ae11dff91542b" providerId="LiveId" clId="{E2501CB2-C655-458D-845F-849DFB16B14F}" dt="2026-10-24T13:20:42.008" v="99" actId="255"/>
          <ac:spMkLst>
            <pc:docMk/>
            <pc:sldMk cId="0" sldId="281"/>
            <ac:spMk id="137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A89327-E8A3-415C-A891-4B227273A86B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AF4842-1234-4207-91BD-833873F52A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2696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AF4842-1234-4207-91BD-833873F52ABD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5911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EVRAZ  ·  ДЕМОНСТРАЦИЯ ПРОЕКТА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Calibri"/>
              </a:rPr>
              <a:t>EVRAZ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10515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chemeClr val="bg1"/>
                </a:solidFill>
                <a:latin typeface="Calibri"/>
              </a:rPr>
              <a:t>ИИ-</a:t>
            </a:r>
            <a:r>
              <a:rPr sz="2800" b="0" i="0" dirty="0" err="1">
                <a:solidFill>
                  <a:schemeClr val="bg1"/>
                </a:solidFill>
                <a:latin typeface="Calibri"/>
              </a:rPr>
              <a:t>помощник</a:t>
            </a:r>
            <a:r>
              <a:rPr sz="2800" b="0" i="0" dirty="0">
                <a:solidFill>
                  <a:schemeClr val="bg1"/>
                </a:solidFill>
                <a:latin typeface="Calibri"/>
              </a:rPr>
              <a:t> </a:t>
            </a:r>
            <a:r>
              <a:rPr sz="2800" b="0" i="0" dirty="0" err="1">
                <a:solidFill>
                  <a:schemeClr val="bg1"/>
                </a:solidFill>
                <a:latin typeface="Calibri"/>
              </a:rPr>
              <a:t>для</a:t>
            </a:r>
            <a:r>
              <a:rPr sz="2800" b="0" i="0" dirty="0">
                <a:solidFill>
                  <a:schemeClr val="bg1"/>
                </a:solidFill>
                <a:latin typeface="Calibri"/>
              </a:rPr>
              <a:t> </a:t>
            </a:r>
            <a:r>
              <a:rPr sz="2800" b="0" i="0" dirty="0" err="1">
                <a:solidFill>
                  <a:schemeClr val="bg1"/>
                </a:solidFill>
                <a:latin typeface="Calibri"/>
              </a:rPr>
              <a:t>работы</a:t>
            </a:r>
            <a:r>
              <a:rPr sz="2800" b="0" i="0" dirty="0">
                <a:solidFill>
                  <a:schemeClr val="bg1"/>
                </a:solidFill>
                <a:latin typeface="Calibri"/>
              </a:rPr>
              <a:t> с Excel-</a:t>
            </a:r>
            <a:r>
              <a:rPr sz="2800" b="0" i="0" dirty="0" err="1">
                <a:solidFill>
                  <a:schemeClr val="bg1"/>
                </a:solidFill>
                <a:latin typeface="Calibri"/>
              </a:rPr>
              <a:t>файлами</a:t>
            </a:r>
            <a:r>
              <a:rPr sz="2800" b="0" i="0" dirty="0">
                <a:solidFill>
                  <a:schemeClr val="bg1"/>
                </a:solidFill>
                <a:latin typeface="Calibri"/>
              </a:rPr>
              <a:t> </a:t>
            </a:r>
            <a:r>
              <a:rPr sz="2800" b="0" i="0" dirty="0" err="1">
                <a:solidFill>
                  <a:schemeClr val="bg1"/>
                </a:solidFill>
                <a:latin typeface="Calibri"/>
              </a:rPr>
              <a:t>цен</a:t>
            </a:r>
            <a:r>
              <a:rPr sz="2800" b="0" i="0" dirty="0">
                <a:solidFill>
                  <a:schemeClr val="bg1"/>
                </a:solidFill>
                <a:latin typeface="Calibri"/>
              </a:rPr>
              <a:t> </a:t>
            </a:r>
            <a:r>
              <a:rPr sz="2800" b="0" i="0" dirty="0" err="1">
                <a:solidFill>
                  <a:schemeClr val="bg1"/>
                </a:solidFill>
                <a:latin typeface="Calibri"/>
              </a:rPr>
              <a:t>на</a:t>
            </a:r>
            <a:r>
              <a:rPr sz="2800" b="0" i="0" dirty="0">
                <a:solidFill>
                  <a:schemeClr val="bg1"/>
                </a:solidFill>
                <a:latin typeface="Calibri"/>
              </a:rPr>
              <a:t> </a:t>
            </a:r>
            <a:r>
              <a:rPr sz="2800" b="0" i="0" dirty="0" err="1">
                <a:solidFill>
                  <a:schemeClr val="bg1"/>
                </a:solidFill>
                <a:latin typeface="Calibri"/>
              </a:rPr>
              <a:t>цветные</a:t>
            </a:r>
            <a:r>
              <a:rPr sz="2800" b="0" i="0" dirty="0">
                <a:solidFill>
                  <a:schemeClr val="bg1"/>
                </a:solidFill>
                <a:latin typeface="Calibri"/>
              </a:rPr>
              <a:t> </a:t>
            </a:r>
            <a:r>
              <a:rPr sz="2800" b="0" i="0" dirty="0" err="1">
                <a:solidFill>
                  <a:schemeClr val="bg1"/>
                </a:solidFill>
                <a:latin typeface="Calibri"/>
              </a:rPr>
              <a:t>металлы</a:t>
            </a:r>
            <a:endParaRPr sz="28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B199"/>
                </a:solidFill>
                <a:latin typeface="Calibri"/>
              </a:rPr>
              <a:t>Отвечает на вопросы специалистов простым языком — по данным, которые уже есть у компании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047488"/>
            <a:ext cx="3200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Загрузил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файл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49808" y="5413248"/>
            <a:ext cx="3200400" cy="5280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8A97A6"/>
                </a:solidFill>
                <a:latin typeface="Calibri"/>
              </a:rPr>
              <a:t>Система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сама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разобрала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структуру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таблиц</a:t>
            </a:r>
            <a:endParaRPr sz="1600" b="0" i="0" dirty="0">
              <a:solidFill>
                <a:srgbClr val="8A97A6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34340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44568" y="5047488"/>
            <a:ext cx="3200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Задал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вопрос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44568" y="5413248"/>
            <a:ext cx="3200400" cy="2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8A97A6"/>
                </a:solidFill>
                <a:latin typeface="Calibri"/>
              </a:rPr>
              <a:t>Обычным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языком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как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коллеге</a:t>
            </a:r>
            <a:endParaRPr sz="1600" b="0" i="0" dirty="0">
              <a:solidFill>
                <a:srgbClr val="8A97A6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3816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9328" y="5047488"/>
            <a:ext cx="3200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Получил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ответ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339328" y="5413248"/>
            <a:ext cx="3200400" cy="2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8A97A6"/>
                </a:solidFill>
                <a:latin typeface="Calibri"/>
              </a:rPr>
              <a:t>Цифра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 ·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график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 ·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источник</a:t>
            </a:r>
            <a:r>
              <a:rPr sz="16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A97A6"/>
                </a:solidFill>
                <a:latin typeface="Calibri"/>
              </a:rPr>
              <a:t>данных</a:t>
            </a:r>
            <a:endParaRPr sz="1600" b="0" i="0" dirty="0">
              <a:solidFill>
                <a:srgbClr val="8A97A6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Задача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2389"/>
            <a:ext cx="11064240" cy="642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dirty="0" err="1">
                <a:solidFill>
                  <a:srgbClr val="FFFFFF"/>
                </a:solidFill>
                <a:latin typeface="Calibri"/>
              </a:rPr>
              <a:t>Сделать</a:t>
            </a:r>
            <a:r>
              <a:rPr sz="18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Calibri"/>
              </a:rPr>
              <a:t>работу</a:t>
            </a:r>
            <a:r>
              <a:rPr sz="1800" b="1" dirty="0">
                <a:solidFill>
                  <a:srgbClr val="FFFFFF"/>
                </a:solidFill>
                <a:latin typeface="Calibri"/>
              </a:rPr>
              <a:t> с </a:t>
            </a:r>
            <a:r>
              <a:rPr sz="1800" b="1" dirty="0" err="1">
                <a:solidFill>
                  <a:srgbClr val="FFFFFF"/>
                </a:solidFill>
                <a:latin typeface="Calibri"/>
              </a:rPr>
              <a:t>данными</a:t>
            </a:r>
            <a:r>
              <a:rPr sz="1800" b="1" dirty="0">
                <a:solidFill>
                  <a:srgbClr val="FFFFFF"/>
                </a:solidFill>
                <a:latin typeface="Calibri"/>
              </a:rPr>
              <a:t> о </a:t>
            </a:r>
            <a:r>
              <a:rPr sz="1800" b="1" dirty="0" err="1">
                <a:solidFill>
                  <a:srgbClr val="FFFFFF"/>
                </a:solidFill>
                <a:latin typeface="Calibri"/>
              </a:rPr>
              <a:t>ценах</a:t>
            </a:r>
            <a:r>
              <a:rPr sz="18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Calibri"/>
              </a:rPr>
              <a:t>простой</a:t>
            </a:r>
            <a:r>
              <a:rPr sz="1800" b="1" dirty="0">
                <a:solidFill>
                  <a:srgbClr val="FFFFFF"/>
                </a:solidFill>
                <a:latin typeface="Calibri"/>
              </a:rPr>
              <a:t> и </a:t>
            </a:r>
            <a:r>
              <a:rPr sz="1800" b="1" dirty="0" err="1">
                <a:solidFill>
                  <a:srgbClr val="FFFFFF"/>
                </a:solidFill>
                <a:latin typeface="Calibri"/>
              </a:rPr>
              <a:t>быстрой</a:t>
            </a:r>
            <a:r>
              <a:rPr sz="18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800" b="1" dirty="0" err="1">
                <a:solidFill>
                  <a:schemeClr val="bg1"/>
                </a:solidFill>
                <a:latin typeface="Calibri"/>
              </a:rPr>
              <a:t>загрузил</a:t>
            </a:r>
            <a:r>
              <a:rPr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sz="1800" b="1" dirty="0" err="1">
                <a:solidFill>
                  <a:schemeClr val="bg1"/>
                </a:solidFill>
                <a:latin typeface="Calibri"/>
              </a:rPr>
              <a:t>файл</a:t>
            </a:r>
            <a:r>
              <a:rPr sz="1800" b="1" dirty="0">
                <a:solidFill>
                  <a:schemeClr val="bg1"/>
                </a:solidFill>
                <a:latin typeface="Calibri"/>
              </a:rPr>
              <a:t> — </a:t>
            </a:r>
            <a:r>
              <a:rPr sz="1800" b="1" dirty="0" err="1">
                <a:solidFill>
                  <a:schemeClr val="bg1"/>
                </a:solidFill>
                <a:latin typeface="Calibri"/>
              </a:rPr>
              <a:t>задал</a:t>
            </a:r>
            <a:r>
              <a:rPr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sz="1800" b="1" dirty="0" err="1">
                <a:solidFill>
                  <a:schemeClr val="bg1"/>
                </a:solidFill>
                <a:latin typeface="Calibri"/>
              </a:rPr>
              <a:t>вопрос</a:t>
            </a:r>
            <a:r>
              <a:rPr sz="1800" b="1" dirty="0">
                <a:solidFill>
                  <a:schemeClr val="bg1"/>
                </a:solidFill>
                <a:latin typeface="Calibri"/>
              </a:rPr>
              <a:t> — </a:t>
            </a:r>
            <a:r>
              <a:rPr sz="1800" b="1" dirty="0" err="1">
                <a:solidFill>
                  <a:schemeClr val="bg1"/>
                </a:solidFill>
                <a:latin typeface="Calibri"/>
              </a:rPr>
              <a:t>получил</a:t>
            </a:r>
            <a:r>
              <a:rPr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sz="1800" b="1" dirty="0" err="1">
                <a:solidFill>
                  <a:schemeClr val="bg1"/>
                </a:solidFill>
                <a:latin typeface="Calibri"/>
              </a:rPr>
              <a:t>проверяемый</a:t>
            </a:r>
            <a:r>
              <a:rPr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sz="1800" b="1" dirty="0" err="1">
                <a:solidFill>
                  <a:schemeClr val="bg1"/>
                </a:solidFill>
                <a:latin typeface="Calibri"/>
              </a:rPr>
              <a:t>ответ</a:t>
            </a:r>
            <a:r>
              <a:rPr sz="1800" b="1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58775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87752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Загрузил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файл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34440" y="2971800"/>
            <a:ext cx="4526280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сама разбирает файлы и приводит данные к единому виду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42316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258775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87752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Спросил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58000" y="2971800"/>
            <a:ext cx="4526280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Вопрос обычным языком — ответ с цифрами, графиком и пояснением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Проверил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234440" y="4434840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Всегда видно, откуда взялась цифра: файл, лист, период, строка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862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336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50791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Не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переживаешь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за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данные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58000" y="4434840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только читает данные, ничего не изменяет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5321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641848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36"/>
                </a:solidFill>
                <a:latin typeface="Calibri"/>
              </a:rPr>
              <a:t>≥ 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06600" y="5788557"/>
            <a:ext cx="3708400" cy="3100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Целевая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точность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ответов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263640" y="55321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5641848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36"/>
                </a:solidFill>
                <a:latin typeface="Calibr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7667" y="5788557"/>
            <a:ext cx="3852333" cy="3100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Ответов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— с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указанием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источника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Ключевые принципы</a:t>
            </a:r>
            <a:endParaRPr lang="en-US" sz="3200" dirty="0"/>
          </a:p>
        </p:txBody>
      </p:sp>
      <p:sp>
        <p:nvSpPr>
          <p:cNvPr id="102" name="Card"/>
          <p:cNvSpPr/>
          <p:nvPr/>
        </p:nvSpPr>
        <p:spPr>
          <a:xfrm>
            <a:off x="54864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3"/>
          <p:cNvSpPr txBox="1"/>
          <p:nvPr/>
        </p:nvSpPr>
        <p:spPr>
          <a:xfrm>
            <a:off x="82296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5A36"/>
                </a:solidFill>
              </a:rPr>
              <a:t>01</a:t>
            </a:r>
            <a:endParaRPr lang="en-US" sz="4400" dirty="0"/>
          </a:p>
        </p:txBody>
      </p:sp>
      <p:sp>
        <p:nvSpPr>
          <p:cNvPr id="104" name="Text 4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Нормализация вместо векторного поиска</a:t>
            </a:r>
            <a:endParaRPr lang="en-US" sz="2000" dirty="0"/>
          </a:p>
        </p:txBody>
      </p:sp>
      <p:sp>
        <p:nvSpPr>
          <p:cNvPr id="105" name="Text 5"/>
          <p:cNvSpPr txBox="1"/>
          <p:nvPr/>
        </p:nvSpPr>
        <p:spPr>
          <a:xfrm>
            <a:off x="82296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Long-факт-таблицы mart.price_facts / mart.metrics: агент генерирует простой SQL и не обращается к сырым ячейкам.</a:t>
            </a:r>
            <a:endParaRPr lang="en-US" sz="1400" dirty="0"/>
          </a:p>
        </p:txBody>
      </p:sp>
      <p:sp>
        <p:nvSpPr>
          <p:cNvPr id="106" name="Card"/>
          <p:cNvSpPr/>
          <p:nvPr/>
        </p:nvSpPr>
        <p:spPr>
          <a:xfrm>
            <a:off x="429768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Text 7"/>
          <p:cNvSpPr txBox="1"/>
          <p:nvPr/>
        </p:nvSpPr>
        <p:spPr>
          <a:xfrm>
            <a:off x="45720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5A36"/>
                </a:solidFill>
              </a:rPr>
              <a:t>02</a:t>
            </a:r>
            <a:endParaRPr lang="en-US" sz="4400" dirty="0"/>
          </a:p>
        </p:txBody>
      </p:sp>
      <p:sp>
        <p:nvSpPr>
          <p:cNvPr id="108" name="Text 8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Детерминизм вместо «магии» LLM</a:t>
            </a:r>
            <a:endParaRPr lang="en-US" sz="2000" dirty="0"/>
          </a:p>
        </p:txBody>
      </p:sp>
      <p:sp>
        <p:nvSpPr>
          <p:cNvPr id="109" name="Text 9"/>
          <p:cNvSpPr txBox="1"/>
          <p:nvPr/>
        </p:nvSpPr>
        <p:spPr>
          <a:xfrm>
            <a:off x="457200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Правки SQL в codegen_node (префиксный поиск, нормализация поставщиков, is_blank → 0/1) повышают надёжность генерации.</a:t>
            </a:r>
            <a:endParaRPr lang="en-US" sz="1400" dirty="0"/>
          </a:p>
        </p:txBody>
      </p:sp>
      <p:sp>
        <p:nvSpPr>
          <p:cNvPr id="110" name="Card"/>
          <p:cNvSpPr/>
          <p:nvPr/>
        </p:nvSpPr>
        <p:spPr>
          <a:xfrm>
            <a:off x="804672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1" name="Text 11"/>
          <p:cNvSpPr txBox="1"/>
          <p:nvPr/>
        </p:nvSpPr>
        <p:spPr>
          <a:xfrm>
            <a:off x="832104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5A36"/>
                </a:solidFill>
              </a:rPr>
              <a:t>03</a:t>
            </a:r>
            <a:endParaRPr lang="en-US" sz="4400" dirty="0"/>
          </a:p>
        </p:txBody>
      </p:sp>
      <p:sp>
        <p:nvSpPr>
          <p:cNvPr id="112" name="Text 12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Прозрачность каждого ответа</a:t>
            </a:r>
            <a:endParaRPr lang="en-US" sz="2000" dirty="0"/>
          </a:p>
        </p:txBody>
      </p:sp>
      <p:sp>
        <p:nvSpPr>
          <p:cNvPr id="113" name="Text 13"/>
          <p:cNvSpPr txBox="1"/>
          <p:nvPr/>
        </p:nvSpPr>
        <p:spPr>
          <a:xfrm>
            <a:off x="832104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Пользователь видит SQL, результат, источники, а полный трейс шагов графа доступен на странице «Трейс».</a:t>
            </a:r>
            <a:endParaRPr lang="en-US" sz="1400" dirty="0"/>
          </a:p>
        </p:txBody>
      </p:sp>
      <p:sp>
        <p:nvSpPr>
          <p:cNvPr id="1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Решение — обзор</a:t>
            </a:r>
            <a:endParaRPr lang="en-US" sz="3200" dirty="0"/>
          </a:p>
        </p:txBody>
      </p:sp>
      <p:sp>
        <p:nvSpPr>
          <p:cNvPr id="102" name="Node Excel"/>
          <p:cNvSpPr/>
          <p:nvPr/>
        </p:nvSpPr>
        <p:spPr>
          <a:xfrm>
            <a:off x="54864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Label Excel"/>
          <p:cNvSpPr txBox="1"/>
          <p:nvPr/>
        </p:nvSpPr>
        <p:spPr>
          <a:xfrm>
            <a:off x="62179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Excel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файл</a:t>
            </a:r>
            <a:endParaRPr lang="en-US" sz="1600" dirty="0"/>
          </a:p>
        </p:txBody>
      </p:sp>
      <p:sp>
        <p:nvSpPr>
          <p:cNvPr id="104" name="Arrow"/>
          <p:cNvSpPr/>
          <p:nvPr/>
        </p:nvSpPr>
        <p:spPr>
          <a:xfrm>
            <a:off x="2103120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5" name="Node Парсинг"/>
          <p:cNvSpPr/>
          <p:nvPr/>
        </p:nvSpPr>
        <p:spPr>
          <a:xfrm>
            <a:off x="2450592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Label Парсинг"/>
          <p:cNvSpPr txBox="1"/>
          <p:nvPr/>
        </p:nvSpPr>
        <p:spPr>
          <a:xfrm>
            <a:off x="2523744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Парсинг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src/core/excel</a:t>
            </a:r>
            <a:endParaRPr lang="en-US" sz="1600" dirty="0"/>
          </a:p>
        </p:txBody>
      </p:sp>
      <p:sp>
        <p:nvSpPr>
          <p:cNvPr id="107" name="Arrow"/>
          <p:cNvSpPr/>
          <p:nvPr/>
        </p:nvSpPr>
        <p:spPr>
          <a:xfrm>
            <a:off x="4005072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8" name="Node RAW"/>
          <p:cNvSpPr/>
          <p:nvPr/>
        </p:nvSpPr>
        <p:spPr>
          <a:xfrm>
            <a:off x="4352544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RAW"/>
          <p:cNvSpPr txBox="1"/>
          <p:nvPr/>
        </p:nvSpPr>
        <p:spPr>
          <a:xfrm>
            <a:off x="4425696" y="1554479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RAW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таблицы public</a:t>
            </a:r>
            <a:endParaRPr lang="en-US" sz="1600" dirty="0"/>
          </a:p>
        </p:txBody>
      </p:sp>
      <p:sp>
        <p:nvSpPr>
          <p:cNvPr id="110" name="Arrow"/>
          <p:cNvSpPr/>
          <p:nvPr/>
        </p:nvSpPr>
        <p:spPr>
          <a:xfrm>
            <a:off x="5907024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Node Нормализация"/>
          <p:cNvSpPr/>
          <p:nvPr/>
        </p:nvSpPr>
        <p:spPr>
          <a:xfrm>
            <a:off x="6254496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Нормализация"/>
          <p:cNvSpPr txBox="1"/>
          <p:nvPr/>
        </p:nvSpPr>
        <p:spPr>
          <a:xfrm>
            <a:off x="6327648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Нормализация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витрина mart</a:t>
            </a:r>
            <a:endParaRPr lang="en-US" sz="1600" dirty="0"/>
          </a:p>
        </p:txBody>
      </p:sp>
      <p:sp>
        <p:nvSpPr>
          <p:cNvPr id="113" name="Arrow"/>
          <p:cNvSpPr/>
          <p:nvPr/>
        </p:nvSpPr>
        <p:spPr>
          <a:xfrm>
            <a:off x="7808976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" name="Node LangGraph"/>
          <p:cNvSpPr/>
          <p:nvPr/>
        </p:nvSpPr>
        <p:spPr>
          <a:xfrm>
            <a:off x="8156448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5" name="Label LangGraph"/>
          <p:cNvSpPr txBox="1"/>
          <p:nvPr/>
        </p:nvSpPr>
        <p:spPr>
          <a:xfrm>
            <a:off x="8229600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LangGraph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16" name="Arrow"/>
          <p:cNvSpPr/>
          <p:nvPr/>
        </p:nvSpPr>
        <p:spPr>
          <a:xfrm>
            <a:off x="9710928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7" name="Node Безопасный"/>
          <p:cNvSpPr/>
          <p:nvPr/>
        </p:nvSpPr>
        <p:spPr>
          <a:xfrm>
            <a:off x="1005840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Label Безопасный"/>
          <p:cNvSpPr txBox="1"/>
          <p:nvPr/>
        </p:nvSpPr>
        <p:spPr>
          <a:xfrm>
            <a:off x="1013155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Безопасный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SELECT</a:t>
            </a:r>
            <a:endParaRPr lang="en-US" sz="1600" dirty="0"/>
          </a:p>
        </p:txBody>
      </p:sp>
      <p:sp>
        <p:nvSpPr>
          <p:cNvPr id="119" name="Text 19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9B4C0"/>
                </a:solidFill>
              </a:rPr>
              <a:t>Вопрос пользователя → агент планирует и выполняет SQL → ответ + SQL + источники (PostgreSQL)</a:t>
            </a:r>
            <a:endParaRPr lang="en-US" sz="2000" dirty="0"/>
          </a:p>
        </p:txBody>
      </p:sp>
      <p:graphicFrame>
        <p:nvGraphicFramePr>
          <p:cNvPr id="1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548764"/>
              </p:ext>
            </p:extLst>
          </p:nvPr>
        </p:nvGraphicFramePr>
        <p:xfrm>
          <a:off x="548640" y="3383280"/>
          <a:ext cx="11064240" cy="2395728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5A36"/>
                          </a:solidFill>
                        </a:rPr>
                        <a:t>Часть</a:t>
                      </a:r>
                      <a:endParaRPr lang="en-US" sz="20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5A36"/>
                          </a:solidFill>
                        </a:rPr>
                        <a:t>Технологии</a:t>
                      </a:r>
                      <a:endParaRPr lang="en-US" sz="20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5A36"/>
                          </a:solidFill>
                        </a:rPr>
                        <a:t>Назначение</a:t>
                      </a:r>
                      <a:endParaRPr lang="en-US" sz="20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Backend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</a:rPr>
                        <a:t>FastAPI, LangGraph, SQLAlchemy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</a:rPr>
                        <a:t>API, парсинг, агент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Frontend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</a:rPr>
                        <a:t>React 18 + TypeScript + Vite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</a:rPr>
                        <a:t>Чат, файлы, дашборд, метрики, трейсы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Инфраструктура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</a:rPr>
                        <a:t>Docker Compose, Nginx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</a:rPr>
                        <a:t>PostgreSQL, Prometheus, Grafana</a:t>
                      </a:r>
                      <a:endParaRPr lang="en-US" sz="18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Архитектура системы</a:t>
            </a:r>
            <a:endParaRPr lang="en-US" sz="3200" dirty="0"/>
          </a:p>
        </p:txBody>
      </p:sp>
      <p:sp>
        <p:nvSpPr>
          <p:cNvPr id="102" name="Node Пользователь"/>
          <p:cNvSpPr/>
          <p:nvPr/>
        </p:nvSpPr>
        <p:spPr>
          <a:xfrm>
            <a:off x="548640" y="137160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Label Пользователь"/>
          <p:cNvSpPr txBox="1"/>
          <p:nvPr/>
        </p:nvSpPr>
        <p:spPr>
          <a:xfrm>
            <a:off x="621792" y="137160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Пользователь</a:t>
            </a:r>
            <a:endParaRPr lang="en-US" sz="1600" dirty="0"/>
          </a:p>
        </p:txBody>
      </p:sp>
      <p:sp>
        <p:nvSpPr>
          <p:cNvPr id="104" name="Arrow"/>
          <p:cNvSpPr/>
          <p:nvPr/>
        </p:nvSpPr>
        <p:spPr>
          <a:xfrm>
            <a:off x="2377440" y="1691640"/>
            <a:ext cx="8229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5" name="Node Frontend"/>
          <p:cNvSpPr/>
          <p:nvPr/>
        </p:nvSpPr>
        <p:spPr>
          <a:xfrm>
            <a:off x="3200400" y="137160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Label Frontend"/>
          <p:cNvSpPr txBox="1"/>
          <p:nvPr/>
        </p:nvSpPr>
        <p:spPr>
          <a:xfrm>
            <a:off x="3273552" y="137160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Frontend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React + Vite · Nginx</a:t>
            </a:r>
            <a:endParaRPr lang="en-US" sz="1600" dirty="0"/>
          </a:p>
        </p:txBody>
      </p:sp>
      <p:sp>
        <p:nvSpPr>
          <p:cNvPr id="107" name="Backend frame"/>
          <p:cNvSpPr/>
          <p:nvPr/>
        </p:nvSpPr>
        <p:spPr>
          <a:xfrm>
            <a:off x="548640" y="2377440"/>
            <a:ext cx="8503920" cy="2743200"/>
          </a:xfrm>
          <a:prstGeom prst="rect">
            <a:avLst/>
          </a:prstGeom>
          <a:noFill/>
          <a:ln w="19050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8" name="Text 8"/>
          <p:cNvSpPr txBox="1"/>
          <p:nvPr/>
        </p:nvSpPr>
        <p:spPr>
          <a:xfrm>
            <a:off x="777240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FA6C9"/>
                </a:solidFill>
              </a:rPr>
              <a:t>Backend — FastAPI (uvicorn, :8000)</a:t>
            </a:r>
            <a:endParaRPr lang="en-US" sz="1600" dirty="0"/>
          </a:p>
        </p:txBody>
      </p:sp>
      <p:sp>
        <p:nvSpPr>
          <p:cNvPr id="109" name="Arrow"/>
          <p:cNvSpPr/>
          <p:nvPr/>
        </p:nvSpPr>
        <p:spPr>
          <a:xfrm>
            <a:off x="4800600" y="2011680"/>
            <a:ext cx="0" cy="77724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0" name="Text 10"/>
          <p:cNvSpPr txBox="1"/>
          <p:nvPr/>
        </p:nvSpPr>
        <p:spPr>
          <a:xfrm>
            <a:off x="4910328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REST</a:t>
            </a:r>
            <a:endParaRPr lang="en-US" sz="1400" dirty="0"/>
          </a:p>
        </p:txBody>
      </p:sp>
      <p:sp>
        <p:nvSpPr>
          <p:cNvPr id="111" name="Node API-роутеры"/>
          <p:cNvSpPr/>
          <p:nvPr/>
        </p:nvSpPr>
        <p:spPr>
          <a:xfrm>
            <a:off x="777240" y="278892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API-роутеры"/>
          <p:cNvSpPr txBox="1"/>
          <p:nvPr/>
        </p:nvSpPr>
        <p:spPr>
          <a:xfrm>
            <a:off x="850392" y="2788920"/>
            <a:ext cx="7900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API-роутеры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/files · /ask · /trace · /schema · /cache · /metrics</a:t>
            </a:r>
            <a:endParaRPr lang="en-US" sz="1600" dirty="0"/>
          </a:p>
        </p:txBody>
      </p:sp>
      <p:sp>
        <p:nvSpPr>
          <p:cNvPr id="113" name="Arrow"/>
          <p:cNvSpPr/>
          <p:nvPr/>
        </p:nvSpPr>
        <p:spPr>
          <a:xfrm>
            <a:off x="2697480" y="3474720"/>
            <a:ext cx="0" cy="36576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" name="Arrow"/>
          <p:cNvSpPr/>
          <p:nvPr/>
        </p:nvSpPr>
        <p:spPr>
          <a:xfrm>
            <a:off x="6926580" y="3474720"/>
            <a:ext cx="0" cy="36576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5" name="Text 15"/>
          <p:cNvSpPr txBox="1"/>
          <p:nvPr/>
        </p:nvSpPr>
        <p:spPr>
          <a:xfrm>
            <a:off x="2807208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POST /files/upload</a:t>
            </a:r>
            <a:endParaRPr lang="en-US" sz="1400" dirty="0"/>
          </a:p>
        </p:txBody>
      </p:sp>
      <p:sp>
        <p:nvSpPr>
          <p:cNvPr id="116" name="Text 16"/>
          <p:cNvSpPr txBox="1"/>
          <p:nvPr/>
        </p:nvSpPr>
        <p:spPr>
          <a:xfrm>
            <a:off x="7031736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POST /ask</a:t>
            </a:r>
            <a:endParaRPr lang="en-US" sz="1400" dirty="0"/>
          </a:p>
        </p:txBody>
      </p:sp>
      <p:sp>
        <p:nvSpPr>
          <p:cNvPr id="117" name="Node Excel Ingestion"/>
          <p:cNvSpPr/>
          <p:nvPr/>
        </p:nvSpPr>
        <p:spPr>
          <a:xfrm>
            <a:off x="777240" y="3840480"/>
            <a:ext cx="3840480" cy="1097280"/>
          </a:xfrm>
          <a:prstGeom prst="roundRect">
            <a:avLst>
              <a:gd name="adj" fmla="val 6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Label Excel Ingestion"/>
          <p:cNvSpPr txBox="1"/>
          <p:nvPr/>
        </p:nvSpPr>
        <p:spPr>
          <a:xfrm>
            <a:off x="850392" y="3840480"/>
            <a:ext cx="36941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Excel Ingestion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Queue (async) → парсер → repository → mart-normalizer</a:t>
            </a:r>
            <a:endParaRPr lang="en-US" sz="1600" dirty="0"/>
          </a:p>
        </p:txBody>
      </p:sp>
      <p:sp>
        <p:nvSpPr>
          <p:cNvPr id="119" name="Node LangGraph-агент"/>
          <p:cNvSpPr/>
          <p:nvPr/>
        </p:nvSpPr>
        <p:spPr>
          <a:xfrm>
            <a:off x="5029200" y="3840480"/>
            <a:ext cx="3794760" cy="1097280"/>
          </a:xfrm>
          <a:prstGeom prst="roundRect">
            <a:avLst>
              <a:gd name="adj" fmla="val 6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0" name="Label LangGraph-агент"/>
          <p:cNvSpPr txBox="1"/>
          <p:nvPr/>
        </p:nvSpPr>
        <p:spPr>
          <a:xfrm>
            <a:off x="5102352" y="38404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LangGraph-агент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classifier → … → answer · Entity Resolution · Query Cache</a:t>
            </a:r>
            <a:endParaRPr lang="en-US" sz="1600" dirty="0"/>
          </a:p>
        </p:txBody>
      </p:sp>
      <p:sp>
        <p:nvSpPr>
          <p:cNvPr id="121" name="Node Мониторинг"/>
          <p:cNvSpPr/>
          <p:nvPr/>
        </p:nvSpPr>
        <p:spPr>
          <a:xfrm>
            <a:off x="9601200" y="2624669"/>
            <a:ext cx="2039112" cy="1032931"/>
          </a:xfrm>
          <a:prstGeom prst="roundRect">
            <a:avLst>
              <a:gd name="adj" fmla="val 10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2" name="Label Мониторинг"/>
          <p:cNvSpPr txBox="1"/>
          <p:nvPr/>
        </p:nvSpPr>
        <p:spPr>
          <a:xfrm>
            <a:off x="9674352" y="2788920"/>
            <a:ext cx="1892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Мониторинг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Prometheus · Grafana</a:t>
            </a:r>
            <a:endParaRPr lang="en-US" sz="1600" dirty="0"/>
          </a:p>
        </p:txBody>
      </p:sp>
      <p:sp>
        <p:nvSpPr>
          <p:cNvPr id="123" name="Arrow"/>
          <p:cNvSpPr/>
          <p:nvPr/>
        </p:nvSpPr>
        <p:spPr>
          <a:xfrm>
            <a:off x="8823960" y="3131820"/>
            <a:ext cx="7772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4" name="Node LLM-провайдер"/>
          <p:cNvSpPr/>
          <p:nvPr/>
        </p:nvSpPr>
        <p:spPr>
          <a:xfrm>
            <a:off x="9601200" y="3840480"/>
            <a:ext cx="2039112" cy="1097280"/>
          </a:xfrm>
          <a:prstGeom prst="roundRect">
            <a:avLst>
              <a:gd name="adj" fmla="val 6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5" name="Label LLM-провайдер"/>
          <p:cNvSpPr txBox="1"/>
          <p:nvPr/>
        </p:nvSpPr>
        <p:spPr>
          <a:xfrm>
            <a:off x="9674352" y="3840480"/>
            <a:ext cx="189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LLM-провайдер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OpenAI-совместимый API · DeepSeek</a:t>
            </a:r>
            <a:endParaRPr lang="en-US" sz="1600" dirty="0"/>
          </a:p>
        </p:txBody>
      </p:sp>
      <p:sp>
        <p:nvSpPr>
          <p:cNvPr id="126" name="Arrow"/>
          <p:cNvSpPr/>
          <p:nvPr/>
        </p:nvSpPr>
        <p:spPr>
          <a:xfrm>
            <a:off x="8823960" y="4389120"/>
            <a:ext cx="7772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7" name="Arrow"/>
          <p:cNvSpPr/>
          <p:nvPr/>
        </p:nvSpPr>
        <p:spPr>
          <a:xfrm>
            <a:off x="2697480" y="4937760"/>
            <a:ext cx="0" cy="59436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8" name="Arrow"/>
          <p:cNvSpPr/>
          <p:nvPr/>
        </p:nvSpPr>
        <p:spPr>
          <a:xfrm>
            <a:off x="6926580" y="4937760"/>
            <a:ext cx="0" cy="59436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9" name="Text 29"/>
          <p:cNvSpPr txBox="1"/>
          <p:nvPr/>
        </p:nvSpPr>
        <p:spPr>
          <a:xfrm>
            <a:off x="2807208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RAW + нормализация</a:t>
            </a:r>
            <a:endParaRPr lang="en-US" sz="1400" dirty="0"/>
          </a:p>
        </p:txBody>
      </p:sp>
      <p:sp>
        <p:nvSpPr>
          <p:cNvPr id="130" name="Text 30"/>
          <p:cNvSpPr txBox="1"/>
          <p:nvPr/>
        </p:nvSpPr>
        <p:spPr>
          <a:xfrm>
            <a:off x="7031736" y="5212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безопасный SELECT</a:t>
            </a:r>
            <a:endParaRPr lang="en-US" sz="1400" dirty="0"/>
          </a:p>
        </p:txBody>
      </p:sp>
      <p:sp>
        <p:nvSpPr>
          <p:cNvPr id="131" name="Node PostgreSQL 16"/>
          <p:cNvSpPr/>
          <p:nvPr/>
        </p:nvSpPr>
        <p:spPr>
          <a:xfrm>
            <a:off x="548640" y="5532120"/>
            <a:ext cx="8503920" cy="594360"/>
          </a:xfrm>
          <a:prstGeom prst="roundRect">
            <a:avLst>
              <a:gd name="adj" fmla="val 12308"/>
            </a:avLst>
          </a:prstGeom>
          <a:solidFill>
            <a:srgbClr val="262C33"/>
          </a:solidFill>
          <a:ln w="12700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2" name="Label PostgreSQL 16"/>
          <p:cNvSpPr txBox="1"/>
          <p:nvPr/>
        </p:nvSpPr>
        <p:spPr>
          <a:xfrm>
            <a:off x="621792" y="5532120"/>
            <a:ext cx="8357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PostgreSQL 16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public: files, sheets, cells, query_logs … · mart: price_facts, metrics</a:t>
            </a:r>
            <a:endParaRPr lang="en-US" sz="1600" dirty="0"/>
          </a:p>
        </p:txBody>
      </p:sp>
      <p:sp>
        <p:nvSpPr>
          <p:cNvPr id="1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Технологический стек</a:t>
            </a:r>
            <a:endParaRPr lang="en-US" sz="3200" dirty="0"/>
          </a:p>
        </p:txBody>
      </p:sp>
      <p:sp>
        <p:nvSpPr>
          <p:cNvPr id="1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48640" y="1554480"/>
            <a:ext cx="2569464" cy="4480560"/>
          </a:xfrm>
          <a:prstGeom prst="roundRect">
            <a:avLst>
              <a:gd name="adj" fmla="val 2051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76656" y="1719072"/>
            <a:ext cx="23134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Backend (Python ≥ 3.12)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76656" y="2240280"/>
            <a:ext cx="2313432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FastAPI + uvicorn — REST API, async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SQLAlchemy 2.0 (async) · Alembic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openpyxl · pandas — парсинг Excel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loguru — логирование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prometheus-client · slowapi — метрики и лимиты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92424" y="1554480"/>
            <a:ext cx="2569464" cy="4480560"/>
          </a:xfrm>
          <a:prstGeom prst="roundRect">
            <a:avLst>
              <a:gd name="adj" fmla="val 2051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3520440" y="1719072"/>
            <a:ext cx="23134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LLM-стек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520440" y="2240280"/>
            <a:ext cx="2313432" cy="1636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 dirty="0" err="1">
                <a:solidFill>
                  <a:srgbClr val="FFFFFF"/>
                </a:solidFill>
                <a:latin typeface="Calibri"/>
              </a:rPr>
              <a:t>LangGraph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+ checkpoint-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postgres</a:t>
            </a:r>
            <a:endParaRPr sz="1400" dirty="0">
              <a:solidFill>
                <a:srgbClr val="FFFFFF"/>
              </a:solidFill>
              <a:latin typeface="Calibri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 dirty="0" err="1">
                <a:solidFill>
                  <a:srgbClr val="FFFFFF"/>
                </a:solidFill>
                <a:latin typeface="Calibri"/>
              </a:rPr>
              <a:t>langchain-openai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— structured output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 dirty="0" err="1">
                <a:solidFill>
                  <a:srgbClr val="FFFFFF"/>
                </a:solidFill>
                <a:latin typeface="Calibri"/>
              </a:rPr>
              <a:t>Провайдер</a:t>
            </a:r>
            <a:r>
              <a:rPr sz="1400" dirty="0">
                <a:solidFill>
                  <a:srgbClr val="FFFFFF"/>
                </a:solidFill>
                <a:latin typeface="Calibri"/>
              </a:rPr>
              <a:t>: OpenAI-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совместимый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API </a:t>
            </a:r>
            <a:r>
              <a:rPr sz="1400">
                <a:solidFill>
                  <a:srgbClr val="FFFFFF"/>
                </a:solidFill>
                <a:latin typeface="Calibri"/>
              </a:rPr>
              <a:t>· </a:t>
            </a:r>
            <a:r>
              <a:rPr lang="en-US" sz="1400">
                <a:solidFill>
                  <a:srgbClr val="FFFFFF"/>
                </a:solidFill>
                <a:latin typeface="Calibri"/>
              </a:rPr>
              <a:t>Qwen3.8-27B</a:t>
            </a:r>
            <a:endParaRPr sz="140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6236207" y="1554480"/>
            <a:ext cx="2569464" cy="4480560"/>
          </a:xfrm>
          <a:prstGeom prst="roundRect">
            <a:avLst>
              <a:gd name="adj" fmla="val 2051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364223" y="1719072"/>
            <a:ext cx="23134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Frontend (React)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64223" y="2240280"/>
            <a:ext cx="2313432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React 18 + TypeScript + Vite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react-router-dom — роутинг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chart.js — графики результатов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framer-motion — анимации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lucide-react — иконки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react-markdown — рендер ответов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79992" y="1554480"/>
            <a:ext cx="2569464" cy="4480560"/>
          </a:xfrm>
          <a:prstGeom prst="roundRect">
            <a:avLst>
              <a:gd name="adj" fmla="val 2051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9208008" y="1719072"/>
            <a:ext cx="23134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Инфраструктура (Docker)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208008" y="2240280"/>
            <a:ext cx="2313432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postgres:16-alpine — БД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backend — FastAPI (:8000)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frontend — Nginx (:8080)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prometheus — метрики (:9090)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400">
                <a:solidFill>
                  <a:srgbClr val="FFFFFF"/>
                </a:solidFill>
                <a:latin typeface="Calibri"/>
              </a:rPr>
              <a:t>grafana — дашборды (:3001)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Парсинг и нормализация: таблицы приводятся в порядок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11064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latin typeface="Calibri"/>
              </a:rPr>
              <a:t>Каждый файл проходит путь от загрузки до витрины mart: парсинг → RAW → нормализация по единым справочникам.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00000"/>
            <a:ext cx="11101360" cy="3620000"/>
          </a:xfrm>
          <a:prstGeom prst="roundRect">
            <a:avLst>
              <a:gd name="adj" fmla="val 2500"/>
            </a:avLst>
          </a:prstGeom>
          <a:solidFill>
            <a:srgbClr val="20262D"/>
          </a:solidFill>
          <a:ln w="12700">
            <a:solidFill>
              <a:srgbClr val="2C37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68640" y="2025000"/>
            <a:ext cx="260000" cy="20000"/>
          </a:xfrm>
          <a:prstGeom prst="rect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60000"/>
            <a:ext cx="2500000" cy="160000"/>
          </a:xfrm>
          <a:prstGeom prst="rect">
            <a:avLst/>
          </a:prstGeom>
          <a:noFill/>
        </p:spPr>
        <p:txBody>
          <a:bodyPr wrap="square" anchor="t" lIns="30000" rIns="30000" tIns="10000" bIns="10000">
            <a:spAutoFit/>
          </a:bodyPr>
          <a:lstStyle/>
          <a:p>
            <a:pPr algn="ctr"/>
            <a:r>
              <a:rPr sz="1050" b="1" i="0">
                <a:solidFill>
                  <a:srgbClr val="2FA6C9"/>
                </a:solidFill>
                <a:latin typeface="Calibri"/>
              </a:rPr>
              <a:t>ИСТОЧНИК И ПАРСИНГ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5000" y="2025000"/>
            <a:ext cx="260000" cy="20000"/>
          </a:xfrm>
          <a:prstGeom prst="rect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0000" y="2060000"/>
            <a:ext cx="2750000" cy="160000"/>
          </a:xfrm>
          <a:prstGeom prst="rect">
            <a:avLst/>
          </a:prstGeom>
          <a:noFill/>
        </p:spPr>
        <p:txBody>
          <a:bodyPr wrap="square" anchor="t" lIns="30000" rIns="30000" tIns="10000" bIns="10000">
            <a:spAutoFit/>
          </a:bodyPr>
          <a:lstStyle/>
          <a:p>
            <a:pPr algn="ctr"/>
            <a:r>
              <a:rPr sz="1050" b="1" i="0">
                <a:solidFill>
                  <a:srgbClr val="2FA6C9"/>
                </a:solidFill>
                <a:latin typeface="Calibri"/>
              </a:rPr>
              <a:t>СЫРЫЕ ДАННЫЕ · RAW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5000" y="2025000"/>
            <a:ext cx="260000" cy="20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0000" y="2060000"/>
            <a:ext cx="2650000" cy="160000"/>
          </a:xfrm>
          <a:prstGeom prst="rect">
            <a:avLst/>
          </a:prstGeom>
          <a:noFill/>
        </p:spPr>
        <p:txBody>
          <a:bodyPr wrap="square" anchor="t" lIns="30000" rIns="30000" tIns="10000" bIns="10000">
            <a:spAutoFit/>
          </a:bodyPr>
          <a:lstStyle/>
          <a:p>
            <a:pPr algn="ctr"/>
            <a:r>
              <a:rPr sz="1050" b="1" i="0">
                <a:solidFill>
                  <a:srgbClr val="FF5A36"/>
                </a:solidFill>
                <a:latin typeface="Calibri"/>
              </a:rPr>
              <a:t>ПРИВЕДЕНИЕ К ЕДИНОМУ ВИДУ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280000"/>
            <a:ext cx="2500000" cy="820000"/>
          </a:xfrm>
          <a:prstGeom prst="roundRect">
            <a:avLst>
              <a:gd name="adj" fmla="val 12000"/>
            </a:avLst>
          </a:prstGeom>
          <a:solidFill>
            <a:srgbClr val="232931"/>
          </a:solidFill>
          <a:ln w="15875">
            <a:solidFill>
              <a:srgbClr val="3E4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8640" y="2320000"/>
            <a:ext cx="2420000" cy="135000"/>
          </a:xfrm>
          <a:prstGeom prst="roundRect">
            <a:avLst>
              <a:gd name="adj" fmla="val 50000"/>
            </a:avLst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1 · Excel-файл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640" y="2495000"/>
            <a:ext cx="2380000" cy="565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.xlsx · .xls · только чтение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40000"/>
            <a:ext cx="2500000" cy="820000"/>
          </a:xfrm>
          <a:prstGeom prst="roundRect">
            <a:avLst>
              <a:gd name="adj" fmla="val 12000"/>
            </a:avLst>
          </a:prstGeom>
          <a:solidFill>
            <a:srgbClr val="232931"/>
          </a:solidFill>
          <a:ln w="15875">
            <a:solidFill>
              <a:srgbClr val="3E4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88640" y="3480000"/>
            <a:ext cx="2420000" cy="13500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2 · Загрузка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640" y="3655000"/>
            <a:ext cx="2380000" cy="565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POST /files/upload · async-очередь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00000"/>
            <a:ext cx="2500000" cy="820000"/>
          </a:xfrm>
          <a:prstGeom prst="roundRect">
            <a:avLst>
              <a:gd name="adj" fmla="val 12000"/>
            </a:avLst>
          </a:prstGeom>
          <a:solidFill>
            <a:srgbClr val="232931"/>
          </a:solidFill>
          <a:ln w="15875">
            <a:solidFill>
              <a:srgbClr val="3E4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88640" y="4640000"/>
            <a:ext cx="2420000" cy="13500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3 · Парсинг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40" y="4815000"/>
            <a:ext cx="2380000" cy="565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листы · шапка · периоды · комментарии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0000" y="2280000"/>
            <a:ext cx="2750000" cy="820000"/>
          </a:xfrm>
          <a:prstGeom prst="roundRect">
            <a:avLst>
              <a:gd name="adj" fmla="val 12000"/>
            </a:avLst>
          </a:prstGeom>
          <a:solidFill>
            <a:srgbClr val="232931"/>
          </a:solidFill>
          <a:ln w="15875">
            <a:solidFill>
              <a:srgbClr val="3E4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90000" y="2320000"/>
            <a:ext cx="2670000" cy="135000"/>
          </a:xfrm>
          <a:prstGeom prst="roundRect">
            <a:avLst>
              <a:gd name="adj" fmla="val 50000"/>
            </a:avLst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4 · RAW · prices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0000" y="2495000"/>
            <a:ext cx="2630000" cy="565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листы «prices»: строки и ячейки · public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0000" y="3440000"/>
            <a:ext cx="2750000" cy="820000"/>
          </a:xfrm>
          <a:prstGeom prst="roundRect">
            <a:avLst>
              <a:gd name="adj" fmla="val 12000"/>
            </a:avLst>
          </a:prstGeom>
          <a:solidFill>
            <a:srgbClr val="232931"/>
          </a:solidFill>
          <a:ln w="15875">
            <a:solidFill>
              <a:srgbClr val="3E4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90000" y="3480000"/>
            <a:ext cx="2670000" cy="135000"/>
          </a:xfrm>
          <a:prstGeom prst="roundRect">
            <a:avLst>
              <a:gd name="adj" fmla="val 50000"/>
            </a:avLst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5 · RAW · metrics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000" y="3655000"/>
            <a:ext cx="2630000" cy="565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листы «metrics»: строки и ячейки · public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00000" y="2280000"/>
            <a:ext cx="2650000" cy="1980000"/>
          </a:xfrm>
          <a:prstGeom prst="roundRect">
            <a:avLst>
              <a:gd name="adj" fmla="val 5000"/>
            </a:avLst>
          </a:prstGeom>
          <a:solidFill>
            <a:srgbClr val="232931"/>
          </a:solidFill>
          <a:ln w="19050">
            <a:solidFill>
              <a:srgbClr val="FF5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00000" y="2280000"/>
            <a:ext cx="90000" cy="1980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720000" y="2430000"/>
            <a:ext cx="2210000" cy="150000"/>
          </a:xfrm>
          <a:prstGeom prst="roundRect">
            <a:avLst>
              <a:gd name="adj" fmla="val 50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6 · Нормализация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000" y="2620000"/>
            <a:ext cx="2210000" cy="300000"/>
          </a:xfrm>
          <a:prstGeom prst="rect">
            <a:avLst/>
          </a:prstGeom>
          <a:noFill/>
        </p:spPr>
        <p:txBody>
          <a:bodyPr wrap="square" anchor="t" lIns="30000" rIns="30000" tIns="10000" bIns="10000">
            <a:spAutoFit/>
          </a:bodyPr>
          <a:lstStyle/>
          <a:p>
            <a:pPr algn="l"/>
            <a:r>
              <a:rPr sz="1250" b="0" i="0">
                <a:solidFill>
                  <a:srgbClr val="2FA6C9"/>
                </a:solidFill>
                <a:latin typeface="Calibri"/>
              </a:rPr>
              <a:t>приводим Excel к единым справочникам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000" y="2970000"/>
            <a:ext cx="2210000" cy="30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50000" y="3110000"/>
            <a:ext cx="2150000" cy="1060000"/>
          </a:xfrm>
          <a:prstGeom prst="rect">
            <a:avLst/>
          </a:prstGeom>
          <a:noFill/>
        </p:spPr>
        <p:txBody>
          <a:bodyPr wrap="square" anchor="t" lIns="30000" rIns="30000" tIns="10000" bIns="1000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350" b="1" i="0">
                <a:solidFill>
                  <a:srgbClr val="FF5A36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A9B4C0"/>
                </a:solidFill>
                <a:latin typeface="Calibri"/>
              </a:rPr>
              <a:t>единые справочники поставщиков и материалов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350" b="1" i="0">
                <a:solidFill>
                  <a:srgbClr val="FF5A36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A9B4C0"/>
                </a:solidFill>
                <a:latin typeface="Calibri"/>
              </a:rPr>
              <a:t>цены → руб./тн по месяцам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350" b="1" i="0">
                <a:solidFill>
                  <a:srgbClr val="FF5A36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A9B4C0"/>
                </a:solidFill>
                <a:latin typeface="Calibri"/>
              </a:rPr>
              <a:t>результат складывается в витрину mart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00000" y="4600000"/>
            <a:ext cx="2650000" cy="820000"/>
          </a:xfrm>
          <a:prstGeom prst="roundRect">
            <a:avLst>
              <a:gd name="adj" fmla="val 12000"/>
            </a:avLst>
          </a:prstGeom>
          <a:solidFill>
            <a:srgbClr val="232931"/>
          </a:solidFill>
          <a:ln w="15875">
            <a:solidFill>
              <a:srgbClr val="3E4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540000" y="4640000"/>
            <a:ext cx="2570000" cy="135000"/>
          </a:xfrm>
          <a:prstGeom prst="roundRect">
            <a:avLst>
              <a:gd name="adj" fmla="val 50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7 · Entity Resolution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60000" y="4815000"/>
            <a:ext cx="2530000" cy="565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каталоги item · supplier · period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50000" y="2180000"/>
            <a:ext cx="2360000" cy="3820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A566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60000" y="2060000"/>
            <a:ext cx="940000" cy="240000"/>
          </a:xfrm>
          <a:prstGeom prst="roundRect">
            <a:avLst>
              <a:gd name="adj" fmla="val 50000"/>
            </a:avLst>
          </a:prstGeom>
          <a:solidFill>
            <a:srgbClr val="1B1F24"/>
          </a:solidFill>
          <a:ln w="12700">
            <a:solidFill>
              <a:srgbClr val="2FA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000" rIns="10000" tIns="0" bIns="0"/>
          <a:lstStyle/>
          <a:p>
            <a:pPr algn="ctr"/>
            <a:r>
              <a:rPr sz="1050" b="1">
                <a:solidFill>
                  <a:srgbClr val="2FA6C9"/>
                </a:solidFill>
                <a:latin typeface="Calibri"/>
              </a:rPr>
              <a:t>витрина mart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50000" y="2280000"/>
            <a:ext cx="2100000" cy="820000"/>
          </a:xfrm>
          <a:prstGeom prst="roundRect">
            <a:avLst>
              <a:gd name="adj" fmla="val 12000"/>
            </a:avLst>
          </a:prstGeom>
          <a:solidFill>
            <a:srgbClr val="232931"/>
          </a:solidFill>
          <a:ln w="15875">
            <a:solidFill>
              <a:srgbClr val="3E4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590000" y="2320000"/>
            <a:ext cx="2020000" cy="135000"/>
          </a:xfrm>
          <a:prstGeom prst="roundRect">
            <a:avLst>
              <a:gd name="adj" fmla="val 50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8 · mart.price_facts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10000" y="2495000"/>
            <a:ext cx="1980000" cy="565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цены · руб./тн по месяцам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50000" y="3440000"/>
            <a:ext cx="2100000" cy="820000"/>
          </a:xfrm>
          <a:prstGeom prst="roundRect">
            <a:avLst>
              <a:gd name="adj" fmla="val 12000"/>
            </a:avLst>
          </a:prstGeom>
          <a:solidFill>
            <a:srgbClr val="232931"/>
          </a:solidFill>
          <a:ln w="15875">
            <a:solidFill>
              <a:srgbClr val="3E4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90000" y="3480000"/>
            <a:ext cx="2020000" cy="135000"/>
          </a:xfrm>
          <a:prstGeom prst="roundRect">
            <a:avLst>
              <a:gd name="adj" fmla="val 50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9 · mart.metrics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10000" y="3655000"/>
            <a:ext cx="1980000" cy="565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показатели по месяцам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50000" y="4600000"/>
            <a:ext cx="2100000" cy="820000"/>
          </a:xfrm>
          <a:prstGeom prst="roundRect">
            <a:avLst>
              <a:gd name="adj" fmla="val 12000"/>
            </a:avLst>
          </a:prstGeom>
          <a:solidFill>
            <a:srgbClr val="232931"/>
          </a:solidFill>
          <a:ln w="15875">
            <a:solidFill>
              <a:srgbClr val="3E4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590000" y="4640000"/>
            <a:ext cx="2020000" cy="135000"/>
          </a:xfrm>
          <a:prstGeom prst="roundRect">
            <a:avLst>
              <a:gd name="adj" fmla="val 50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000" rIns="20000" tIns="0" bIns="0"/>
          <a:lstStyle/>
          <a:p>
            <a:pPr algn="ctr"/>
            <a:r>
              <a:rPr sz="1350" b="1">
                <a:solidFill>
                  <a:srgbClr val="101418"/>
                </a:solidFill>
                <a:latin typeface="Calibri"/>
              </a:rPr>
              <a:t>10 · Каталоги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10000" y="4815000"/>
            <a:ext cx="1980000" cy="565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item · supplier · period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798640" y="3100000"/>
            <a:ext cx="0" cy="340000"/>
          </a:xfrm>
          <a:prstGeom prst="line">
            <a:avLst/>
          </a:prstGeom>
          <a:ln w="2222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798640" y="4260000"/>
            <a:ext cx="0" cy="340000"/>
          </a:xfrm>
          <a:prstGeom prst="line">
            <a:avLst/>
          </a:prstGeom>
          <a:ln w="2222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328640" y="2880000"/>
            <a:ext cx="121360" cy="1900000"/>
          </a:xfrm>
          <a:prstGeom prst="line">
            <a:avLst/>
          </a:prstGeom>
          <a:ln w="2222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328640" y="4080000"/>
            <a:ext cx="121360" cy="700000"/>
          </a:xfrm>
          <a:prstGeom prst="line">
            <a:avLst/>
          </a:prstGeom>
          <a:ln w="2222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00000" y="2690000"/>
            <a:ext cx="400000" cy="0"/>
          </a:xfrm>
          <a:prstGeom prst="line">
            <a:avLst/>
          </a:prstGeom>
          <a:ln w="2222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100000" y="3850000"/>
            <a:ext cx="400000" cy="0"/>
          </a:xfrm>
          <a:prstGeom prst="line">
            <a:avLst/>
          </a:prstGeom>
          <a:ln w="2222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150000" y="2690000"/>
            <a:ext cx="400000" cy="0"/>
          </a:xfrm>
          <a:prstGeom prst="line">
            <a:avLst/>
          </a:prstGeom>
          <a:ln w="2222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150000" y="3850000"/>
            <a:ext cx="400000" cy="0"/>
          </a:xfrm>
          <a:prstGeom prst="line">
            <a:avLst/>
          </a:prstGeom>
          <a:ln w="2222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150000" y="5010000"/>
            <a:ext cx="400000" cy="0"/>
          </a:xfrm>
          <a:prstGeom prst="line">
            <a:avLst/>
          </a:prstGeom>
          <a:ln w="2222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48640" y="5660000"/>
            <a:ext cx="11094240" cy="600000"/>
          </a:xfrm>
          <a:prstGeom prst="roundRect">
            <a:avLst>
              <a:gd name="adj" fmla="val 50000"/>
            </a:avLst>
          </a:prstGeom>
          <a:solidFill>
            <a:srgbClr val="1F252B"/>
          </a:solidFill>
          <a:ln w="12700">
            <a:solidFill>
              <a:srgbClr val="333E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5660000"/>
            <a:ext cx="100000" cy="600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8640" y="5660000"/>
            <a:ext cx="10734240" cy="600000"/>
          </a:xfrm>
          <a:prstGeom prst="rect">
            <a:avLst/>
          </a:prstGeom>
          <a:noFill/>
        </p:spPr>
        <p:txBody>
          <a:bodyPr wrap="square" anchor="ctr" lIns="30000" rIns="30000" tIns="10000" bIns="10000">
            <a:spAutoFit/>
          </a:bodyPr>
          <a:lstStyle/>
          <a:p>
            <a:pPr algn="ctr"/>
            <a:r>
              <a:rPr sz="1350" b="0" i="0">
                <a:solidFill>
                  <a:srgbClr val="FFFFFF"/>
                </a:solidFill>
                <a:latin typeface="Calibri"/>
              </a:rPr>
              <a:t>Исходные Excel не изменяются (только чтение)</a:t>
            </a:r>
            <a:r>
              <a:rPr sz="1350" b="1" i="0">
                <a:solidFill>
                  <a:srgbClr val="FF5A36"/>
                </a:solidFill>
                <a:latin typeface="Calibri"/>
              </a:rPr>
              <a:t>    ·    </a:t>
            </a:r>
            <a:r>
              <a:rPr sz="1350" b="0" i="0">
                <a:solidFill>
                  <a:srgbClr val="A9B4C0"/>
                </a:solidFill>
                <a:latin typeface="Calibri"/>
              </a:rPr>
              <a:t>единые названия поставщиков и материалов</a:t>
            </a:r>
            <a:r>
              <a:rPr sz="1350" b="1" i="0">
                <a:solidFill>
                  <a:srgbClr val="FF5A36"/>
                </a:solidFill>
                <a:latin typeface="Calibri"/>
              </a:rPr>
              <a:t>    ·    </a:t>
            </a:r>
            <a:r>
              <a:rPr sz="1350" b="0" i="0">
                <a:solidFill>
                  <a:srgbClr val="A9B4C0"/>
                </a:solidFill>
                <a:latin typeface="Calibri"/>
              </a:rPr>
              <a:t>витрина готова для вопросов и графиков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Схема базы данных</a:t>
            </a:r>
            <a:endParaRPr lang="en-US" sz="3200" dirty="0"/>
          </a:p>
        </p:txBody>
      </p:sp>
      <p:sp>
        <p:nvSpPr>
          <p:cNvPr id="102" name="Zone схема public"/>
          <p:cNvSpPr/>
          <p:nvPr/>
        </p:nvSpPr>
        <p:spPr>
          <a:xfrm>
            <a:off x="548640" y="1371600"/>
            <a:ext cx="6675120" cy="4709160"/>
          </a:xfrm>
          <a:prstGeom prst="rect">
            <a:avLst/>
          </a:prstGeom>
          <a:noFill/>
          <a:ln w="19050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3"/>
          <p:cNvSpPr txBox="1"/>
          <p:nvPr/>
        </p:nvSpPr>
        <p:spPr>
          <a:xfrm>
            <a:off x="731520" y="144475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b="1" dirty="0">
                <a:solidFill>
                  <a:srgbClr val="2FA6C9"/>
                </a:solidFill>
              </a:rPr>
              <a:t>С</a:t>
            </a:r>
            <a:r>
              <a:rPr lang="en-US" b="1" dirty="0" err="1">
                <a:solidFill>
                  <a:srgbClr val="2FA6C9"/>
                </a:solidFill>
              </a:rPr>
              <a:t>хема</a:t>
            </a:r>
            <a:r>
              <a:rPr lang="en-US" b="1" dirty="0">
                <a:solidFill>
                  <a:srgbClr val="2FA6C9"/>
                </a:solidFill>
              </a:rPr>
              <a:t> public</a:t>
            </a:r>
            <a:endParaRPr lang="en-US" dirty="0"/>
          </a:p>
        </p:txBody>
      </p:sp>
      <p:sp>
        <p:nvSpPr>
          <p:cNvPr id="104" name="Zone схема mart"/>
          <p:cNvSpPr/>
          <p:nvPr/>
        </p:nvSpPr>
        <p:spPr>
          <a:xfrm>
            <a:off x="7589520" y="1371600"/>
            <a:ext cx="4050792" cy="4709160"/>
          </a:xfrm>
          <a:prstGeom prst="rect">
            <a:avLst/>
          </a:prstGeom>
          <a:noFill/>
          <a:ln w="1905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5" name="Text 5"/>
          <p:cNvSpPr txBox="1"/>
          <p:nvPr/>
        </p:nvSpPr>
        <p:spPr>
          <a:xfrm>
            <a:off x="7772400" y="1444752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b="1" dirty="0">
                <a:solidFill>
                  <a:srgbClr val="3FBF8A"/>
                </a:solidFill>
              </a:rPr>
              <a:t>С</a:t>
            </a:r>
            <a:r>
              <a:rPr lang="en-US" b="1" dirty="0" err="1">
                <a:solidFill>
                  <a:srgbClr val="3FBF8A"/>
                </a:solidFill>
              </a:rPr>
              <a:t>хема</a:t>
            </a:r>
            <a:r>
              <a:rPr lang="en-US" b="1" dirty="0">
                <a:solidFill>
                  <a:srgbClr val="3FBF8A"/>
                </a:solidFill>
              </a:rPr>
              <a:t> mart</a:t>
            </a:r>
            <a:endParaRPr lang="en-US" dirty="0"/>
          </a:p>
        </p:txBody>
      </p:sp>
      <p:sp>
        <p:nvSpPr>
          <p:cNvPr id="106" name="Node files"/>
          <p:cNvSpPr/>
          <p:nvPr/>
        </p:nvSpPr>
        <p:spPr>
          <a:xfrm>
            <a:off x="4754880" y="187452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Label files"/>
          <p:cNvSpPr txBox="1"/>
          <p:nvPr/>
        </p:nvSpPr>
        <p:spPr>
          <a:xfrm>
            <a:off x="4828032" y="1874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files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id · filename · file_hash UK · status</a:t>
            </a:r>
            <a:endParaRPr lang="en-US" sz="1600" dirty="0"/>
          </a:p>
        </p:txBody>
      </p:sp>
      <p:sp>
        <p:nvSpPr>
          <p:cNvPr id="108" name="Node sheets"/>
          <p:cNvSpPr/>
          <p:nvPr/>
        </p:nvSpPr>
        <p:spPr>
          <a:xfrm>
            <a:off x="914400" y="187452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sheets"/>
          <p:cNvSpPr txBox="1"/>
          <p:nvPr/>
        </p:nvSpPr>
        <p:spPr>
          <a:xfrm>
            <a:off x="987552" y="1874520"/>
            <a:ext cx="24140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sheets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file_id FK · period · sheet_kind</a:t>
            </a:r>
            <a:endParaRPr lang="en-US" sz="1600" dirty="0"/>
          </a:p>
        </p:txBody>
      </p:sp>
      <p:sp>
        <p:nvSpPr>
          <p:cNvPr id="110" name="Arrow"/>
          <p:cNvSpPr/>
          <p:nvPr/>
        </p:nvSpPr>
        <p:spPr>
          <a:xfrm flipH="1">
            <a:off x="3474720" y="2377440"/>
            <a:ext cx="12801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Text 11"/>
          <p:cNvSpPr txBox="1"/>
          <p:nvPr/>
        </p:nvSpPr>
        <p:spPr>
          <a:xfrm>
            <a:off x="374904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1 : N</a:t>
            </a:r>
            <a:endParaRPr lang="en-US" sz="1600" dirty="0"/>
          </a:p>
        </p:txBody>
      </p:sp>
      <p:sp>
        <p:nvSpPr>
          <p:cNvPr id="112" name="Arrow"/>
          <p:cNvSpPr/>
          <p:nvPr/>
        </p:nvSpPr>
        <p:spPr>
          <a:xfrm>
            <a:off x="2194560" y="2880360"/>
            <a:ext cx="0" cy="45720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3" name="Arrow"/>
          <p:cNvSpPr/>
          <p:nvPr/>
        </p:nvSpPr>
        <p:spPr>
          <a:xfrm>
            <a:off x="1737360" y="3337560"/>
            <a:ext cx="40233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" name="Arrow"/>
          <p:cNvSpPr/>
          <p:nvPr/>
        </p:nvSpPr>
        <p:spPr>
          <a:xfrm>
            <a:off x="1737360" y="3337560"/>
            <a:ext cx="0" cy="50292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5" name="Arrow"/>
          <p:cNvSpPr/>
          <p:nvPr/>
        </p:nvSpPr>
        <p:spPr>
          <a:xfrm>
            <a:off x="3749040" y="3337560"/>
            <a:ext cx="0" cy="50292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6" name="Arrow"/>
          <p:cNvSpPr/>
          <p:nvPr/>
        </p:nvSpPr>
        <p:spPr>
          <a:xfrm>
            <a:off x="5760720" y="3337560"/>
            <a:ext cx="0" cy="50292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7" name="Node column_metadata"/>
          <p:cNvSpPr/>
          <p:nvPr/>
        </p:nvSpPr>
        <p:spPr>
          <a:xfrm>
            <a:off x="82296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Label column_metadata"/>
          <p:cNvSpPr txBox="1"/>
          <p:nvPr/>
        </p:nvSpPr>
        <p:spPr>
          <a:xfrm>
            <a:off x="89611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column_metadata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data_type · role</a:t>
            </a:r>
            <a:endParaRPr lang="en-US" sz="1600" dirty="0"/>
          </a:p>
        </p:txBody>
      </p:sp>
      <p:sp>
        <p:nvSpPr>
          <p:cNvPr id="119" name="Node cells"/>
          <p:cNvSpPr/>
          <p:nvPr/>
        </p:nvSpPr>
        <p:spPr>
          <a:xfrm>
            <a:off x="283464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0" name="Label cells"/>
          <p:cNvSpPr txBox="1"/>
          <p:nvPr/>
        </p:nvSpPr>
        <p:spPr>
          <a:xfrm>
            <a:off x="290779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cells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row_num · value_text · value_number</a:t>
            </a:r>
            <a:endParaRPr lang="en-US" sz="1600" dirty="0"/>
          </a:p>
        </p:txBody>
      </p:sp>
      <p:sp>
        <p:nvSpPr>
          <p:cNvPr id="121" name="Node excel_comments"/>
          <p:cNvSpPr/>
          <p:nvPr/>
        </p:nvSpPr>
        <p:spPr>
          <a:xfrm>
            <a:off x="484632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2" name="Label excel_comments"/>
          <p:cNvSpPr txBox="1"/>
          <p:nvPr/>
        </p:nvSpPr>
        <p:spPr>
          <a:xfrm>
            <a:off x="491947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excel_comments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cell_ref · author · text</a:t>
            </a:r>
            <a:endParaRPr lang="en-US" sz="1600" dirty="0"/>
          </a:p>
        </p:txBody>
      </p:sp>
      <p:sp>
        <p:nvSpPr>
          <p:cNvPr id="123" name="Node Служебные таблицы"/>
          <p:cNvSpPr/>
          <p:nvPr/>
        </p:nvSpPr>
        <p:spPr>
          <a:xfrm>
            <a:off x="822960" y="516636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Label Служебные таблицы"/>
          <p:cNvSpPr txBox="1"/>
          <p:nvPr/>
        </p:nvSpPr>
        <p:spPr>
          <a:xfrm>
            <a:off x="896112" y="5166360"/>
            <a:ext cx="5705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Служебные таблицы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entity_dictionary · query_cache · query_logs</a:t>
            </a:r>
            <a:endParaRPr lang="en-US" sz="1600" dirty="0"/>
          </a:p>
        </p:txBody>
      </p:sp>
      <p:sp>
        <p:nvSpPr>
          <p:cNvPr id="125" name="Arrow"/>
          <p:cNvSpPr/>
          <p:nvPr/>
        </p:nvSpPr>
        <p:spPr>
          <a:xfrm>
            <a:off x="6949440" y="2377440"/>
            <a:ext cx="45720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6" name="Arrow"/>
          <p:cNvSpPr/>
          <p:nvPr/>
        </p:nvSpPr>
        <p:spPr>
          <a:xfrm>
            <a:off x="7406640" y="2377440"/>
            <a:ext cx="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7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8" name="Arrow"/>
          <p:cNvSpPr/>
          <p:nvPr/>
        </p:nvSpPr>
        <p:spPr>
          <a:xfrm>
            <a:off x="7406640" y="2377440"/>
            <a:ext cx="0" cy="160020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9" name="Arrow"/>
          <p:cNvSpPr/>
          <p:nvPr/>
        </p:nvSpPr>
        <p:spPr>
          <a:xfrm>
            <a:off x="7406640" y="3977640"/>
            <a:ext cx="5486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0" name="Node price_facts"/>
          <p:cNvSpPr/>
          <p:nvPr/>
        </p:nvSpPr>
        <p:spPr>
          <a:xfrm>
            <a:off x="7955280" y="187452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1" name="Label price_facts"/>
          <p:cNvSpPr txBox="1"/>
          <p:nvPr/>
        </p:nvSpPr>
        <p:spPr>
          <a:xfrm>
            <a:off x="8028432" y="18745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price_facts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file_id FK · item_name · supplier · price_type · value · is_blank</a:t>
            </a:r>
            <a:endParaRPr lang="en-US" sz="1600" dirty="0"/>
          </a:p>
        </p:txBody>
      </p:sp>
      <p:sp>
        <p:nvSpPr>
          <p:cNvPr id="132" name="Node metrics"/>
          <p:cNvSpPr/>
          <p:nvPr/>
        </p:nvSpPr>
        <p:spPr>
          <a:xfrm>
            <a:off x="7955280" y="347472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3" name="Label metrics"/>
          <p:cNvSpPr txBox="1"/>
          <p:nvPr/>
        </p:nvSpPr>
        <p:spPr>
          <a:xfrm>
            <a:off x="8028432" y="34747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metrics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file_id FK · dimension · metric_type · value · is_blank</a:t>
            </a:r>
            <a:endParaRPr lang="en-US" sz="1600" dirty="0"/>
          </a:p>
        </p:txBody>
      </p:sp>
      <p:sp>
        <p:nvSpPr>
          <p:cNvPr id="134" name="Node supplier_aliases · sheet_templates"/>
          <p:cNvSpPr/>
          <p:nvPr/>
        </p:nvSpPr>
        <p:spPr>
          <a:xfrm>
            <a:off x="7955280" y="484632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5" name="Label supplier_aliases · sheet_templates"/>
          <p:cNvSpPr txBox="1"/>
          <p:nvPr/>
        </p:nvSpPr>
        <p:spPr>
          <a:xfrm>
            <a:off x="8028432" y="48463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supplier_aliases · sheet_templates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9B4C0"/>
                </a:solidFill>
              </a:rPr>
              <a:t>канонические имена · шаблоны по fingerprint</a:t>
            </a:r>
            <a:endParaRPr lang="en-US" sz="1600" dirty="0"/>
          </a:p>
        </p:txBody>
      </p:sp>
      <p:sp>
        <p:nvSpPr>
          <p:cNvPr id="136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7" name="Text 37"/>
          <p:cNvSpPr txBox="1"/>
          <p:nvPr/>
        </p:nvSpPr>
        <p:spPr>
          <a:xfrm>
            <a:off x="69951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9B4C0"/>
                </a:solidFill>
              </a:rPr>
              <a:t>file_id</a:t>
            </a:r>
            <a:endParaRPr lang="en-US" sz="1600" dirty="0"/>
          </a:p>
        </p:txBody>
      </p:sp>
      <p:sp>
        <p:nvSpPr>
          <p:cNvPr id="1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Граф LLM-агента (LangGraph)</a:t>
            </a:r>
            <a:endParaRPr lang="en-US" sz="3200" dirty="0"/>
          </a:p>
        </p:txBody>
      </p:sp>
      <p:sp>
        <p:nvSpPr>
          <p:cNvPr id="102" name="Node classifier"/>
          <p:cNvSpPr/>
          <p:nvPr/>
        </p:nvSpPr>
        <p:spPr>
          <a:xfrm>
            <a:off x="54864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Label classifier"/>
          <p:cNvSpPr txBox="1"/>
          <p:nvPr/>
        </p:nvSpPr>
        <p:spPr>
          <a:xfrm>
            <a:off x="62179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classifier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тип + домен</a:t>
            </a:r>
            <a:endParaRPr lang="en-US" sz="1200" dirty="0"/>
          </a:p>
        </p:txBody>
      </p:sp>
      <p:sp>
        <p:nvSpPr>
          <p:cNvPr id="104" name="Arrow"/>
          <p:cNvSpPr/>
          <p:nvPr/>
        </p:nvSpPr>
        <p:spPr>
          <a:xfrm>
            <a:off x="1828800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5" name="Node disambiguation"/>
          <p:cNvSpPr/>
          <p:nvPr/>
        </p:nvSpPr>
        <p:spPr>
          <a:xfrm>
            <a:off x="217627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Label disambiguation"/>
          <p:cNvSpPr txBox="1"/>
          <p:nvPr/>
        </p:nvSpPr>
        <p:spPr>
          <a:xfrm>
            <a:off x="224942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disambiguation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уточнение</a:t>
            </a:r>
            <a:endParaRPr lang="en-US" sz="1200" dirty="0"/>
          </a:p>
        </p:txBody>
      </p:sp>
      <p:sp>
        <p:nvSpPr>
          <p:cNvPr id="107" name="Arrow"/>
          <p:cNvSpPr/>
          <p:nvPr/>
        </p:nvSpPr>
        <p:spPr>
          <a:xfrm>
            <a:off x="3456432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8" name="Node planner"/>
          <p:cNvSpPr/>
          <p:nvPr/>
        </p:nvSpPr>
        <p:spPr>
          <a:xfrm>
            <a:off x="3803904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planner"/>
          <p:cNvSpPr txBox="1"/>
          <p:nvPr/>
        </p:nvSpPr>
        <p:spPr>
          <a:xfrm>
            <a:off x="3877056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planner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план</a:t>
            </a:r>
            <a:endParaRPr lang="en-US" sz="1200" dirty="0"/>
          </a:p>
        </p:txBody>
      </p:sp>
      <p:sp>
        <p:nvSpPr>
          <p:cNvPr id="110" name="Arrow"/>
          <p:cNvSpPr/>
          <p:nvPr/>
        </p:nvSpPr>
        <p:spPr>
          <a:xfrm>
            <a:off x="5084064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Node codegen"/>
          <p:cNvSpPr/>
          <p:nvPr/>
        </p:nvSpPr>
        <p:spPr>
          <a:xfrm>
            <a:off x="5431536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codegen"/>
          <p:cNvSpPr txBox="1"/>
          <p:nvPr/>
        </p:nvSpPr>
        <p:spPr>
          <a:xfrm>
            <a:off x="5504688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codegen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SQL + валидация</a:t>
            </a:r>
            <a:endParaRPr lang="en-US" sz="1200" dirty="0"/>
          </a:p>
        </p:txBody>
      </p:sp>
      <p:sp>
        <p:nvSpPr>
          <p:cNvPr id="113" name="Arrow"/>
          <p:cNvSpPr/>
          <p:nvPr/>
        </p:nvSpPr>
        <p:spPr>
          <a:xfrm>
            <a:off x="6711696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" name="Node executor"/>
          <p:cNvSpPr/>
          <p:nvPr/>
        </p:nvSpPr>
        <p:spPr>
          <a:xfrm>
            <a:off x="7059168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5" name="Label executor"/>
          <p:cNvSpPr txBox="1"/>
          <p:nvPr/>
        </p:nvSpPr>
        <p:spPr>
          <a:xfrm>
            <a:off x="7132320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executor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SELECT read-only</a:t>
            </a:r>
            <a:endParaRPr lang="en-US" sz="1200" dirty="0"/>
          </a:p>
        </p:txBody>
      </p:sp>
      <p:sp>
        <p:nvSpPr>
          <p:cNvPr id="116" name="Arrow"/>
          <p:cNvSpPr/>
          <p:nvPr/>
        </p:nvSpPr>
        <p:spPr>
          <a:xfrm>
            <a:off x="8339328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7" name="Node verifier"/>
          <p:cNvSpPr/>
          <p:nvPr/>
        </p:nvSpPr>
        <p:spPr>
          <a:xfrm>
            <a:off x="868680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Label verifier"/>
          <p:cNvSpPr txBox="1"/>
          <p:nvPr/>
        </p:nvSpPr>
        <p:spPr>
          <a:xfrm>
            <a:off x="875995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LLM-проверка</a:t>
            </a:r>
            <a:endParaRPr lang="en-US" sz="1200" dirty="0"/>
          </a:p>
        </p:txBody>
      </p:sp>
      <p:sp>
        <p:nvSpPr>
          <p:cNvPr id="119" name="Arrow"/>
          <p:cNvSpPr/>
          <p:nvPr/>
        </p:nvSpPr>
        <p:spPr>
          <a:xfrm>
            <a:off x="9966960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0" name="Node answer"/>
          <p:cNvSpPr/>
          <p:nvPr/>
        </p:nvSpPr>
        <p:spPr>
          <a:xfrm>
            <a:off x="1031443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1" name="Label answer"/>
          <p:cNvSpPr txBox="1"/>
          <p:nvPr/>
        </p:nvSpPr>
        <p:spPr>
          <a:xfrm>
            <a:off x="1038758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answer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ответ + chart</a:t>
            </a:r>
            <a:endParaRPr lang="en-US" sz="1200" dirty="0"/>
          </a:p>
        </p:txBody>
      </p:sp>
      <p:sp>
        <p:nvSpPr>
          <p:cNvPr id="122" name="Node failed — ошибка графа"/>
          <p:cNvSpPr/>
          <p:nvPr/>
        </p:nvSpPr>
        <p:spPr>
          <a:xfrm>
            <a:off x="548640" y="150876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262C33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3" name="Label failed — ошибка графа"/>
          <p:cNvSpPr txBox="1"/>
          <p:nvPr/>
        </p:nvSpPr>
        <p:spPr>
          <a:xfrm>
            <a:off x="621792" y="1508760"/>
            <a:ext cx="7534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484D"/>
                </a:solidFill>
              </a:rPr>
              <a:t>failed — ошибка графа</a:t>
            </a:r>
            <a:endParaRPr lang="en-US" sz="1300" dirty="0"/>
          </a:p>
        </p:txBody>
      </p:sp>
      <p:sp>
        <p:nvSpPr>
          <p:cNvPr id="124" name="Arrow"/>
          <p:cNvSpPr/>
          <p:nvPr/>
        </p:nvSpPr>
        <p:spPr>
          <a:xfrm flipV="1">
            <a:off x="1188720" y="1965960"/>
            <a:ext cx="0" cy="548640"/>
          </a:xfrm>
          <a:prstGeom prst="line">
            <a:avLst/>
          </a:prstGeom>
          <a:noFill/>
          <a:ln w="22225">
            <a:solidFill>
              <a:srgbClr val="E5484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5" name="Text 25"/>
          <p:cNvSpPr txBox="1"/>
          <p:nvPr/>
        </p:nvSpPr>
        <p:spPr>
          <a:xfrm>
            <a:off x="1280160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9B4C0"/>
                </a:solidFill>
              </a:rPr>
              <a:t>query_type = None</a:t>
            </a:r>
            <a:endParaRPr lang="en-US" sz="1000" dirty="0"/>
          </a:p>
        </p:txBody>
      </p:sp>
      <p:sp>
        <p:nvSpPr>
          <p:cNvPr id="126" name="Arrow"/>
          <p:cNvSpPr/>
          <p:nvPr/>
        </p:nvSpPr>
        <p:spPr>
          <a:xfrm flipV="1">
            <a:off x="6071616" y="1965960"/>
            <a:ext cx="0" cy="548640"/>
          </a:xfrm>
          <a:prstGeom prst="line">
            <a:avLst/>
          </a:prstGeom>
          <a:noFill/>
          <a:ln w="22225">
            <a:solidFill>
              <a:srgbClr val="E5484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7" name="Text 27"/>
          <p:cNvSpPr txBox="1"/>
          <p:nvPr/>
        </p:nvSpPr>
        <p:spPr>
          <a:xfrm>
            <a:off x="6163056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9B4C0"/>
                </a:solidFill>
              </a:rPr>
              <a:t>SQL пуст · ретраи = 3</a:t>
            </a:r>
            <a:endParaRPr lang="en-US" sz="1000" dirty="0"/>
          </a:p>
        </p:txBody>
      </p:sp>
      <p:sp>
        <p:nvSpPr>
          <p:cNvPr id="128" name="Arrow"/>
          <p:cNvSpPr/>
          <p:nvPr/>
        </p:nvSpPr>
        <p:spPr>
          <a:xfrm flipV="1">
            <a:off x="7699248" y="1965960"/>
            <a:ext cx="0" cy="548640"/>
          </a:xfrm>
          <a:prstGeom prst="line">
            <a:avLst/>
          </a:prstGeom>
          <a:noFill/>
          <a:ln w="22225">
            <a:solidFill>
              <a:srgbClr val="E5484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9" name="Text 29"/>
          <p:cNvSpPr txBox="1"/>
          <p:nvPr/>
        </p:nvSpPr>
        <p:spPr>
          <a:xfrm>
            <a:off x="779068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9B4C0"/>
                </a:solidFill>
              </a:rPr>
              <a:t>sql_error · ретраи = 3</a:t>
            </a:r>
            <a:endParaRPr lang="en-US" sz="1000" dirty="0"/>
          </a:p>
        </p:txBody>
      </p:sp>
      <p:sp>
        <p:nvSpPr>
          <p:cNvPr id="130" name="Arrow"/>
          <p:cNvSpPr/>
          <p:nvPr/>
        </p:nvSpPr>
        <p:spPr>
          <a:xfrm>
            <a:off x="7699248" y="3383280"/>
            <a:ext cx="0" cy="50292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1" name="Arrow"/>
          <p:cNvSpPr/>
          <p:nvPr/>
        </p:nvSpPr>
        <p:spPr>
          <a:xfrm flipH="1">
            <a:off x="6309360" y="3886200"/>
            <a:ext cx="1389888" cy="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2" name="Arrow"/>
          <p:cNvSpPr/>
          <p:nvPr/>
        </p:nvSpPr>
        <p:spPr>
          <a:xfrm flipV="1">
            <a:off x="6309360" y="3383280"/>
            <a:ext cx="0" cy="50292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3" name="Text 33"/>
          <p:cNvSpPr txBox="1"/>
          <p:nvPr/>
        </p:nvSpPr>
        <p:spPr>
          <a:xfrm>
            <a:off x="640080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FA6C9"/>
                </a:solidFill>
              </a:rPr>
              <a:t>sql_error · ретраи &lt; 3</a:t>
            </a:r>
            <a:endParaRPr lang="en-US" sz="1100" dirty="0"/>
          </a:p>
        </p:txBody>
      </p:sp>
      <p:sp>
        <p:nvSpPr>
          <p:cNvPr id="134" name="Arrow"/>
          <p:cNvSpPr/>
          <p:nvPr/>
        </p:nvSpPr>
        <p:spPr>
          <a:xfrm>
            <a:off x="9326880" y="3383280"/>
            <a:ext cx="0" cy="96012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5" name="Arrow"/>
          <p:cNvSpPr/>
          <p:nvPr/>
        </p:nvSpPr>
        <p:spPr>
          <a:xfrm flipH="1">
            <a:off x="5833872" y="4343400"/>
            <a:ext cx="3493008" cy="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6" name="Arrow"/>
          <p:cNvSpPr/>
          <p:nvPr/>
        </p:nvSpPr>
        <p:spPr>
          <a:xfrm flipV="1">
            <a:off x="5833872" y="3383280"/>
            <a:ext cx="0" cy="96012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7" name="Text 37"/>
          <p:cNvSpPr txBox="1"/>
          <p:nvPr/>
        </p:nvSpPr>
        <p:spPr>
          <a:xfrm>
            <a:off x="5925312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FA6C9"/>
                </a:solidFill>
              </a:rPr>
              <a:t>needs_retry · ретраи &lt; 3</a:t>
            </a:r>
            <a:endParaRPr lang="en-US" sz="1100" dirty="0"/>
          </a:p>
        </p:txBody>
      </p:sp>
      <p:sp>
        <p:nvSpPr>
          <p:cNvPr id="138" name="Text 38"/>
          <p:cNvSpPr txBox="1"/>
          <p:nvPr/>
        </p:nvSpPr>
        <p:spPr>
          <a:xfrm>
            <a:off x="9509760" y="36118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4C0"/>
                </a:solidFill>
              </a:rPr>
              <a:t>Валидация codegen: пустой SQL или ошибки → повтор (ретраи &lt; 3). При needs_retry и ретраях = 3 verifier передаёт управление в answer.</a:t>
            </a:r>
            <a:endParaRPr lang="en-US" sz="1100" dirty="0"/>
          </a:p>
        </p:txBody>
      </p:sp>
      <p:sp>
        <p:nvSpPr>
          <p:cNvPr id="139" name="Text 39"/>
          <p:cNvSpPr txBox="1"/>
          <p:nvPr/>
        </p:nvSpPr>
        <p:spPr>
          <a:xfrm>
            <a:off x="548640" y="4754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0" name="Node success"/>
          <p:cNvSpPr/>
          <p:nvPr/>
        </p:nvSpPr>
        <p:spPr>
          <a:xfrm>
            <a:off x="54864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905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1" name="Label success"/>
          <p:cNvSpPr txBox="1"/>
          <p:nvPr/>
        </p:nvSpPr>
        <p:spPr>
          <a:xfrm>
            <a:off x="62179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success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9B4C0"/>
                </a:solidFill>
              </a:rPr>
              <a:t>confidence ≥ 0.7</a:t>
            </a:r>
            <a:endParaRPr lang="en-US" sz="1400" dirty="0"/>
          </a:p>
        </p:txBody>
      </p:sp>
      <p:sp>
        <p:nvSpPr>
          <p:cNvPr id="142" name="Node low_confidence"/>
          <p:cNvSpPr/>
          <p:nvPr/>
        </p:nvSpPr>
        <p:spPr>
          <a:xfrm>
            <a:off x="429768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9050">
            <a:solidFill>
              <a:srgbClr val="E5B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3" name="Label low_confidence"/>
          <p:cNvSpPr txBox="1"/>
          <p:nvPr/>
        </p:nvSpPr>
        <p:spPr>
          <a:xfrm>
            <a:off x="437083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low_confidence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9B4C0"/>
                </a:solidFill>
              </a:rPr>
              <a:t>confidence &lt; 0.7 → self-correction на уровне pipeline</a:t>
            </a:r>
            <a:endParaRPr lang="en-US" sz="1400" dirty="0"/>
          </a:p>
        </p:txBody>
      </p:sp>
      <p:sp>
        <p:nvSpPr>
          <p:cNvPr id="144" name="Node failed"/>
          <p:cNvSpPr/>
          <p:nvPr/>
        </p:nvSpPr>
        <p:spPr>
          <a:xfrm>
            <a:off x="804672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905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5" name="Label failed"/>
          <p:cNvSpPr txBox="1"/>
          <p:nvPr/>
        </p:nvSpPr>
        <p:spPr>
          <a:xfrm>
            <a:off x="811987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failed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9B4C0"/>
                </a:solidFill>
              </a:rPr>
              <a:t>ошибки графа</a:t>
            </a:r>
            <a:endParaRPr lang="en-US" sz="1400" dirty="0"/>
          </a:p>
        </p:txBody>
      </p:sp>
      <p:sp>
        <p:nvSpPr>
          <p:cNvPr id="1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Безопасная генерация SQL</a:t>
            </a:r>
            <a:endParaRPr lang="en-US" sz="3200" dirty="0"/>
          </a:p>
        </p:txBody>
      </p:sp>
      <p:sp>
        <p:nvSpPr>
          <p:cNvPr id="102" name="Text 2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Детерминированные правки в codegen</a:t>
            </a:r>
            <a:endParaRPr lang="en-US" sz="1800" dirty="0"/>
          </a:p>
        </p:txBody>
      </p:sp>
      <p:sp>
        <p:nvSpPr>
          <p:cNvPr id="103" name="Node «Все виды меди»"/>
          <p:cNvSpPr/>
          <p:nvPr/>
        </p:nvSpPr>
        <p:spPr>
          <a:xfrm>
            <a:off x="548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Label «Все виды меди»"/>
          <p:cNvSpPr txBox="1"/>
          <p:nvPr/>
        </p:nvSpPr>
        <p:spPr>
          <a:xfrm>
            <a:off x="621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«Все виды меди»</a:t>
            </a:r>
            <a:endParaRPr lang="en-US" sz="1600" dirty="0"/>
          </a:p>
        </p:txBody>
      </p:sp>
      <p:sp>
        <p:nvSpPr>
          <p:cNvPr id="105" name="Arrow"/>
          <p:cNvSpPr/>
          <p:nvPr/>
        </p:nvSpPr>
        <p:spPr>
          <a:xfrm>
            <a:off x="2148840" y="2377440"/>
            <a:ext cx="3657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6" name="Node item_name ILIKE 'Лом меди%'"/>
          <p:cNvSpPr/>
          <p:nvPr/>
        </p:nvSpPr>
        <p:spPr>
          <a:xfrm>
            <a:off x="251460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Label item_name ILIKE 'Лом меди%'"/>
          <p:cNvSpPr txBox="1"/>
          <p:nvPr/>
        </p:nvSpPr>
        <p:spPr>
          <a:xfrm>
            <a:off x="258775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item_name ILIKE 'Лом меди%'</a:t>
            </a:r>
            <a:endParaRPr lang="en-US" sz="1600" dirty="0"/>
          </a:p>
        </p:txBody>
      </p:sp>
      <p:sp>
        <p:nvSpPr>
          <p:cNvPr id="108" name="Node Поставщик «Сплав-21»"/>
          <p:cNvSpPr/>
          <p:nvPr/>
        </p:nvSpPr>
        <p:spPr>
          <a:xfrm>
            <a:off x="4297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Поставщик «Сплав-21»"/>
          <p:cNvSpPr txBox="1"/>
          <p:nvPr/>
        </p:nvSpPr>
        <p:spPr>
          <a:xfrm>
            <a:off x="4370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Поставщик «Сплав-21»</a:t>
            </a:r>
            <a:endParaRPr lang="en-US" sz="1600" dirty="0"/>
          </a:p>
        </p:txBody>
      </p:sp>
      <p:sp>
        <p:nvSpPr>
          <p:cNvPr id="110" name="Arrow"/>
          <p:cNvSpPr/>
          <p:nvPr/>
        </p:nvSpPr>
        <p:spPr>
          <a:xfrm>
            <a:off x="5897880" y="2377440"/>
            <a:ext cx="3657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Node '%сплав21%'"/>
          <p:cNvSpPr/>
          <p:nvPr/>
        </p:nvSpPr>
        <p:spPr>
          <a:xfrm>
            <a:off x="6263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'%сплав21%'"/>
          <p:cNvSpPr txBox="1"/>
          <p:nvPr/>
        </p:nvSpPr>
        <p:spPr>
          <a:xfrm>
            <a:off x="6336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'%сплав21%'</a:t>
            </a:r>
            <a:endParaRPr lang="en-US" sz="1600" dirty="0"/>
          </a:p>
        </p:txBody>
      </p:sp>
      <p:sp>
        <p:nvSpPr>
          <p:cNvPr id="113" name="Node Булевы поля is_blank"/>
          <p:cNvSpPr/>
          <p:nvPr/>
        </p:nvSpPr>
        <p:spPr>
          <a:xfrm>
            <a:off x="804672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4" name="Label Булевы поля is_blank"/>
          <p:cNvSpPr txBox="1"/>
          <p:nvPr/>
        </p:nvSpPr>
        <p:spPr>
          <a:xfrm>
            <a:off x="811987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Булевы поля is_blank</a:t>
            </a:r>
            <a:endParaRPr lang="en-US" sz="1600" dirty="0"/>
          </a:p>
        </p:txBody>
      </p:sp>
      <p:sp>
        <p:nvSpPr>
          <p:cNvPr id="115" name="Arrow"/>
          <p:cNvSpPr/>
          <p:nvPr/>
        </p:nvSpPr>
        <p:spPr>
          <a:xfrm>
            <a:off x="9646920" y="2377440"/>
            <a:ext cx="3657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6" name="Node целые 0 / 1"/>
          <p:cNvSpPr/>
          <p:nvPr/>
        </p:nvSpPr>
        <p:spPr>
          <a:xfrm>
            <a:off x="10012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7" name="Label целые 0 / 1"/>
          <p:cNvSpPr txBox="1"/>
          <p:nvPr/>
        </p:nvSpPr>
        <p:spPr>
          <a:xfrm>
            <a:off x="10085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целые 0 / 1</a:t>
            </a:r>
            <a:endParaRPr lang="en-US" sz="1600" dirty="0"/>
          </a:p>
        </p:txBody>
      </p:sp>
      <p:sp>
        <p:nvSpPr>
          <p:cNvPr id="118" name="Text 18"/>
          <p:cNvSpPr txBox="1"/>
          <p:nvPr/>
        </p:nvSpPr>
        <p:spPr>
          <a:xfrm>
            <a:off x="54864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Валидация перед выполнением</a:t>
            </a:r>
            <a:endParaRPr lang="en-US" sz="1800" dirty="0"/>
          </a:p>
        </p:txBody>
      </p:sp>
      <p:sp>
        <p:nvSpPr>
          <p:cNvPr id="119" name="Card"/>
          <p:cNvSpPr/>
          <p:nvPr/>
        </p:nvSpPr>
        <p:spPr>
          <a:xfrm>
            <a:off x="548640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0" name="Badge 1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1" name="Text 21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1</a:t>
            </a:r>
            <a:endParaRPr lang="en-US" sz="1600" dirty="0"/>
          </a:p>
        </p:txBody>
      </p:sp>
      <p:sp>
        <p:nvSpPr>
          <p:cNvPr id="122" name="Text 22"/>
          <p:cNvSpPr txBox="1"/>
          <p:nvPr/>
        </p:nvSpPr>
        <p:spPr>
          <a:xfrm>
            <a:off x="731520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Только SELECT</a:t>
            </a:r>
            <a:endParaRPr lang="en-US" sz="1500" dirty="0"/>
          </a:p>
        </p:txBody>
      </p:sp>
      <p:sp>
        <p:nvSpPr>
          <p:cNvPr id="123" name="Text 23"/>
          <p:cNvSpPr txBox="1"/>
          <p:nvPr/>
        </p:nvSpPr>
        <p:spPr>
          <a:xfrm>
            <a:off x="73152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whitelist таблиц mart.*</a:t>
            </a:r>
            <a:endParaRPr lang="en-US" sz="1200" dirty="0"/>
          </a:p>
        </p:txBody>
      </p:sp>
      <p:sp>
        <p:nvSpPr>
          <p:cNvPr id="124" name="Card"/>
          <p:cNvSpPr/>
          <p:nvPr/>
        </p:nvSpPr>
        <p:spPr>
          <a:xfrm>
            <a:off x="3364992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5" name="Badge 2"/>
          <p:cNvSpPr/>
          <p:nvPr/>
        </p:nvSpPr>
        <p:spPr>
          <a:xfrm>
            <a:off x="3547872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6" name="Text 26"/>
          <p:cNvSpPr txBox="1"/>
          <p:nvPr/>
        </p:nvSpPr>
        <p:spPr>
          <a:xfrm>
            <a:off x="3547872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2</a:t>
            </a:r>
            <a:endParaRPr lang="en-US" sz="1600" dirty="0"/>
          </a:p>
        </p:txBody>
      </p:sp>
      <p:sp>
        <p:nvSpPr>
          <p:cNvPr id="127" name="Text 27"/>
          <p:cNvSpPr txBox="1"/>
          <p:nvPr/>
        </p:nvSpPr>
        <p:spPr>
          <a:xfrm>
            <a:off x="3547872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Blacklist</a:t>
            </a:r>
            <a:endParaRPr lang="en-US" sz="1500" dirty="0"/>
          </a:p>
        </p:txBody>
      </p:sp>
      <p:sp>
        <p:nvSpPr>
          <p:cNvPr id="128" name="Text 28"/>
          <p:cNvSpPr txBox="1"/>
          <p:nvPr/>
        </p:nvSpPr>
        <p:spPr>
          <a:xfrm>
            <a:off x="3547872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INSERT · UPDATE · DELETE · DROP · ALTER</a:t>
            </a:r>
            <a:endParaRPr lang="en-US" sz="1200" dirty="0"/>
          </a:p>
        </p:txBody>
      </p:sp>
      <p:sp>
        <p:nvSpPr>
          <p:cNvPr id="129" name="Card"/>
          <p:cNvSpPr/>
          <p:nvPr/>
        </p:nvSpPr>
        <p:spPr>
          <a:xfrm>
            <a:off x="6181344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0" name="Badge 3"/>
          <p:cNvSpPr/>
          <p:nvPr/>
        </p:nvSpPr>
        <p:spPr>
          <a:xfrm>
            <a:off x="6364224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1" name="Text 31"/>
          <p:cNvSpPr txBox="1"/>
          <p:nvPr/>
        </p:nvSpPr>
        <p:spPr>
          <a:xfrm>
            <a:off x="6364224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3</a:t>
            </a:r>
            <a:endParaRPr lang="en-US" sz="1600" dirty="0"/>
          </a:p>
        </p:txBody>
      </p:sp>
      <p:sp>
        <p:nvSpPr>
          <p:cNvPr id="132" name="Text 32"/>
          <p:cNvSpPr txBox="1"/>
          <p:nvPr/>
        </p:nvSpPr>
        <p:spPr>
          <a:xfrm>
            <a:off x="6364224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Баланс скобок и кавычек</a:t>
            </a:r>
            <a:endParaRPr lang="en-US" sz="1500" dirty="0"/>
          </a:p>
        </p:txBody>
      </p:sp>
      <p:sp>
        <p:nvSpPr>
          <p:cNvPr id="133" name="Text 33"/>
          <p:cNvSpPr txBox="1"/>
          <p:nvPr/>
        </p:nvSpPr>
        <p:spPr>
          <a:xfrm>
            <a:off x="6364224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детекция обрезанного SQL</a:t>
            </a:r>
            <a:endParaRPr lang="en-US" sz="1200" dirty="0"/>
          </a:p>
        </p:txBody>
      </p:sp>
      <p:sp>
        <p:nvSpPr>
          <p:cNvPr id="134" name="Card"/>
          <p:cNvSpPr/>
          <p:nvPr/>
        </p:nvSpPr>
        <p:spPr>
          <a:xfrm>
            <a:off x="8997696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5" name="Badge 4"/>
          <p:cNvSpPr/>
          <p:nvPr/>
        </p:nvSpPr>
        <p:spPr>
          <a:xfrm>
            <a:off x="9180576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6" name="Text 36"/>
          <p:cNvSpPr txBox="1"/>
          <p:nvPr/>
        </p:nvSpPr>
        <p:spPr>
          <a:xfrm>
            <a:off x="9180576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4</a:t>
            </a:r>
            <a:endParaRPr lang="en-US" sz="1600" dirty="0"/>
          </a:p>
        </p:txBody>
      </p:sp>
      <p:sp>
        <p:nvSpPr>
          <p:cNvPr id="137" name="Text 37"/>
          <p:cNvSpPr txBox="1"/>
          <p:nvPr/>
        </p:nvSpPr>
        <p:spPr>
          <a:xfrm>
            <a:off x="9180576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statement_timeout</a:t>
            </a:r>
            <a:endParaRPr lang="en-US" sz="1500" dirty="0"/>
          </a:p>
        </p:txBody>
      </p:sp>
      <p:sp>
        <p:nvSpPr>
          <p:cNvPr id="138" name="Text 38"/>
          <p:cNvSpPr txBox="1"/>
          <p:nvPr/>
        </p:nvSpPr>
        <p:spPr>
          <a:xfrm>
            <a:off x="9180576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30 секунд</a:t>
            </a:r>
            <a:endParaRPr lang="en-US" sz="1200" dirty="0"/>
          </a:p>
        </p:txBody>
      </p:sp>
      <p:sp>
        <p:nvSpPr>
          <p:cNvPr id="139" name="Card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0" name="Text 40"/>
          <p:cNvSpPr txBox="1"/>
          <p:nvPr/>
        </p:nvSpPr>
        <p:spPr>
          <a:xfrm>
            <a:off x="822960" y="5440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sql_compiler.py — альтернатива LLM: компилирует структурированную спеку в безопасный SELECT без модели.</a:t>
            </a:r>
            <a:endParaRPr lang="en-US" sz="1500" dirty="0"/>
          </a:p>
        </p:txBody>
      </p:sp>
      <p:sp>
        <p:nvSpPr>
          <p:cNvPr id="1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Что умеет 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383280" cy="420624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71907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Графики и таблицы</a:t>
            </a:r>
          </a:p>
        </p:txBody>
      </p:sp>
      <p:pic>
        <p:nvPicPr>
          <p:cNvPr id="10" name="Picture 9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395728"/>
            <a:ext cx="2980944" cy="2313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3776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A9B4C0"/>
                </a:solidFill>
                <a:latin typeface="Calibri"/>
              </a:rPr>
              <a:t>Динамика за месяцы — график строится вместе с ответом и источником.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554480"/>
            <a:ext cx="3383280" cy="420624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71907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Уточнение вопросов</a:t>
            </a:r>
          </a:p>
        </p:txBody>
      </p:sp>
      <p:pic>
        <p:nvPicPr>
          <p:cNvPr id="14" name="Picture 13" descr="clari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2395728"/>
            <a:ext cx="2980944" cy="2313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80560" y="493776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A9B4C0"/>
                </a:solidFill>
                <a:latin typeface="Calibri"/>
              </a:rPr>
              <a:t>При неоднозначности агент переспросит и продолжит диалог.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383280" cy="420624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83879" y="171907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SQL-запросы агента</a:t>
            </a:r>
          </a:p>
        </p:txBody>
      </p:sp>
      <p:pic>
        <p:nvPicPr>
          <p:cNvPr id="18" name="Picture 17" descr="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2395728"/>
            <a:ext cx="2980944" cy="23134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83879" y="493776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A9B4C0"/>
                </a:solidFill>
                <a:latin typeface="Calibri"/>
              </a:rPr>
              <a:t>Агент сам пишет безопасный SELECT по витрине — только чтение.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НАБЛЮДАЕМОСТЬ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Трейсы, метрики и дашборды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48640" y="1554480"/>
            <a:ext cx="3383280" cy="420624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77240" y="171907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Трейсы запросов</a:t>
            </a:r>
          </a:p>
        </p:txBody>
      </p:sp>
      <p:pic>
        <p:nvPicPr>
          <p:cNvPr id="60" name="Picture 59" descr="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395728"/>
            <a:ext cx="2980944" cy="231343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777240" y="493776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A9B4C0"/>
                </a:solidFill>
                <a:latin typeface="Calibri"/>
              </a:rPr>
              <a:t>Каждый вопрос — отдельный request_id: виден каждый шаг агента, SQL и уверенность. API: /trace/{request_id}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51960" y="1554480"/>
            <a:ext cx="3383280" cy="420624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480560" y="171907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Метрики Prometheus</a:t>
            </a:r>
          </a:p>
        </p:txBody>
      </p:sp>
      <p:pic>
        <p:nvPicPr>
          <p:cNvPr id="64" name="Picture 63" descr="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2395728"/>
            <a:ext cx="2980944" cy="231343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480560" y="493776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A9B4C0"/>
                </a:solidFill>
                <a:latin typeface="Calibri"/>
              </a:rPr>
              <a:t>/metrics в реальном времени: число запросов, статусы, задержки и токены LLM.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955279" y="1554480"/>
            <a:ext cx="3383280" cy="420624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A4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183879" y="171907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F5A36"/>
                </a:solidFill>
                <a:latin typeface="Calibri"/>
              </a:rPr>
              <a:t>Дашборды Grafana</a:t>
            </a:r>
          </a:p>
        </p:txBody>
      </p:sp>
      <p:pic>
        <p:nvPicPr>
          <p:cNvPr id="68" name="Picture 67" descr="grafa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2395728"/>
            <a:ext cx="2980944" cy="23134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183879" y="493776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A9B4C0"/>
                </a:solidFill>
                <a:latin typeface="Calibri"/>
              </a:rPr>
              <a:t>Панели на метриках Prometheus: время ответа, статусы, точность · :3001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Бенчмарк:  единый прогон из 55 тестов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9B4C0"/>
                </a:solidFill>
              </a:rPr>
              <a:t>Бенчмарк объединяет контрольные запросы заказчика (5, допуск 1%) и расширенный набор реальных сценариев (50) — итого 55 тестов.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12848"/>
            <a:ext cx="2670048" cy="155448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212848"/>
            <a:ext cx="2670048" cy="64008"/>
          </a:xfrm>
          <a:prstGeom prst="rect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62656"/>
            <a:ext cx="2487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A9B4C0"/>
                </a:solidFill>
              </a:rPr>
              <a:t>тестов в бенчмарке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310128"/>
            <a:ext cx="241401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5 контрольных от заказчика + 50 реальных сценариев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2212848"/>
            <a:ext cx="2670048" cy="155448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28416" y="2212848"/>
            <a:ext cx="2670048" cy="64008"/>
          </a:xfrm>
          <a:prstGeom prst="rect">
            <a:avLst/>
          </a:prstGeom>
          <a:solidFill>
            <a:srgbClr val="3FB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19856" y="237744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93%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962656"/>
            <a:ext cx="2487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A9B4C0"/>
                </a:solidFill>
              </a:rPr>
              <a:t>общая точность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310128"/>
            <a:ext cx="241401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51 из 55 · контрольная группа — с допуском 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08192" y="2212848"/>
            <a:ext cx="2670048" cy="155448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08192" y="2212848"/>
            <a:ext cx="2670048" cy="64008"/>
          </a:xfrm>
          <a:prstGeom prst="rect">
            <a:avLst/>
          </a:prstGeom>
          <a:solidFill>
            <a:srgbClr val="E5B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99631" y="237744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~35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1" y="2962656"/>
            <a:ext cx="2487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A9B4C0"/>
                </a:solidFill>
              </a:rPr>
              <a:t>среднее время ответа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3310128"/>
            <a:ext cx="241401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медиана ~25–33 с · разброс 0,02–90 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2212848"/>
            <a:ext cx="2670048" cy="155448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87968" y="2212848"/>
            <a:ext cx="2670048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79408" y="237744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≈2,0 млн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8" y="2962656"/>
            <a:ext cx="2487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A9B4C0"/>
                </a:solidFill>
              </a:rPr>
              <a:t>токенов суммарно 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984" y="3310128"/>
            <a:ext cx="241401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~36 тыс. на запрос · 4 запроса требуют доработки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04164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A9B4C0"/>
                </a:solidFill>
              </a:rPr>
              <a:t>Точность по типам запросов — единый набор (55 запросов)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315968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" y="4357116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Тип вопросов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357116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Запросов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357116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Прошло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4357116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Точность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572000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4613148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Контрольные запросы заказчика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3148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26679" y="4613148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4613148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100%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828032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1792" y="4869180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Простой поиск цены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4869180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4869180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600" y="4869180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100%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084064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1792" y="5125212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Средние, мин/макс по периодам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5125212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26679" y="5125212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5125212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94%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340096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1792" y="5381244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Сравнение и дельты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5381244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26679" y="5381244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72600" y="5381244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83%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96128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792" y="5637276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Составные: поставщики + периоды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5637276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26679" y="5637276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72600" y="5637276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83%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5852160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3A434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1792" y="5893308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Итого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5893308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55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26679" y="5893308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72600" y="5893308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93%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9B4C0"/>
                </a:solidFill>
              </a:rPr>
              <a:t>Следующий шаг — разобрать 4 неуспешных запроса и довести точность выше · токены — оценка суммарного LLM-трафика · каждая цифра перепроверяема по источнику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Примеры вопросов и ответов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dirty="0" err="1">
                <a:solidFill>
                  <a:srgbClr val="8A97A6"/>
                </a:solidFill>
                <a:latin typeface="Calibri"/>
              </a:rPr>
              <a:t>Реальные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запросы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которые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уже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проходят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через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систему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демонстрационные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данные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93776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Среднерыночная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алюминия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ноябре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4495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153 369,75 ₽/тн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49377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Средняя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медного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у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поставщика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Ферроком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феврале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4495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696 625,15 ₽/тн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476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77640"/>
            <a:ext cx="49377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Дельта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между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мин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. и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макс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.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ценой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медного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у 4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поставщиков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феврале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9087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438 350,10 ₽/тн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79476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3977640"/>
            <a:ext cx="49377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Максимальная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среднерыночная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меди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«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кусок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»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за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год</a:t>
            </a:r>
            <a:endParaRPr sz="16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0" y="469087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906 729,75 ₽/тн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583387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Каждый ответ сопровождается источником: файл · лист · период · строка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1449</Words>
  <Application>Microsoft Office PowerPoint</Application>
  <PresentationFormat>Широкоэкранный</PresentationFormat>
  <Paragraphs>308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Ключевые принципы</vt:lpstr>
      <vt:lpstr>Решение — обзор</vt:lpstr>
      <vt:lpstr>Архитектура системы</vt:lpstr>
      <vt:lpstr>Технологический стек</vt:lpstr>
      <vt:lpstr>Презентация PowerPoint</vt:lpstr>
      <vt:lpstr>Схема базы данных</vt:lpstr>
      <vt:lpstr>Граф LLM-агента (LangGraph)</vt:lpstr>
      <vt:lpstr>Безопасная генерация SQL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Костя Баландин</cp:lastModifiedBy>
  <cp:revision>23</cp:revision>
  <dcterms:created xsi:type="dcterms:W3CDTF">2013-01-27T09:14:16Z</dcterms:created>
  <dcterms:modified xsi:type="dcterms:W3CDTF">2026-10-25T10:03:49Z</dcterms:modified>
  <cp:category/>
</cp:coreProperties>
</file>