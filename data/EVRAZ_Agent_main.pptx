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8" r:id="rId3"/>
    <p:sldId id="280" r:id="rId4"/>
    <p:sldId id="275" r:id="rId5"/>
    <p:sldId id="279" r:id="rId6"/>
    <p:sldId id="277" r:id="rId7"/>
    <p:sldId id="259" r:id="rId8"/>
    <p:sldId id="281" r:id="rId9"/>
    <p:sldId id="282" r:id="rId10"/>
    <p:sldId id="278" r:id="rId11"/>
    <p:sldId id="262" r:id="rId12"/>
    <p:sldId id="264" r:id="rId13"/>
    <p:sldId id="266" r:id="rId14"/>
    <p:sldId id="263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A89327-E8A3-415C-A891-4B227273A86B}" type="datetimeFigureOut">
              <a:rPr lang="ru-RU" smtClean="0"/>
              <a:t>23.10.2026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AF4842-1234-4207-91BD-833873F52AB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126969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AF4842-1234-4207-91BD-833873F52ABD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5911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6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920240"/>
            <a:ext cx="457200" cy="64008"/>
          </a:xfrm>
          <a:prstGeom prst="rect">
            <a:avLst/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205740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B199"/>
                </a:solidFill>
                <a:latin typeface="Calibri"/>
              </a:rPr>
              <a:t>EVRAZ  ·  ДЕМОНСТРАЦИЯ ПРОЕКТА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68880"/>
            <a:ext cx="10972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 i="0">
                <a:solidFill>
                  <a:srgbClr val="FFFFFF"/>
                </a:solidFill>
                <a:latin typeface="Calibri"/>
              </a:rPr>
              <a:t>EVRAZ 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6616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 i="0">
                <a:solidFill>
                  <a:srgbClr val="8A97A6"/>
                </a:solidFill>
                <a:latin typeface="Calibri"/>
              </a:rPr>
              <a:t>ИИ-помощник для работы с Excel-файлами цен на цветные металлы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605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FFB199"/>
                </a:solidFill>
                <a:latin typeface="Calibri"/>
              </a:rPr>
              <a:t>Отвечает на вопросы специалистов простым языком — по данным, которые уже есть у компании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892040"/>
            <a:ext cx="3566160" cy="1143000"/>
          </a:xfrm>
          <a:prstGeom prst="roundRect">
            <a:avLst>
              <a:gd name="adj" fmla="val 8000"/>
            </a:avLst>
          </a:prstGeom>
          <a:solidFill>
            <a:srgbClr val="1B1F24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49808" y="5047488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Загрузил файл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5413248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8A97A6"/>
                </a:solidFill>
                <a:latin typeface="Calibri"/>
              </a:rPr>
              <a:t>Система сама разобрала структуру таблиц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4892040"/>
            <a:ext cx="3566160" cy="1143000"/>
          </a:xfrm>
          <a:prstGeom prst="roundRect">
            <a:avLst>
              <a:gd name="adj" fmla="val 8000"/>
            </a:avLst>
          </a:prstGeom>
          <a:solidFill>
            <a:srgbClr val="1B1F24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44568" y="5047488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Задал вопрос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4568" y="5413248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8A97A6"/>
                </a:solidFill>
                <a:latin typeface="Calibri"/>
              </a:rPr>
              <a:t>Обычным языком, как коллеге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4892040"/>
            <a:ext cx="3566160" cy="1143000"/>
          </a:xfrm>
          <a:prstGeom prst="roundRect">
            <a:avLst>
              <a:gd name="adj" fmla="val 8000"/>
            </a:avLst>
          </a:prstGeom>
          <a:solidFill>
            <a:srgbClr val="1B1F24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39328" y="5047488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Получил ответ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9328" y="5413248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8A97A6"/>
                </a:solidFill>
                <a:latin typeface="Calibri"/>
              </a:rPr>
              <a:t>Цифра · график · источник данных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EVRAZ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7395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457200" cy="64008"/>
          </a:xfrm>
          <a:prstGeom prst="rect">
            <a:avLst/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C7293"/>
                </a:solidFill>
                <a:latin typeface="Calibri"/>
              </a:rPr>
              <a:t>ВВЕДЕНИЕ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Задача проекта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EVRAZ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Calibri"/>
              </a:rPr>
              <a:t>Сделать работу с данными о ценах простой и быстрой: </a:t>
            </a:r>
            <a:r>
              <a:rPr sz="1800" b="1">
                <a:solidFill>
                  <a:srgbClr val="8A97A6"/>
                </a:solidFill>
                <a:latin typeface="Calibri"/>
              </a:rPr>
              <a:t>загрузил файл — задал вопрос — получил проверяемый ответ.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23160"/>
            <a:ext cx="5394960" cy="1280160"/>
          </a:xfrm>
          <a:prstGeom prst="roundRect">
            <a:avLst>
              <a:gd name="adj" fmla="val 7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49808" y="2587752"/>
            <a:ext cx="548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1C7293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87752"/>
            <a:ext cx="4526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Загрузил файл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971800"/>
            <a:ext cx="4526280" cy="548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8A97A6"/>
                </a:solidFill>
                <a:latin typeface="Calibri"/>
              </a:rPr>
              <a:t>Система сама разбирает файлы и приводит данные к единому виду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2423160"/>
            <a:ext cx="5394960" cy="1280160"/>
          </a:xfrm>
          <a:prstGeom prst="roundRect">
            <a:avLst>
              <a:gd name="adj" fmla="val 7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73368" y="2587752"/>
            <a:ext cx="548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1C7293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587752"/>
            <a:ext cx="4526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Спросил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2971800"/>
            <a:ext cx="4526280" cy="548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8A97A6"/>
                </a:solidFill>
                <a:latin typeface="Calibri"/>
              </a:rPr>
              <a:t>Вопрос обычным языком — ответ с цифрами, графиком и пояснением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886200"/>
            <a:ext cx="5394960" cy="1280160"/>
          </a:xfrm>
          <a:prstGeom prst="roundRect">
            <a:avLst>
              <a:gd name="adj" fmla="val 7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49808" y="4050791"/>
            <a:ext cx="548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1C7293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050791"/>
            <a:ext cx="4526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Проверил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4434840"/>
            <a:ext cx="4526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8A97A6"/>
                </a:solidFill>
                <a:latin typeface="Calibri"/>
              </a:rPr>
              <a:t>Всегда видно, откуда взялась цифра: файл, лист, период, строка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3886200"/>
            <a:ext cx="5394960" cy="1280160"/>
          </a:xfrm>
          <a:prstGeom prst="roundRect">
            <a:avLst>
              <a:gd name="adj" fmla="val 7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73368" y="4050791"/>
            <a:ext cx="548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1C7293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4050791"/>
            <a:ext cx="4526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Не переживаешь за данные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4434840"/>
            <a:ext cx="4526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8A97A6"/>
                </a:solidFill>
                <a:latin typeface="Calibri"/>
              </a:rPr>
              <a:t>Система только читает данные, ничего не изменяет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532120"/>
            <a:ext cx="5394960" cy="82296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77240" y="5641848"/>
            <a:ext cx="23774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5A36"/>
                </a:solidFill>
                <a:latin typeface="Calibri"/>
              </a:rPr>
              <a:t>≥ 80%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5669280"/>
            <a:ext cx="2514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Целевая точность ответов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5532120"/>
            <a:ext cx="5394960" cy="82296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92240" y="5641848"/>
            <a:ext cx="23774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5A36"/>
                </a:solidFill>
                <a:latin typeface="Calibri"/>
              </a:rPr>
              <a:t>100%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15400" y="5669280"/>
            <a:ext cx="2514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Ответов — с указанием источника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FF5A36"/>
                </a:solidFill>
              </a:rPr>
              <a:t>РЕШЕНИЕ И АРХИТЕКТУРА</a:t>
            </a:r>
            <a:endParaRPr lang="en-US" sz="1200" dirty="0"/>
          </a:p>
        </p:txBody>
      </p:sp>
      <p:sp>
        <p:nvSpPr>
          <p:cNvPr id="101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</a:rPr>
              <a:t>Ключевые принципы</a:t>
            </a:r>
            <a:endParaRPr lang="en-US" sz="3200" dirty="0"/>
          </a:p>
        </p:txBody>
      </p:sp>
      <p:sp>
        <p:nvSpPr>
          <p:cNvPr id="102" name="Card"/>
          <p:cNvSpPr/>
          <p:nvPr/>
        </p:nvSpPr>
        <p:spPr>
          <a:xfrm>
            <a:off x="548640" y="155448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3" name="Text 3"/>
          <p:cNvSpPr txBox="1"/>
          <p:nvPr/>
        </p:nvSpPr>
        <p:spPr>
          <a:xfrm>
            <a:off x="822960" y="173736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rgbClr val="FF5A36"/>
                </a:solidFill>
              </a:rPr>
              <a:t>01</a:t>
            </a:r>
            <a:endParaRPr lang="en-US" sz="4400" dirty="0"/>
          </a:p>
        </p:txBody>
      </p:sp>
      <p:sp>
        <p:nvSpPr>
          <p:cNvPr id="104" name="Text 4"/>
          <p:cNvSpPr txBox="1"/>
          <p:nvPr/>
        </p:nvSpPr>
        <p:spPr>
          <a:xfrm>
            <a:off x="822960" y="2697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</a:rPr>
              <a:t>Нормализация вместо векторного поиска</a:t>
            </a:r>
            <a:endParaRPr lang="en-US" sz="1900" dirty="0"/>
          </a:p>
        </p:txBody>
      </p:sp>
      <p:sp>
        <p:nvSpPr>
          <p:cNvPr id="105" name="Text 5"/>
          <p:cNvSpPr txBox="1"/>
          <p:nvPr/>
        </p:nvSpPr>
        <p:spPr>
          <a:xfrm>
            <a:off x="822960" y="352044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A9B4C0"/>
                </a:solidFill>
              </a:rPr>
              <a:t>Long-факт-таблицы mart.price_facts / mart.metrics: агент генерирует простой SQL и не обращается к сырым ячейкам.</a:t>
            </a:r>
            <a:endParaRPr lang="en-US" sz="1400" dirty="0"/>
          </a:p>
        </p:txBody>
      </p:sp>
      <p:sp>
        <p:nvSpPr>
          <p:cNvPr id="106" name="Card"/>
          <p:cNvSpPr/>
          <p:nvPr/>
        </p:nvSpPr>
        <p:spPr>
          <a:xfrm>
            <a:off x="4297680" y="155448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7" name="Text 7"/>
          <p:cNvSpPr txBox="1"/>
          <p:nvPr/>
        </p:nvSpPr>
        <p:spPr>
          <a:xfrm>
            <a:off x="4572000" y="173736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rgbClr val="FF5A36"/>
                </a:solidFill>
              </a:rPr>
              <a:t>02</a:t>
            </a:r>
            <a:endParaRPr lang="en-US" sz="4400" dirty="0"/>
          </a:p>
        </p:txBody>
      </p:sp>
      <p:sp>
        <p:nvSpPr>
          <p:cNvPr id="108" name="Text 8"/>
          <p:cNvSpPr txBox="1"/>
          <p:nvPr/>
        </p:nvSpPr>
        <p:spPr>
          <a:xfrm>
            <a:off x="4572000" y="2697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</a:rPr>
              <a:t>Детерминизм вместо «магии» LLM</a:t>
            </a:r>
            <a:endParaRPr lang="en-US" sz="1900" dirty="0"/>
          </a:p>
        </p:txBody>
      </p:sp>
      <p:sp>
        <p:nvSpPr>
          <p:cNvPr id="109" name="Text 9"/>
          <p:cNvSpPr txBox="1"/>
          <p:nvPr/>
        </p:nvSpPr>
        <p:spPr>
          <a:xfrm>
            <a:off x="4572000" y="352044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A9B4C0"/>
                </a:solidFill>
              </a:rPr>
              <a:t>Правки SQL в codegen_node (префиксный поиск, нормализация поставщиков, is_blank → 0/1) повышают надёжность генерации.</a:t>
            </a:r>
            <a:endParaRPr lang="en-US" sz="1400" dirty="0"/>
          </a:p>
        </p:txBody>
      </p:sp>
      <p:sp>
        <p:nvSpPr>
          <p:cNvPr id="110" name="Card"/>
          <p:cNvSpPr/>
          <p:nvPr/>
        </p:nvSpPr>
        <p:spPr>
          <a:xfrm>
            <a:off x="8046720" y="155448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1" name="Text 11"/>
          <p:cNvSpPr txBox="1"/>
          <p:nvPr/>
        </p:nvSpPr>
        <p:spPr>
          <a:xfrm>
            <a:off x="8321040" y="173736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rgbClr val="FF5A36"/>
                </a:solidFill>
              </a:rPr>
              <a:t>03</a:t>
            </a:r>
            <a:endParaRPr lang="en-US" sz="4400" dirty="0"/>
          </a:p>
        </p:txBody>
      </p:sp>
      <p:sp>
        <p:nvSpPr>
          <p:cNvPr id="112" name="Text 12"/>
          <p:cNvSpPr txBox="1"/>
          <p:nvPr/>
        </p:nvSpPr>
        <p:spPr>
          <a:xfrm>
            <a:off x="8321040" y="2697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</a:rPr>
              <a:t>Прозрачность каждого ответа</a:t>
            </a:r>
            <a:endParaRPr lang="en-US" sz="1900" dirty="0"/>
          </a:p>
        </p:txBody>
      </p:sp>
      <p:sp>
        <p:nvSpPr>
          <p:cNvPr id="113" name="Text 13"/>
          <p:cNvSpPr txBox="1"/>
          <p:nvPr/>
        </p:nvSpPr>
        <p:spPr>
          <a:xfrm>
            <a:off x="8321040" y="352044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A9B4C0"/>
                </a:solidFill>
              </a:rPr>
              <a:t>Пользователь видит SQL, результат, источники, а полный трейс шагов графа доступен на странице «Трейс».</a:t>
            </a:r>
            <a:endParaRPr lang="en-US" sz="1400" dirty="0"/>
          </a:p>
        </p:txBody>
      </p:sp>
      <p:sp>
        <p:nvSpPr>
          <p:cNvPr id="114" name="Card"/>
          <p:cNvSpPr/>
          <p:nvPr/>
        </p:nvSpPr>
        <p:spPr>
          <a:xfrm>
            <a:off x="548640" y="516636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5" name="Text 15"/>
          <p:cNvSpPr txBox="1"/>
          <p:nvPr/>
        </p:nvSpPr>
        <p:spPr>
          <a:xfrm>
            <a:off x="822960" y="51663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</a:rPr>
              <a:t>Кэш ответов и fallback-логика верификатора уменьшают число повторных прогонов графа</a:t>
            </a:r>
            <a:endParaRPr lang="en-US" sz="1600" dirty="0"/>
          </a:p>
        </p:txBody>
      </p:sp>
      <p:sp>
        <p:nvSpPr>
          <p:cNvPr id="11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A9B4C0"/>
                </a:solidFill>
              </a:defRPr>
            </a:lvl1pPr>
          </a:lstStyle>
          <a:p>
            <a:r>
              <a:t>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FF5A36"/>
                </a:solidFill>
              </a:rPr>
              <a:t>РЕШЕНИЕ И АРХИТЕКТУРА</a:t>
            </a:r>
            <a:endParaRPr lang="en-US" sz="1200" dirty="0"/>
          </a:p>
        </p:txBody>
      </p:sp>
      <p:sp>
        <p:nvSpPr>
          <p:cNvPr id="101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</a:rPr>
              <a:t>Решение — обзор</a:t>
            </a:r>
            <a:endParaRPr lang="en-US" sz="3200" dirty="0"/>
          </a:p>
        </p:txBody>
      </p:sp>
      <p:sp>
        <p:nvSpPr>
          <p:cNvPr id="102" name="Node Excel"/>
          <p:cNvSpPr/>
          <p:nvPr/>
        </p:nvSpPr>
        <p:spPr>
          <a:xfrm>
            <a:off x="548640" y="155448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3" name="Label Excel"/>
          <p:cNvSpPr txBox="1"/>
          <p:nvPr/>
        </p:nvSpPr>
        <p:spPr>
          <a:xfrm>
            <a:off x="621792" y="1554480"/>
            <a:ext cx="1408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Excel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9B4C0"/>
                </a:solidFill>
              </a:rPr>
              <a:t>файл</a:t>
            </a:r>
            <a:endParaRPr lang="en-US" sz="1500" dirty="0"/>
          </a:p>
        </p:txBody>
      </p:sp>
      <p:sp>
        <p:nvSpPr>
          <p:cNvPr id="104" name="Arrow"/>
          <p:cNvSpPr/>
          <p:nvPr/>
        </p:nvSpPr>
        <p:spPr>
          <a:xfrm>
            <a:off x="2103120" y="2011680"/>
            <a:ext cx="347472" cy="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05" name="Node Парсинг"/>
          <p:cNvSpPr/>
          <p:nvPr/>
        </p:nvSpPr>
        <p:spPr>
          <a:xfrm>
            <a:off x="2450592" y="155448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6" name="Label Парсинг"/>
          <p:cNvSpPr txBox="1"/>
          <p:nvPr/>
        </p:nvSpPr>
        <p:spPr>
          <a:xfrm>
            <a:off x="2523744" y="1554480"/>
            <a:ext cx="1408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Парсинг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9B4C0"/>
                </a:solidFill>
              </a:rPr>
              <a:t>src/core/excel</a:t>
            </a:r>
            <a:endParaRPr lang="en-US" sz="1500" dirty="0"/>
          </a:p>
        </p:txBody>
      </p:sp>
      <p:sp>
        <p:nvSpPr>
          <p:cNvPr id="107" name="Arrow"/>
          <p:cNvSpPr/>
          <p:nvPr/>
        </p:nvSpPr>
        <p:spPr>
          <a:xfrm>
            <a:off x="4005072" y="2011680"/>
            <a:ext cx="347472" cy="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08" name="Node RAW"/>
          <p:cNvSpPr/>
          <p:nvPr/>
        </p:nvSpPr>
        <p:spPr>
          <a:xfrm>
            <a:off x="4352544" y="155448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9" name="Label RAW"/>
          <p:cNvSpPr txBox="1"/>
          <p:nvPr/>
        </p:nvSpPr>
        <p:spPr>
          <a:xfrm>
            <a:off x="4425696" y="1554480"/>
            <a:ext cx="1408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RAW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9B4C0"/>
                </a:solidFill>
              </a:rPr>
              <a:t>таблицы public</a:t>
            </a:r>
            <a:endParaRPr lang="en-US" sz="1500" dirty="0"/>
          </a:p>
        </p:txBody>
      </p:sp>
      <p:sp>
        <p:nvSpPr>
          <p:cNvPr id="110" name="Arrow"/>
          <p:cNvSpPr/>
          <p:nvPr/>
        </p:nvSpPr>
        <p:spPr>
          <a:xfrm>
            <a:off x="5907024" y="2011680"/>
            <a:ext cx="347472" cy="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11" name="Node Нормализация"/>
          <p:cNvSpPr/>
          <p:nvPr/>
        </p:nvSpPr>
        <p:spPr>
          <a:xfrm>
            <a:off x="6254496" y="155448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2" name="Label Нормализация"/>
          <p:cNvSpPr txBox="1"/>
          <p:nvPr/>
        </p:nvSpPr>
        <p:spPr>
          <a:xfrm>
            <a:off x="6327648" y="1554480"/>
            <a:ext cx="1408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Нормализация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9B4C0"/>
                </a:solidFill>
              </a:rPr>
              <a:t>витрина mart</a:t>
            </a:r>
            <a:endParaRPr lang="en-US" sz="1500" dirty="0"/>
          </a:p>
        </p:txBody>
      </p:sp>
      <p:sp>
        <p:nvSpPr>
          <p:cNvPr id="113" name="Arrow"/>
          <p:cNvSpPr/>
          <p:nvPr/>
        </p:nvSpPr>
        <p:spPr>
          <a:xfrm>
            <a:off x="7808976" y="2011680"/>
            <a:ext cx="347472" cy="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14" name="Node LangGraph"/>
          <p:cNvSpPr/>
          <p:nvPr/>
        </p:nvSpPr>
        <p:spPr>
          <a:xfrm>
            <a:off x="8156448" y="155448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5" name="Label LangGraph"/>
          <p:cNvSpPr txBox="1"/>
          <p:nvPr/>
        </p:nvSpPr>
        <p:spPr>
          <a:xfrm>
            <a:off x="8229600" y="1554480"/>
            <a:ext cx="1408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LangGraph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9B4C0"/>
                </a:solidFill>
              </a:rPr>
              <a:t>агент</a:t>
            </a:r>
            <a:endParaRPr lang="en-US" sz="1500" dirty="0"/>
          </a:p>
        </p:txBody>
      </p:sp>
      <p:sp>
        <p:nvSpPr>
          <p:cNvPr id="116" name="Arrow"/>
          <p:cNvSpPr/>
          <p:nvPr/>
        </p:nvSpPr>
        <p:spPr>
          <a:xfrm>
            <a:off x="9710928" y="2011680"/>
            <a:ext cx="347472" cy="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17" name="Node Безопасный"/>
          <p:cNvSpPr/>
          <p:nvPr/>
        </p:nvSpPr>
        <p:spPr>
          <a:xfrm>
            <a:off x="10058400" y="155448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FF5A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8" name="Label Безопасный"/>
          <p:cNvSpPr txBox="1"/>
          <p:nvPr/>
        </p:nvSpPr>
        <p:spPr>
          <a:xfrm>
            <a:off x="10131552" y="1554480"/>
            <a:ext cx="1408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Безопасный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9B4C0"/>
                </a:solidFill>
              </a:rPr>
              <a:t>SELECT</a:t>
            </a:r>
            <a:endParaRPr lang="en-US" sz="1500" dirty="0"/>
          </a:p>
        </p:txBody>
      </p:sp>
      <p:sp>
        <p:nvSpPr>
          <p:cNvPr id="119" name="Text 19"/>
          <p:cNvSpPr txBox="1"/>
          <p:nvPr/>
        </p:nvSpPr>
        <p:spPr>
          <a:xfrm>
            <a:off x="548640" y="27432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rgbClr val="A9B4C0"/>
                </a:solidFill>
              </a:rPr>
              <a:t>Вопрос пользователя → агент планирует и выполняет SQL → ответ + SQL + источники (PostgreSQL)</a:t>
            </a:r>
            <a:endParaRPr lang="en-US" sz="1500" dirty="0"/>
          </a:p>
        </p:txBody>
      </p:sp>
      <p:graphicFrame>
        <p:nvGraphicFramePr>
          <p:cNvPr id="1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732130"/>
              </p:ext>
            </p:extLst>
          </p:nvPr>
        </p:nvGraphicFramePr>
        <p:xfrm>
          <a:off x="548640" y="3383280"/>
          <a:ext cx="11064240" cy="2395728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3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89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F5A36"/>
                          </a:solidFill>
                        </a:rPr>
                        <a:t>Часть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F5A36"/>
                          </a:solidFill>
                        </a:rPr>
                        <a:t>Технологии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F5A36"/>
                          </a:solidFill>
                        </a:rPr>
                        <a:t>Назначение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89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Backend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</a:rPr>
                        <a:t>FastAPI, LangGraph, SQLAlchemy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</a:rPr>
                        <a:t>API, парсинг, агент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89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Frontend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</a:rPr>
                        <a:t>React 18 + TypeScript + Vite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</a:rPr>
                        <a:t>Чат, файлы, дашборд, метрики, трейсы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89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Инфраструктура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</a:rPr>
                        <a:t>Docker Compose, Nginx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</a:rPr>
                        <a:t>PostgreSQL, Prometheus, Grafana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A9B4C0"/>
                </a:solidFill>
              </a:defRPr>
            </a:lvl1pPr>
          </a:lstStyle>
          <a:p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FF5A36"/>
                </a:solidFill>
              </a:rPr>
              <a:t>РЕШЕНИЕ И АРХИТЕКТУРА</a:t>
            </a:r>
            <a:endParaRPr lang="en-US" sz="1200" dirty="0"/>
          </a:p>
        </p:txBody>
      </p:sp>
      <p:sp>
        <p:nvSpPr>
          <p:cNvPr id="101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</a:rPr>
              <a:t>Архитектура системы</a:t>
            </a:r>
            <a:endParaRPr lang="en-US" sz="3200" dirty="0"/>
          </a:p>
        </p:txBody>
      </p:sp>
      <p:sp>
        <p:nvSpPr>
          <p:cNvPr id="102" name="Node Пользователь"/>
          <p:cNvSpPr/>
          <p:nvPr/>
        </p:nvSpPr>
        <p:spPr>
          <a:xfrm>
            <a:off x="548640" y="137160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3" name="Label Пользователь"/>
          <p:cNvSpPr txBox="1"/>
          <p:nvPr/>
        </p:nvSpPr>
        <p:spPr>
          <a:xfrm>
            <a:off x="621792" y="1371600"/>
            <a:ext cx="16824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Пользователь</a:t>
            </a:r>
            <a:endParaRPr lang="en-US" sz="1400" dirty="0"/>
          </a:p>
        </p:txBody>
      </p:sp>
      <p:sp>
        <p:nvSpPr>
          <p:cNvPr id="104" name="Arrow"/>
          <p:cNvSpPr/>
          <p:nvPr/>
        </p:nvSpPr>
        <p:spPr>
          <a:xfrm>
            <a:off x="2377440" y="1691640"/>
            <a:ext cx="822960" cy="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05" name="Node Frontend"/>
          <p:cNvSpPr/>
          <p:nvPr/>
        </p:nvSpPr>
        <p:spPr>
          <a:xfrm>
            <a:off x="3200400" y="1371600"/>
            <a:ext cx="3200400" cy="640080"/>
          </a:xfrm>
          <a:prstGeom prst="roundRect">
            <a:avLst>
              <a:gd name="adj" fmla="val 11429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6" name="Label Frontend"/>
          <p:cNvSpPr txBox="1"/>
          <p:nvPr/>
        </p:nvSpPr>
        <p:spPr>
          <a:xfrm>
            <a:off x="3273552" y="1371600"/>
            <a:ext cx="3054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Frontend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9B4C0"/>
                </a:solidFill>
              </a:rPr>
              <a:t>React + Vite · Nginx</a:t>
            </a:r>
            <a:endParaRPr lang="en-US" sz="1400" dirty="0"/>
          </a:p>
        </p:txBody>
      </p:sp>
      <p:sp>
        <p:nvSpPr>
          <p:cNvPr id="107" name="Backend frame"/>
          <p:cNvSpPr/>
          <p:nvPr/>
        </p:nvSpPr>
        <p:spPr>
          <a:xfrm>
            <a:off x="548640" y="2377440"/>
            <a:ext cx="8503920" cy="2743200"/>
          </a:xfrm>
          <a:prstGeom prst="rect">
            <a:avLst/>
          </a:prstGeom>
          <a:noFill/>
          <a:ln w="19050">
            <a:solidFill>
              <a:srgbClr val="2FA6C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8" name="Text 8"/>
          <p:cNvSpPr txBox="1"/>
          <p:nvPr/>
        </p:nvSpPr>
        <p:spPr>
          <a:xfrm>
            <a:off x="777240" y="24688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2FA6C9"/>
                </a:solidFill>
              </a:rPr>
              <a:t>Backend — FastAPI (uvicorn, :8000)</a:t>
            </a:r>
            <a:endParaRPr lang="en-US" sz="1300" dirty="0"/>
          </a:p>
        </p:txBody>
      </p:sp>
      <p:sp>
        <p:nvSpPr>
          <p:cNvPr id="109" name="Arrow"/>
          <p:cNvSpPr/>
          <p:nvPr/>
        </p:nvSpPr>
        <p:spPr>
          <a:xfrm>
            <a:off x="4800600" y="2011680"/>
            <a:ext cx="0" cy="77724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10" name="Text 10"/>
          <p:cNvSpPr txBox="1"/>
          <p:nvPr/>
        </p:nvSpPr>
        <p:spPr>
          <a:xfrm>
            <a:off x="4910328" y="21488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9B4C0"/>
                </a:solidFill>
              </a:rPr>
              <a:t>REST</a:t>
            </a:r>
            <a:endParaRPr lang="en-US" sz="1100" dirty="0"/>
          </a:p>
        </p:txBody>
      </p:sp>
      <p:sp>
        <p:nvSpPr>
          <p:cNvPr id="111" name="Node API-роутеры"/>
          <p:cNvSpPr/>
          <p:nvPr/>
        </p:nvSpPr>
        <p:spPr>
          <a:xfrm>
            <a:off x="777240" y="2788920"/>
            <a:ext cx="8046720" cy="685800"/>
          </a:xfrm>
          <a:prstGeom prst="roundRect">
            <a:avLst>
              <a:gd name="adj" fmla="val 10667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2" name="Label API-роутеры"/>
          <p:cNvSpPr txBox="1"/>
          <p:nvPr/>
        </p:nvSpPr>
        <p:spPr>
          <a:xfrm>
            <a:off x="850392" y="2788920"/>
            <a:ext cx="79004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API-роутеры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9B4C0"/>
                </a:solidFill>
              </a:rPr>
              <a:t>/files · /ask · /trace · /schema · /cache · /metrics</a:t>
            </a:r>
            <a:endParaRPr lang="en-US" sz="1400" dirty="0"/>
          </a:p>
        </p:txBody>
      </p:sp>
      <p:sp>
        <p:nvSpPr>
          <p:cNvPr id="113" name="Arrow"/>
          <p:cNvSpPr/>
          <p:nvPr/>
        </p:nvSpPr>
        <p:spPr>
          <a:xfrm>
            <a:off x="2697480" y="3474720"/>
            <a:ext cx="0" cy="36576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14" name="Arrow"/>
          <p:cNvSpPr/>
          <p:nvPr/>
        </p:nvSpPr>
        <p:spPr>
          <a:xfrm>
            <a:off x="6926580" y="3474720"/>
            <a:ext cx="0" cy="36576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15" name="Text 15"/>
          <p:cNvSpPr txBox="1"/>
          <p:nvPr/>
        </p:nvSpPr>
        <p:spPr>
          <a:xfrm>
            <a:off x="2807208" y="3566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9B4C0"/>
                </a:solidFill>
              </a:rPr>
              <a:t>POST /files/upload</a:t>
            </a:r>
            <a:endParaRPr lang="en-US" sz="1100" dirty="0"/>
          </a:p>
        </p:txBody>
      </p:sp>
      <p:sp>
        <p:nvSpPr>
          <p:cNvPr id="116" name="Text 16"/>
          <p:cNvSpPr txBox="1"/>
          <p:nvPr/>
        </p:nvSpPr>
        <p:spPr>
          <a:xfrm>
            <a:off x="7031736" y="35661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9B4C0"/>
                </a:solidFill>
              </a:rPr>
              <a:t>POST /ask</a:t>
            </a:r>
            <a:endParaRPr lang="en-US" sz="1100" dirty="0"/>
          </a:p>
        </p:txBody>
      </p:sp>
      <p:sp>
        <p:nvSpPr>
          <p:cNvPr id="117" name="Node Excel Ingestion"/>
          <p:cNvSpPr/>
          <p:nvPr/>
        </p:nvSpPr>
        <p:spPr>
          <a:xfrm>
            <a:off x="777240" y="3840480"/>
            <a:ext cx="3840480" cy="1097280"/>
          </a:xfrm>
          <a:prstGeom prst="roundRect">
            <a:avLst>
              <a:gd name="adj" fmla="val 6667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8" name="Label Excel Ingestion"/>
          <p:cNvSpPr txBox="1"/>
          <p:nvPr/>
        </p:nvSpPr>
        <p:spPr>
          <a:xfrm>
            <a:off x="850392" y="3840480"/>
            <a:ext cx="369417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Excel Ingestion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9B4C0"/>
                </a:solidFill>
              </a:rPr>
              <a:t>Queue (async) → парсер → repository → mart-normalizer</a:t>
            </a:r>
            <a:endParaRPr lang="en-US" sz="1400" dirty="0"/>
          </a:p>
        </p:txBody>
      </p:sp>
      <p:sp>
        <p:nvSpPr>
          <p:cNvPr id="119" name="Node LangGraph-агент"/>
          <p:cNvSpPr/>
          <p:nvPr/>
        </p:nvSpPr>
        <p:spPr>
          <a:xfrm>
            <a:off x="5029200" y="3840480"/>
            <a:ext cx="3794760" cy="1097280"/>
          </a:xfrm>
          <a:prstGeom prst="roundRect">
            <a:avLst>
              <a:gd name="adj" fmla="val 6667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0" name="Label LangGraph-агент"/>
          <p:cNvSpPr txBox="1"/>
          <p:nvPr/>
        </p:nvSpPr>
        <p:spPr>
          <a:xfrm>
            <a:off x="5102352" y="3840480"/>
            <a:ext cx="364845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LangGraph-агент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9B4C0"/>
                </a:solidFill>
              </a:rPr>
              <a:t>classifier → … → answer · Entity Resolution · Query Cache</a:t>
            </a:r>
            <a:endParaRPr lang="en-US" sz="1400" dirty="0"/>
          </a:p>
        </p:txBody>
      </p:sp>
      <p:sp>
        <p:nvSpPr>
          <p:cNvPr id="121" name="Node Мониторинг"/>
          <p:cNvSpPr/>
          <p:nvPr/>
        </p:nvSpPr>
        <p:spPr>
          <a:xfrm>
            <a:off x="9601200" y="2788920"/>
            <a:ext cx="2039112" cy="685800"/>
          </a:xfrm>
          <a:prstGeom prst="roundRect">
            <a:avLst>
              <a:gd name="adj" fmla="val 10667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2" name="Label Мониторинг"/>
          <p:cNvSpPr txBox="1"/>
          <p:nvPr/>
        </p:nvSpPr>
        <p:spPr>
          <a:xfrm>
            <a:off x="9674352" y="2788920"/>
            <a:ext cx="18928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Мониторинг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9B4C0"/>
                </a:solidFill>
              </a:rPr>
              <a:t>Prometheus · Grafana</a:t>
            </a:r>
            <a:endParaRPr lang="en-US" sz="1400" dirty="0"/>
          </a:p>
        </p:txBody>
      </p:sp>
      <p:sp>
        <p:nvSpPr>
          <p:cNvPr id="123" name="Arrow"/>
          <p:cNvSpPr/>
          <p:nvPr/>
        </p:nvSpPr>
        <p:spPr>
          <a:xfrm>
            <a:off x="8823960" y="3131820"/>
            <a:ext cx="777240" cy="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24" name="Node LLM-провайдер"/>
          <p:cNvSpPr/>
          <p:nvPr/>
        </p:nvSpPr>
        <p:spPr>
          <a:xfrm>
            <a:off x="9601200" y="3840480"/>
            <a:ext cx="2039112" cy="1097280"/>
          </a:xfrm>
          <a:prstGeom prst="roundRect">
            <a:avLst>
              <a:gd name="adj" fmla="val 6667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5" name="Label LLM-провайдер"/>
          <p:cNvSpPr txBox="1"/>
          <p:nvPr/>
        </p:nvSpPr>
        <p:spPr>
          <a:xfrm>
            <a:off x="9674352" y="3840480"/>
            <a:ext cx="18928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LLM-провайдер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9B4C0"/>
                </a:solidFill>
              </a:rPr>
              <a:t>OpenAI-совместимый API · DeepSeek</a:t>
            </a:r>
            <a:endParaRPr lang="en-US" sz="1400" dirty="0"/>
          </a:p>
        </p:txBody>
      </p:sp>
      <p:sp>
        <p:nvSpPr>
          <p:cNvPr id="126" name="Arrow"/>
          <p:cNvSpPr/>
          <p:nvPr/>
        </p:nvSpPr>
        <p:spPr>
          <a:xfrm>
            <a:off x="8823960" y="4389120"/>
            <a:ext cx="777240" cy="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27" name="Arrow"/>
          <p:cNvSpPr/>
          <p:nvPr/>
        </p:nvSpPr>
        <p:spPr>
          <a:xfrm>
            <a:off x="2697480" y="4937760"/>
            <a:ext cx="0" cy="59436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28" name="Arrow"/>
          <p:cNvSpPr/>
          <p:nvPr/>
        </p:nvSpPr>
        <p:spPr>
          <a:xfrm>
            <a:off x="6926580" y="4937760"/>
            <a:ext cx="0" cy="59436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29" name="Text 29"/>
          <p:cNvSpPr txBox="1"/>
          <p:nvPr/>
        </p:nvSpPr>
        <p:spPr>
          <a:xfrm>
            <a:off x="2807208" y="52120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9B4C0"/>
                </a:solidFill>
              </a:rPr>
              <a:t>RAW + нормализация</a:t>
            </a:r>
            <a:endParaRPr lang="en-US" sz="1100" dirty="0"/>
          </a:p>
        </p:txBody>
      </p:sp>
      <p:sp>
        <p:nvSpPr>
          <p:cNvPr id="130" name="Text 30"/>
          <p:cNvSpPr txBox="1"/>
          <p:nvPr/>
        </p:nvSpPr>
        <p:spPr>
          <a:xfrm>
            <a:off x="7031736" y="52120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9B4C0"/>
                </a:solidFill>
              </a:rPr>
              <a:t>безопасный SELECT</a:t>
            </a:r>
            <a:endParaRPr lang="en-US" sz="1100" dirty="0"/>
          </a:p>
        </p:txBody>
      </p:sp>
      <p:sp>
        <p:nvSpPr>
          <p:cNvPr id="131" name="Node PostgreSQL 16"/>
          <p:cNvSpPr/>
          <p:nvPr/>
        </p:nvSpPr>
        <p:spPr>
          <a:xfrm>
            <a:off x="548640" y="5532120"/>
            <a:ext cx="8503920" cy="594360"/>
          </a:xfrm>
          <a:prstGeom prst="roundRect">
            <a:avLst>
              <a:gd name="adj" fmla="val 12308"/>
            </a:avLst>
          </a:prstGeom>
          <a:solidFill>
            <a:srgbClr val="262C33"/>
          </a:solidFill>
          <a:ln w="12700">
            <a:solidFill>
              <a:srgbClr val="2FA6C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2" name="Label PostgreSQL 16"/>
          <p:cNvSpPr txBox="1"/>
          <p:nvPr/>
        </p:nvSpPr>
        <p:spPr>
          <a:xfrm>
            <a:off x="621792" y="5532120"/>
            <a:ext cx="83576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PostgreSQL 16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9B4C0"/>
                </a:solidFill>
              </a:rPr>
              <a:t>public: files, sheets, cells, query_logs … · mart: price_facts, metrics</a:t>
            </a:r>
            <a:endParaRPr lang="en-US" sz="1400" dirty="0"/>
          </a:p>
        </p:txBody>
      </p:sp>
      <p:sp>
        <p:nvSpPr>
          <p:cNvPr id="1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A9B4C0"/>
                </a:solidFill>
              </a:defRPr>
            </a:lvl1pPr>
          </a:lstStyle>
          <a:p>
            <a:r>
              <a:t>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FF5A36"/>
                </a:solidFill>
              </a:rPr>
              <a:t>РЕШЕНИЕ И АРХИТЕКТУРА</a:t>
            </a:r>
            <a:endParaRPr lang="en-US" sz="1200" dirty="0"/>
          </a:p>
        </p:txBody>
      </p:sp>
      <p:sp>
        <p:nvSpPr>
          <p:cNvPr id="101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</a:rPr>
              <a:t>Технологический стек</a:t>
            </a:r>
            <a:endParaRPr lang="en-US" sz="3200" dirty="0"/>
          </a:p>
        </p:txBody>
      </p:sp>
      <p:sp>
        <p:nvSpPr>
          <p:cNvPr id="102" name="Card"/>
          <p:cNvSpPr/>
          <p:nvPr/>
        </p:nvSpPr>
        <p:spPr>
          <a:xfrm>
            <a:off x="548640" y="1554480"/>
            <a:ext cx="3566160" cy="4480560"/>
          </a:xfrm>
          <a:prstGeom prst="roundRect">
            <a:avLst>
              <a:gd name="adj" fmla="val 2051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3" name="Text 3"/>
          <p:cNvSpPr txBox="1"/>
          <p:nvPr/>
        </p:nvSpPr>
        <p:spPr>
          <a:xfrm>
            <a:off x="822960" y="17373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F5A36"/>
                </a:solidFill>
              </a:rPr>
              <a:t>Backend (Python ≥ 3.12)</a:t>
            </a:r>
            <a:endParaRPr lang="en-US" sz="1800" dirty="0"/>
          </a:p>
        </p:txBody>
      </p:sp>
      <p:sp>
        <p:nvSpPr>
          <p:cNvPr id="104" name="Text 4"/>
          <p:cNvSpPr txBox="1"/>
          <p:nvPr/>
        </p:nvSpPr>
        <p:spPr>
          <a:xfrm>
            <a:off x="822960" y="2286000"/>
            <a:ext cx="3063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</a:rPr>
              <a:t>FastAPI + uvicorn — REST API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</a:rPr>
              <a:t>LangGraph + checkpoint-postgres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</a:rPr>
              <a:t>langchain-openai — structured output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</a:rPr>
              <a:t>SQLAlchemy 2.0 (async) + Alembic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</a:rPr>
              <a:t>openpyxl, pandas — Excel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</a:rPr>
              <a:t>rapidfuzz — fuzzy match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</a:rPr>
              <a:t>loguru, prometheus-client, slowapi</a:t>
            </a:r>
            <a:endParaRPr lang="en-US" sz="1500" dirty="0"/>
          </a:p>
        </p:txBody>
      </p:sp>
      <p:sp>
        <p:nvSpPr>
          <p:cNvPr id="105" name="Card"/>
          <p:cNvSpPr/>
          <p:nvPr/>
        </p:nvSpPr>
        <p:spPr>
          <a:xfrm>
            <a:off x="4297680" y="1554480"/>
            <a:ext cx="3566160" cy="4480560"/>
          </a:xfrm>
          <a:prstGeom prst="roundRect">
            <a:avLst>
              <a:gd name="adj" fmla="val 2051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6" name="Text 6"/>
          <p:cNvSpPr txBox="1"/>
          <p:nvPr/>
        </p:nvSpPr>
        <p:spPr>
          <a:xfrm>
            <a:off x="4572000" y="17373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F5A36"/>
                </a:solidFill>
              </a:rPr>
              <a:t>Frontend (React)</a:t>
            </a:r>
            <a:endParaRPr lang="en-US" sz="1800" dirty="0"/>
          </a:p>
        </p:txBody>
      </p:sp>
      <p:sp>
        <p:nvSpPr>
          <p:cNvPr id="107" name="Text 7"/>
          <p:cNvSpPr txBox="1"/>
          <p:nvPr/>
        </p:nvSpPr>
        <p:spPr>
          <a:xfrm>
            <a:off x="4572000" y="2286000"/>
            <a:ext cx="3063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</a:rPr>
              <a:t>React 18 + TypeScript + Vite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</a:rPr>
              <a:t>react-router-dom — роутинг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</a:rPr>
              <a:t>chart.js — графики результатов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</a:rPr>
              <a:t>framer-motion — анимации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</a:rPr>
              <a:t>lucide-react — иконки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</a:rPr>
              <a:t>react-markdown — рендер ответов</a:t>
            </a:r>
            <a:endParaRPr lang="en-US" sz="1500" dirty="0"/>
          </a:p>
        </p:txBody>
      </p:sp>
      <p:sp>
        <p:nvSpPr>
          <p:cNvPr id="108" name="Card"/>
          <p:cNvSpPr/>
          <p:nvPr/>
        </p:nvSpPr>
        <p:spPr>
          <a:xfrm>
            <a:off x="8046720" y="1554480"/>
            <a:ext cx="3566160" cy="4480560"/>
          </a:xfrm>
          <a:prstGeom prst="roundRect">
            <a:avLst>
              <a:gd name="adj" fmla="val 2051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9" name="Text 9"/>
          <p:cNvSpPr txBox="1"/>
          <p:nvPr/>
        </p:nvSpPr>
        <p:spPr>
          <a:xfrm>
            <a:off x="8321040" y="17373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F5A36"/>
                </a:solidFill>
              </a:rPr>
              <a:t>Инфраструктура (Docker)</a:t>
            </a:r>
            <a:endParaRPr lang="en-US" sz="1800" dirty="0"/>
          </a:p>
        </p:txBody>
      </p:sp>
      <p:sp>
        <p:nvSpPr>
          <p:cNvPr id="110" name="Text 10"/>
          <p:cNvSpPr txBox="1"/>
          <p:nvPr/>
        </p:nvSpPr>
        <p:spPr>
          <a:xfrm>
            <a:off x="8321040" y="2286000"/>
            <a:ext cx="3063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</a:rPr>
              <a:t>postgres:16-alpine — БД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</a:rPr>
              <a:t>service — FastAPI (:8000)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</a:rPr>
              <a:t>frontend — Nginx (:8080)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</a:rPr>
              <a:t>prometheus — метрики (:9090)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</a:rPr>
              <a:t>grafana — дашборды (:3001)</a:t>
            </a:r>
            <a:endParaRPr lang="en-US" sz="1500" dirty="0"/>
          </a:p>
        </p:txBody>
      </p:sp>
      <p:sp>
        <p:nvSpPr>
          <p:cNvPr id="11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4C0"/>
                </a:solidFill>
              </a:defRPr>
            </a:lvl1pPr>
          </a:lstStyle>
          <a:p>
            <a: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457200" cy="64008"/>
          </a:xfrm>
          <a:prstGeom prst="rect">
            <a:avLst/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C7293"/>
                </a:solidFill>
                <a:latin typeface="Calibri"/>
              </a:rPr>
              <a:t>КАК ЭТО РАБОТАЕТ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Парсинг и нормализация: таблицы приводятся в порядок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EVRAZ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72768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A9B4C0"/>
                </a:solidFill>
              </a:rPr>
              <a:t>Каждый файл проходит путь от загрузки до готовой витрины mart — с распознаванием формата и едиными справочниками.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01952"/>
            <a:ext cx="1993392" cy="1371600"/>
          </a:xfrm>
          <a:prstGeom prst="roundRect">
            <a:avLst>
              <a:gd name="adj" fmla="val 55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1901952"/>
            <a:ext cx="1993392" cy="64008"/>
          </a:xfrm>
          <a:prstGeom prst="rect">
            <a:avLst/>
          </a:prstGeom>
          <a:solidFill>
            <a:srgbClr val="2F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" y="2066544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</a:rPr>
              <a:t>Excel-файл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432304"/>
            <a:ext cx="1773936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A9B4C0"/>
                </a:solidFill>
              </a:rPr>
              <a:t>.xlsx / .xls · до 50 МБ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60320" y="2587752"/>
            <a:ext cx="219456" cy="0"/>
          </a:xfrm>
          <a:prstGeom prst="line">
            <a:avLst/>
          </a:prstGeom>
          <a:ln w="28575">
            <a:solidFill>
              <a:srgbClr val="FF5A3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816352" y="1901952"/>
            <a:ext cx="1993392" cy="1371600"/>
          </a:xfrm>
          <a:prstGeom prst="roundRect">
            <a:avLst>
              <a:gd name="adj" fmla="val 55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816352" y="1901952"/>
            <a:ext cx="1993392" cy="64008"/>
          </a:xfrm>
          <a:prstGeom prst="rect">
            <a:avLst/>
          </a:prstGeom>
          <a:solidFill>
            <a:srgbClr val="E5B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926080" y="2066544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</a:rPr>
              <a:t>Загрузка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2432304"/>
            <a:ext cx="1773936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A9B4C0"/>
                </a:solidFill>
              </a:rPr>
              <a:t>POST /files/upload → async-очередь · статус pending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828031" y="2587752"/>
            <a:ext cx="219457" cy="0"/>
          </a:xfrm>
          <a:prstGeom prst="line">
            <a:avLst/>
          </a:prstGeom>
          <a:ln w="28575">
            <a:solidFill>
              <a:srgbClr val="FF5A3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084064" y="1901952"/>
            <a:ext cx="1993392" cy="1371600"/>
          </a:xfrm>
          <a:prstGeom prst="roundRect">
            <a:avLst>
              <a:gd name="adj" fmla="val 55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084064" y="1901952"/>
            <a:ext cx="1993392" cy="64008"/>
          </a:xfrm>
          <a:prstGeom prst="rect">
            <a:avLst/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193792" y="2066544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</a:rPr>
              <a:t>Парсинг Excel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93792" y="2432304"/>
            <a:ext cx="1773936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A9B4C0"/>
                </a:solidFill>
              </a:rPr>
              <a:t>unmerge ячеек · шапка · тип листа · период · комментарии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095744" y="2587752"/>
            <a:ext cx="219455" cy="0"/>
          </a:xfrm>
          <a:prstGeom prst="line">
            <a:avLst/>
          </a:prstGeom>
          <a:ln w="28575">
            <a:solidFill>
              <a:srgbClr val="FF5A3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7351775" y="1901952"/>
            <a:ext cx="1993392" cy="1371600"/>
          </a:xfrm>
          <a:prstGeom prst="roundRect">
            <a:avLst>
              <a:gd name="adj" fmla="val 55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351775" y="1901952"/>
            <a:ext cx="1993392" cy="64008"/>
          </a:xfrm>
          <a:prstGeom prst="rect">
            <a:avLst/>
          </a:prstGeom>
          <a:solidFill>
            <a:srgbClr val="3FB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461503" y="2066544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</a:rPr>
              <a:t>RAW → mart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61503" y="2432304"/>
            <a:ext cx="1773936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A9B4C0"/>
                </a:solidFill>
              </a:rPr>
              <a:t>sheets · cells · comments → price_facts · metrics · aliases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363455" y="2587752"/>
            <a:ext cx="219457" cy="0"/>
          </a:xfrm>
          <a:prstGeom prst="line">
            <a:avLst/>
          </a:prstGeom>
          <a:ln w="28575">
            <a:solidFill>
              <a:srgbClr val="FF5A3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9619488" y="1901952"/>
            <a:ext cx="1993392" cy="1371600"/>
          </a:xfrm>
          <a:prstGeom prst="roundRect">
            <a:avLst>
              <a:gd name="adj" fmla="val 55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9619488" y="1901952"/>
            <a:ext cx="1993392" cy="64008"/>
          </a:xfrm>
          <a:prstGeom prst="rect">
            <a:avLst/>
          </a:prstGeom>
          <a:solidFill>
            <a:srgbClr val="3A4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729215" y="2066544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</a:rPr>
              <a:t>Entity Resolution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29215" y="2432304"/>
            <a:ext cx="1773936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A9B4C0"/>
                </a:solidFill>
              </a:rPr>
              <a:t>каталоги item / supplier / period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3493008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A9B4C0"/>
                </a:solidFill>
              </a:rPr>
              <a:t>Распознавание схемы листа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3785615"/>
            <a:ext cx="2651760" cy="1188720"/>
          </a:xfrm>
          <a:prstGeom prst="roundRect">
            <a:avLst>
              <a:gd name="adj" fmla="val 55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548640" y="3785615"/>
            <a:ext cx="2651760" cy="64008"/>
          </a:xfrm>
          <a:prstGeom prst="rect">
            <a:avLst/>
          </a:prstGeom>
          <a:solidFill>
            <a:srgbClr val="2F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58368" y="3931920"/>
            <a:ext cx="243230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Fingerprint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4279392"/>
            <a:ext cx="243230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A9B4C0"/>
                </a:solidFill>
              </a:rPr>
              <a:t>сигнатура структуры листа: колонки · типы · шаблон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3218688" y="4224528"/>
            <a:ext cx="365760" cy="0"/>
          </a:xfrm>
          <a:prstGeom prst="line">
            <a:avLst/>
          </a:prstGeom>
          <a:ln w="28575">
            <a:solidFill>
              <a:srgbClr val="FF5A3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3611880" y="3785615"/>
            <a:ext cx="3886200" cy="1188720"/>
          </a:xfrm>
          <a:prstGeom prst="roundRect">
            <a:avLst>
              <a:gd name="adj" fmla="val 5500"/>
            </a:avLst>
          </a:prstGeom>
          <a:solidFill>
            <a:srgbClr val="262C33"/>
          </a:solidFill>
          <a:ln w="12700">
            <a:solidFill>
              <a:srgbClr val="3FBF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3721608" y="393192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Шаблон известен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721608" y="4279392"/>
            <a:ext cx="3657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A9B4C0"/>
                </a:solidFill>
              </a:rPr>
              <a:t>схема из mart.sheet_templates — разбор без LLM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49440" y="4041648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>
                <a:solidFill>
                  <a:srgbClr val="3FBF8A"/>
                </a:solidFill>
              </a:rPr>
              <a:t>✓ без LLM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52944" y="4279392"/>
            <a:ext cx="2560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A9B4C0"/>
                </a:solidFill>
              </a:rPr>
              <a:t>или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863840" y="3785615"/>
            <a:ext cx="3657600" cy="1188720"/>
          </a:xfrm>
          <a:prstGeom prst="roundRect">
            <a:avLst>
              <a:gd name="adj" fmla="val 5500"/>
            </a:avLst>
          </a:prstGeom>
          <a:solidFill>
            <a:srgbClr val="262C33"/>
          </a:solidFill>
          <a:ln w="12700">
            <a:solidFill>
              <a:srgbClr val="FF5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973568" y="3931920"/>
            <a:ext cx="343814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Новый формат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73568" y="4279392"/>
            <a:ext cx="34381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A9B4C0"/>
                </a:solidFill>
              </a:rPr>
              <a:t>LLM-инференс · Pydantic SheetSchema → подтверждение специалистом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27080" y="4041648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>
                <a:solidFill>
                  <a:srgbClr val="FF5A36"/>
                </a:solidFill>
              </a:rPr>
              <a:t>✦ LLM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5230368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A9B4C0"/>
                </a:solidFill>
              </a:rPr>
              <a:t>Статус файла: 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965960" y="5212080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22272D"/>
          </a:solidFill>
          <a:ln w="12700">
            <a:solidFill>
              <a:srgbClr val="A9B4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1965960" y="5248656"/>
            <a:ext cx="100584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>
                <a:solidFill>
                  <a:srgbClr val="A9B4C0"/>
                </a:solidFill>
              </a:rPr>
              <a:t>pending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017520" y="524865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>
                <a:solidFill>
                  <a:srgbClr val="A9B4C0"/>
                </a:solidFill>
              </a:rPr>
              <a:t>→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310128" y="521208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22272D"/>
          </a:solidFill>
          <a:ln w="12700">
            <a:solidFill>
              <a:srgbClr val="3FBF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3310128" y="5248656"/>
            <a:ext cx="13716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>
                <a:solidFill>
                  <a:srgbClr val="3FBF8A"/>
                </a:solidFill>
              </a:rPr>
              <a:t>processed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54880" y="5248656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>
                <a:solidFill>
                  <a:srgbClr val="A9B4C0"/>
                </a:solidFill>
              </a:rPr>
              <a:t>или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138928" y="5212080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22272D"/>
          </a:solidFill>
          <a:ln w="12700">
            <a:solidFill>
              <a:srgbClr val="E548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138928" y="5248656"/>
            <a:ext cx="100584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>
                <a:solidFill>
                  <a:srgbClr val="E5484D"/>
                </a:solidFill>
              </a:rPr>
              <a:t>failed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A9B4C0"/>
                </a:solidFill>
              </a:rPr>
              <a:t>Исходные Excel не изменяются · поставщики и материалы приводятся к единым названиям · знакомые форматы разбираются автоматически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FF5A36"/>
                </a:solidFill>
              </a:rPr>
              <a:t>ОБРАБОТКА ДАННЫХ</a:t>
            </a:r>
            <a:endParaRPr lang="en-US" sz="1200" dirty="0"/>
          </a:p>
        </p:txBody>
      </p:sp>
      <p:sp>
        <p:nvSpPr>
          <p:cNvPr id="101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</a:rPr>
              <a:t>Схема базы данных</a:t>
            </a:r>
            <a:endParaRPr lang="en-US" sz="3200" dirty="0"/>
          </a:p>
        </p:txBody>
      </p:sp>
      <p:sp>
        <p:nvSpPr>
          <p:cNvPr id="102" name="Zone схема public"/>
          <p:cNvSpPr/>
          <p:nvPr/>
        </p:nvSpPr>
        <p:spPr>
          <a:xfrm>
            <a:off x="548640" y="1371600"/>
            <a:ext cx="6675120" cy="4709160"/>
          </a:xfrm>
          <a:prstGeom prst="rect">
            <a:avLst/>
          </a:prstGeom>
          <a:noFill/>
          <a:ln w="19050">
            <a:solidFill>
              <a:srgbClr val="2FA6C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3" name="Text 3"/>
          <p:cNvSpPr txBox="1"/>
          <p:nvPr/>
        </p:nvSpPr>
        <p:spPr>
          <a:xfrm>
            <a:off x="731520" y="1444752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2FA6C9"/>
                </a:solidFill>
              </a:rPr>
              <a:t>схема public</a:t>
            </a:r>
            <a:endParaRPr lang="en-US" sz="1300" dirty="0"/>
          </a:p>
        </p:txBody>
      </p:sp>
      <p:sp>
        <p:nvSpPr>
          <p:cNvPr id="104" name="Zone схема mart"/>
          <p:cNvSpPr/>
          <p:nvPr/>
        </p:nvSpPr>
        <p:spPr>
          <a:xfrm>
            <a:off x="7589520" y="1371600"/>
            <a:ext cx="4050792" cy="4709160"/>
          </a:xfrm>
          <a:prstGeom prst="rect">
            <a:avLst/>
          </a:prstGeom>
          <a:noFill/>
          <a:ln w="19050">
            <a:solidFill>
              <a:srgbClr val="3FBF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5" name="Text 5"/>
          <p:cNvSpPr txBox="1"/>
          <p:nvPr/>
        </p:nvSpPr>
        <p:spPr>
          <a:xfrm>
            <a:off x="7772400" y="1444752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3FBF8A"/>
                </a:solidFill>
              </a:rPr>
              <a:t>схема mart</a:t>
            </a:r>
            <a:endParaRPr lang="en-US" sz="1300" dirty="0"/>
          </a:p>
        </p:txBody>
      </p:sp>
      <p:sp>
        <p:nvSpPr>
          <p:cNvPr id="106" name="Node files"/>
          <p:cNvSpPr/>
          <p:nvPr/>
        </p:nvSpPr>
        <p:spPr>
          <a:xfrm>
            <a:off x="4754880" y="1874520"/>
            <a:ext cx="2194560" cy="1005840"/>
          </a:xfrm>
          <a:prstGeom prst="roundRect">
            <a:avLst>
              <a:gd name="adj" fmla="val 7273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7" name="Label files"/>
          <p:cNvSpPr txBox="1"/>
          <p:nvPr/>
        </p:nvSpPr>
        <p:spPr>
          <a:xfrm>
            <a:off x="4828032" y="1874520"/>
            <a:ext cx="20482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files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9B4C0"/>
                </a:solidFill>
              </a:rPr>
              <a:t>id · filename · file_hash UK · status</a:t>
            </a:r>
            <a:endParaRPr lang="en-US" sz="1400" dirty="0"/>
          </a:p>
        </p:txBody>
      </p:sp>
      <p:sp>
        <p:nvSpPr>
          <p:cNvPr id="108" name="Node sheets"/>
          <p:cNvSpPr/>
          <p:nvPr/>
        </p:nvSpPr>
        <p:spPr>
          <a:xfrm>
            <a:off x="914400" y="1874520"/>
            <a:ext cx="2560320" cy="1005840"/>
          </a:xfrm>
          <a:prstGeom prst="roundRect">
            <a:avLst>
              <a:gd name="adj" fmla="val 7273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9" name="Label sheets"/>
          <p:cNvSpPr txBox="1"/>
          <p:nvPr/>
        </p:nvSpPr>
        <p:spPr>
          <a:xfrm>
            <a:off x="987552" y="1874520"/>
            <a:ext cx="24140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sheets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9B4C0"/>
                </a:solidFill>
              </a:rPr>
              <a:t>file_id FK · period · sheet_kind</a:t>
            </a:r>
            <a:endParaRPr lang="en-US" sz="1400" dirty="0"/>
          </a:p>
        </p:txBody>
      </p:sp>
      <p:sp>
        <p:nvSpPr>
          <p:cNvPr id="110" name="Arrow"/>
          <p:cNvSpPr/>
          <p:nvPr/>
        </p:nvSpPr>
        <p:spPr>
          <a:xfrm flipH="1">
            <a:off x="3474720" y="2377440"/>
            <a:ext cx="1280160" cy="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11" name="Text 11"/>
          <p:cNvSpPr txBox="1"/>
          <p:nvPr/>
        </p:nvSpPr>
        <p:spPr>
          <a:xfrm>
            <a:off x="3749040" y="208483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9B4C0"/>
                </a:solidFill>
              </a:rPr>
              <a:t>1 : N</a:t>
            </a:r>
            <a:endParaRPr lang="en-US" sz="1100" dirty="0"/>
          </a:p>
        </p:txBody>
      </p:sp>
      <p:sp>
        <p:nvSpPr>
          <p:cNvPr id="112" name="Arrow"/>
          <p:cNvSpPr/>
          <p:nvPr/>
        </p:nvSpPr>
        <p:spPr>
          <a:xfrm>
            <a:off x="2194560" y="2880360"/>
            <a:ext cx="0" cy="45720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13" name="Arrow"/>
          <p:cNvSpPr/>
          <p:nvPr/>
        </p:nvSpPr>
        <p:spPr>
          <a:xfrm>
            <a:off x="1737360" y="3337560"/>
            <a:ext cx="4023360" cy="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14" name="Arrow"/>
          <p:cNvSpPr/>
          <p:nvPr/>
        </p:nvSpPr>
        <p:spPr>
          <a:xfrm>
            <a:off x="1737360" y="3337560"/>
            <a:ext cx="0" cy="50292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15" name="Arrow"/>
          <p:cNvSpPr/>
          <p:nvPr/>
        </p:nvSpPr>
        <p:spPr>
          <a:xfrm>
            <a:off x="3749040" y="3337560"/>
            <a:ext cx="0" cy="50292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16" name="Arrow"/>
          <p:cNvSpPr/>
          <p:nvPr/>
        </p:nvSpPr>
        <p:spPr>
          <a:xfrm>
            <a:off x="5760720" y="3337560"/>
            <a:ext cx="0" cy="50292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17" name="Node column_metadata"/>
          <p:cNvSpPr/>
          <p:nvPr/>
        </p:nvSpPr>
        <p:spPr>
          <a:xfrm>
            <a:off x="822960" y="3840480"/>
            <a:ext cx="1828800" cy="1005840"/>
          </a:xfrm>
          <a:prstGeom prst="roundRect">
            <a:avLst>
              <a:gd name="adj" fmla="val 7273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8" name="Label column_metadata"/>
          <p:cNvSpPr txBox="1"/>
          <p:nvPr/>
        </p:nvSpPr>
        <p:spPr>
          <a:xfrm>
            <a:off x="896112" y="3840480"/>
            <a:ext cx="1682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column_metadata</a:t>
            </a:r>
            <a:endParaRPr lang="en-US" sz="13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9B4C0"/>
                </a:solidFill>
              </a:rPr>
              <a:t>data_type · role</a:t>
            </a:r>
            <a:endParaRPr lang="en-US" sz="1300" dirty="0"/>
          </a:p>
        </p:txBody>
      </p:sp>
      <p:sp>
        <p:nvSpPr>
          <p:cNvPr id="119" name="Node cells"/>
          <p:cNvSpPr/>
          <p:nvPr/>
        </p:nvSpPr>
        <p:spPr>
          <a:xfrm>
            <a:off x="2834640" y="3840480"/>
            <a:ext cx="1828800" cy="1005840"/>
          </a:xfrm>
          <a:prstGeom prst="roundRect">
            <a:avLst>
              <a:gd name="adj" fmla="val 7273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0" name="Label cells"/>
          <p:cNvSpPr txBox="1"/>
          <p:nvPr/>
        </p:nvSpPr>
        <p:spPr>
          <a:xfrm>
            <a:off x="2907792" y="3840480"/>
            <a:ext cx="1682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cells</a:t>
            </a:r>
            <a:endParaRPr lang="en-US" sz="13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9B4C0"/>
                </a:solidFill>
              </a:rPr>
              <a:t>row_num · value_text · value_number</a:t>
            </a:r>
            <a:endParaRPr lang="en-US" sz="1300" dirty="0"/>
          </a:p>
        </p:txBody>
      </p:sp>
      <p:sp>
        <p:nvSpPr>
          <p:cNvPr id="121" name="Node excel_comments"/>
          <p:cNvSpPr/>
          <p:nvPr/>
        </p:nvSpPr>
        <p:spPr>
          <a:xfrm>
            <a:off x="4846320" y="3840480"/>
            <a:ext cx="1828800" cy="1005840"/>
          </a:xfrm>
          <a:prstGeom prst="roundRect">
            <a:avLst>
              <a:gd name="adj" fmla="val 7273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2" name="Label excel_comments"/>
          <p:cNvSpPr txBox="1"/>
          <p:nvPr/>
        </p:nvSpPr>
        <p:spPr>
          <a:xfrm>
            <a:off x="4919472" y="3840480"/>
            <a:ext cx="1682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excel_comments</a:t>
            </a:r>
            <a:endParaRPr lang="en-US" sz="13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9B4C0"/>
                </a:solidFill>
              </a:rPr>
              <a:t>cell_ref · author · text</a:t>
            </a:r>
            <a:endParaRPr lang="en-US" sz="1300" dirty="0"/>
          </a:p>
        </p:txBody>
      </p:sp>
      <p:sp>
        <p:nvSpPr>
          <p:cNvPr id="123" name="Node Служебные таблицы"/>
          <p:cNvSpPr/>
          <p:nvPr/>
        </p:nvSpPr>
        <p:spPr>
          <a:xfrm>
            <a:off x="822960" y="5166360"/>
            <a:ext cx="5852160" cy="685800"/>
          </a:xfrm>
          <a:prstGeom prst="roundRect">
            <a:avLst>
              <a:gd name="adj" fmla="val 10667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4" name="Label Служебные таблицы"/>
          <p:cNvSpPr txBox="1"/>
          <p:nvPr/>
        </p:nvSpPr>
        <p:spPr>
          <a:xfrm>
            <a:off x="896112" y="5166360"/>
            <a:ext cx="57058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Служебные таблицы</a:t>
            </a:r>
            <a:endParaRPr lang="en-US" sz="13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9B4C0"/>
                </a:solidFill>
              </a:rPr>
              <a:t>entity_dictionary · query_cache · query_logs</a:t>
            </a:r>
            <a:endParaRPr lang="en-US" sz="1300" dirty="0"/>
          </a:p>
        </p:txBody>
      </p:sp>
      <p:sp>
        <p:nvSpPr>
          <p:cNvPr id="125" name="Arrow"/>
          <p:cNvSpPr/>
          <p:nvPr/>
        </p:nvSpPr>
        <p:spPr>
          <a:xfrm>
            <a:off x="6949440" y="2377440"/>
            <a:ext cx="457200" cy="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6" name="Arrow"/>
          <p:cNvSpPr/>
          <p:nvPr/>
        </p:nvSpPr>
        <p:spPr>
          <a:xfrm>
            <a:off x="7406640" y="2377440"/>
            <a:ext cx="0" cy="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27" name="Arrow"/>
          <p:cNvSpPr/>
          <p:nvPr/>
        </p:nvSpPr>
        <p:spPr>
          <a:xfrm>
            <a:off x="6949440" y="2377440"/>
            <a:ext cx="1005840" cy="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28" name="Arrow"/>
          <p:cNvSpPr/>
          <p:nvPr/>
        </p:nvSpPr>
        <p:spPr>
          <a:xfrm>
            <a:off x="7406640" y="2377440"/>
            <a:ext cx="0" cy="160020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9" name="Arrow"/>
          <p:cNvSpPr/>
          <p:nvPr/>
        </p:nvSpPr>
        <p:spPr>
          <a:xfrm>
            <a:off x="7406640" y="3977640"/>
            <a:ext cx="548640" cy="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30" name="Node price_facts"/>
          <p:cNvSpPr/>
          <p:nvPr/>
        </p:nvSpPr>
        <p:spPr>
          <a:xfrm>
            <a:off x="7955280" y="1874520"/>
            <a:ext cx="3474720" cy="1005840"/>
          </a:xfrm>
          <a:prstGeom prst="roundRect">
            <a:avLst>
              <a:gd name="adj" fmla="val 7273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1" name="Label price_facts"/>
          <p:cNvSpPr txBox="1"/>
          <p:nvPr/>
        </p:nvSpPr>
        <p:spPr>
          <a:xfrm>
            <a:off x="8028432" y="1874520"/>
            <a:ext cx="33284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price_facts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9B4C0"/>
                </a:solidFill>
              </a:rPr>
              <a:t>file_id FK · item_name · supplier · price_type · value · is_blank</a:t>
            </a:r>
            <a:endParaRPr lang="en-US" sz="1400" dirty="0"/>
          </a:p>
        </p:txBody>
      </p:sp>
      <p:sp>
        <p:nvSpPr>
          <p:cNvPr id="132" name="Node metrics"/>
          <p:cNvSpPr/>
          <p:nvPr/>
        </p:nvSpPr>
        <p:spPr>
          <a:xfrm>
            <a:off x="7955280" y="3474720"/>
            <a:ext cx="3474720" cy="1005840"/>
          </a:xfrm>
          <a:prstGeom prst="roundRect">
            <a:avLst>
              <a:gd name="adj" fmla="val 7273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3" name="Label metrics"/>
          <p:cNvSpPr txBox="1"/>
          <p:nvPr/>
        </p:nvSpPr>
        <p:spPr>
          <a:xfrm>
            <a:off x="8028432" y="3474720"/>
            <a:ext cx="33284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metrics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9B4C0"/>
                </a:solidFill>
              </a:rPr>
              <a:t>file_id FK · dimension · metric_type · value · is_blank</a:t>
            </a:r>
            <a:endParaRPr lang="en-US" sz="1400" dirty="0"/>
          </a:p>
        </p:txBody>
      </p:sp>
      <p:sp>
        <p:nvSpPr>
          <p:cNvPr id="134" name="Node supplier_aliases · sheet_templates"/>
          <p:cNvSpPr/>
          <p:nvPr/>
        </p:nvSpPr>
        <p:spPr>
          <a:xfrm>
            <a:off x="7955280" y="4846320"/>
            <a:ext cx="3474720" cy="1005840"/>
          </a:xfrm>
          <a:prstGeom prst="roundRect">
            <a:avLst>
              <a:gd name="adj" fmla="val 7273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5" name="Label supplier_aliases · sheet_templates"/>
          <p:cNvSpPr txBox="1"/>
          <p:nvPr/>
        </p:nvSpPr>
        <p:spPr>
          <a:xfrm>
            <a:off x="8028432" y="4846320"/>
            <a:ext cx="33284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supplier_aliases · sheet_templates</a:t>
            </a:r>
            <a:endParaRPr lang="en-US" sz="13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9B4C0"/>
                </a:solidFill>
              </a:rPr>
              <a:t>канонические имена · шаблоны по fingerprint</a:t>
            </a:r>
            <a:endParaRPr lang="en-US" sz="1300" dirty="0"/>
          </a:p>
        </p:txBody>
      </p:sp>
      <p:sp>
        <p:nvSpPr>
          <p:cNvPr id="136" name="Arrow"/>
          <p:cNvSpPr/>
          <p:nvPr/>
        </p:nvSpPr>
        <p:spPr>
          <a:xfrm>
            <a:off x="6949440" y="2377440"/>
            <a:ext cx="1005840" cy="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37" name="Text 37"/>
          <p:cNvSpPr txBox="1"/>
          <p:nvPr/>
        </p:nvSpPr>
        <p:spPr>
          <a:xfrm>
            <a:off x="6995160" y="208483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9B4C0"/>
                </a:solidFill>
              </a:rPr>
              <a:t>file_id</a:t>
            </a:r>
            <a:endParaRPr lang="en-US" sz="1000" dirty="0"/>
          </a:p>
        </p:txBody>
      </p:sp>
      <p:sp>
        <p:nvSpPr>
          <p:cNvPr id="13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A9B4C0"/>
                </a:solidFill>
              </a:defRPr>
            </a:lvl1pPr>
          </a:lstStyle>
          <a:p>
            <a:r>
              <a:t>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FF5A36"/>
                </a:solidFill>
              </a:rPr>
              <a:t>LLM-АГЕНТ</a:t>
            </a:r>
            <a:endParaRPr lang="en-US" sz="1200" dirty="0"/>
          </a:p>
        </p:txBody>
      </p:sp>
      <p:sp>
        <p:nvSpPr>
          <p:cNvPr id="101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</a:rPr>
              <a:t>Граф LLM-агента (LangGraph)</a:t>
            </a:r>
            <a:endParaRPr lang="en-US" sz="3200" dirty="0"/>
          </a:p>
        </p:txBody>
      </p:sp>
      <p:sp>
        <p:nvSpPr>
          <p:cNvPr id="102" name="Node classifier"/>
          <p:cNvSpPr/>
          <p:nvPr/>
        </p:nvSpPr>
        <p:spPr>
          <a:xfrm>
            <a:off x="548640" y="2514600"/>
            <a:ext cx="1280160" cy="868680"/>
          </a:xfrm>
          <a:prstGeom prst="roundRect">
            <a:avLst>
              <a:gd name="adj" fmla="val 8421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3" name="Label classifier"/>
          <p:cNvSpPr txBox="1"/>
          <p:nvPr/>
        </p:nvSpPr>
        <p:spPr>
          <a:xfrm>
            <a:off x="621792" y="2514600"/>
            <a:ext cx="11338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classifier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9B4C0"/>
                </a:solidFill>
              </a:rPr>
              <a:t>тип + домен</a:t>
            </a:r>
            <a:endParaRPr lang="en-US" sz="1200" dirty="0"/>
          </a:p>
        </p:txBody>
      </p:sp>
      <p:sp>
        <p:nvSpPr>
          <p:cNvPr id="104" name="Arrow"/>
          <p:cNvSpPr/>
          <p:nvPr/>
        </p:nvSpPr>
        <p:spPr>
          <a:xfrm>
            <a:off x="1828800" y="2948940"/>
            <a:ext cx="347472" cy="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05" name="Node disambiguation"/>
          <p:cNvSpPr/>
          <p:nvPr/>
        </p:nvSpPr>
        <p:spPr>
          <a:xfrm>
            <a:off x="2176272" y="2514600"/>
            <a:ext cx="1280160" cy="868680"/>
          </a:xfrm>
          <a:prstGeom prst="roundRect">
            <a:avLst>
              <a:gd name="adj" fmla="val 8421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6" name="Label disambiguation"/>
          <p:cNvSpPr txBox="1"/>
          <p:nvPr/>
        </p:nvSpPr>
        <p:spPr>
          <a:xfrm>
            <a:off x="2249424" y="2514600"/>
            <a:ext cx="11338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disambiguation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9B4C0"/>
                </a:solidFill>
              </a:rPr>
              <a:t>уточнение</a:t>
            </a:r>
            <a:endParaRPr lang="en-US" sz="1200" dirty="0"/>
          </a:p>
        </p:txBody>
      </p:sp>
      <p:sp>
        <p:nvSpPr>
          <p:cNvPr id="107" name="Arrow"/>
          <p:cNvSpPr/>
          <p:nvPr/>
        </p:nvSpPr>
        <p:spPr>
          <a:xfrm>
            <a:off x="3456432" y="2948940"/>
            <a:ext cx="347472" cy="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08" name="Node planner"/>
          <p:cNvSpPr/>
          <p:nvPr/>
        </p:nvSpPr>
        <p:spPr>
          <a:xfrm>
            <a:off x="3803904" y="2514600"/>
            <a:ext cx="1280160" cy="868680"/>
          </a:xfrm>
          <a:prstGeom prst="roundRect">
            <a:avLst>
              <a:gd name="adj" fmla="val 8421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9" name="Label planner"/>
          <p:cNvSpPr txBox="1"/>
          <p:nvPr/>
        </p:nvSpPr>
        <p:spPr>
          <a:xfrm>
            <a:off x="3877056" y="2514600"/>
            <a:ext cx="11338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planner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9B4C0"/>
                </a:solidFill>
              </a:rPr>
              <a:t>план</a:t>
            </a:r>
            <a:endParaRPr lang="en-US" sz="1200" dirty="0"/>
          </a:p>
        </p:txBody>
      </p:sp>
      <p:sp>
        <p:nvSpPr>
          <p:cNvPr id="110" name="Arrow"/>
          <p:cNvSpPr/>
          <p:nvPr/>
        </p:nvSpPr>
        <p:spPr>
          <a:xfrm>
            <a:off x="5084064" y="2948940"/>
            <a:ext cx="347472" cy="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11" name="Node codegen"/>
          <p:cNvSpPr/>
          <p:nvPr/>
        </p:nvSpPr>
        <p:spPr>
          <a:xfrm>
            <a:off x="5431536" y="2514600"/>
            <a:ext cx="1280160" cy="868680"/>
          </a:xfrm>
          <a:prstGeom prst="roundRect">
            <a:avLst>
              <a:gd name="adj" fmla="val 8421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2" name="Label codegen"/>
          <p:cNvSpPr txBox="1"/>
          <p:nvPr/>
        </p:nvSpPr>
        <p:spPr>
          <a:xfrm>
            <a:off x="5504688" y="2514600"/>
            <a:ext cx="11338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codegen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9B4C0"/>
                </a:solidFill>
              </a:rPr>
              <a:t>SQL + валидация</a:t>
            </a:r>
            <a:endParaRPr lang="en-US" sz="1200" dirty="0"/>
          </a:p>
        </p:txBody>
      </p:sp>
      <p:sp>
        <p:nvSpPr>
          <p:cNvPr id="113" name="Arrow"/>
          <p:cNvSpPr/>
          <p:nvPr/>
        </p:nvSpPr>
        <p:spPr>
          <a:xfrm>
            <a:off x="6711696" y="2948940"/>
            <a:ext cx="347472" cy="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14" name="Node executor"/>
          <p:cNvSpPr/>
          <p:nvPr/>
        </p:nvSpPr>
        <p:spPr>
          <a:xfrm>
            <a:off x="7059168" y="2514600"/>
            <a:ext cx="1280160" cy="868680"/>
          </a:xfrm>
          <a:prstGeom prst="roundRect">
            <a:avLst>
              <a:gd name="adj" fmla="val 8421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5" name="Label executor"/>
          <p:cNvSpPr txBox="1"/>
          <p:nvPr/>
        </p:nvSpPr>
        <p:spPr>
          <a:xfrm>
            <a:off x="7132320" y="2514600"/>
            <a:ext cx="11338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executor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9B4C0"/>
                </a:solidFill>
              </a:rPr>
              <a:t>SELECT read-only</a:t>
            </a:r>
            <a:endParaRPr lang="en-US" sz="1200" dirty="0"/>
          </a:p>
        </p:txBody>
      </p:sp>
      <p:sp>
        <p:nvSpPr>
          <p:cNvPr id="116" name="Arrow"/>
          <p:cNvSpPr/>
          <p:nvPr/>
        </p:nvSpPr>
        <p:spPr>
          <a:xfrm>
            <a:off x="8339328" y="2948940"/>
            <a:ext cx="347472" cy="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17" name="Node verifier"/>
          <p:cNvSpPr/>
          <p:nvPr/>
        </p:nvSpPr>
        <p:spPr>
          <a:xfrm>
            <a:off x="8686800" y="2514600"/>
            <a:ext cx="1280160" cy="868680"/>
          </a:xfrm>
          <a:prstGeom prst="roundRect">
            <a:avLst>
              <a:gd name="adj" fmla="val 8421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8" name="Label verifier"/>
          <p:cNvSpPr txBox="1"/>
          <p:nvPr/>
        </p:nvSpPr>
        <p:spPr>
          <a:xfrm>
            <a:off x="8759952" y="2514600"/>
            <a:ext cx="11338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verifier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9B4C0"/>
                </a:solidFill>
              </a:rPr>
              <a:t>LLM-проверка</a:t>
            </a:r>
            <a:endParaRPr lang="en-US" sz="1200" dirty="0"/>
          </a:p>
        </p:txBody>
      </p:sp>
      <p:sp>
        <p:nvSpPr>
          <p:cNvPr id="119" name="Arrow"/>
          <p:cNvSpPr/>
          <p:nvPr/>
        </p:nvSpPr>
        <p:spPr>
          <a:xfrm>
            <a:off x="9966960" y="2948940"/>
            <a:ext cx="347472" cy="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20" name="Node answer"/>
          <p:cNvSpPr/>
          <p:nvPr/>
        </p:nvSpPr>
        <p:spPr>
          <a:xfrm>
            <a:off x="10314432" y="2514600"/>
            <a:ext cx="1280160" cy="868680"/>
          </a:xfrm>
          <a:prstGeom prst="roundRect">
            <a:avLst>
              <a:gd name="adj" fmla="val 8421"/>
            </a:avLst>
          </a:prstGeom>
          <a:solidFill>
            <a:srgbClr val="262C33"/>
          </a:solidFill>
          <a:ln w="12700">
            <a:solidFill>
              <a:srgbClr val="3FBF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1" name="Label answer"/>
          <p:cNvSpPr txBox="1"/>
          <p:nvPr/>
        </p:nvSpPr>
        <p:spPr>
          <a:xfrm>
            <a:off x="10387584" y="2514600"/>
            <a:ext cx="11338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answer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9B4C0"/>
                </a:solidFill>
              </a:rPr>
              <a:t>ответ + chart</a:t>
            </a:r>
            <a:endParaRPr lang="en-US" sz="1200" dirty="0"/>
          </a:p>
        </p:txBody>
      </p:sp>
      <p:sp>
        <p:nvSpPr>
          <p:cNvPr id="122" name="Node failed — ошибка графа"/>
          <p:cNvSpPr/>
          <p:nvPr/>
        </p:nvSpPr>
        <p:spPr>
          <a:xfrm>
            <a:off x="548640" y="1508760"/>
            <a:ext cx="7680960" cy="457200"/>
          </a:xfrm>
          <a:prstGeom prst="roundRect">
            <a:avLst>
              <a:gd name="adj" fmla="val 16000"/>
            </a:avLst>
          </a:prstGeom>
          <a:solidFill>
            <a:srgbClr val="262C33"/>
          </a:solidFill>
          <a:ln w="12700">
            <a:solidFill>
              <a:srgbClr val="E548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3" name="Label failed — ошибка графа"/>
          <p:cNvSpPr txBox="1"/>
          <p:nvPr/>
        </p:nvSpPr>
        <p:spPr>
          <a:xfrm>
            <a:off x="621792" y="1508760"/>
            <a:ext cx="7534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5484D"/>
                </a:solidFill>
              </a:rPr>
              <a:t>failed — ошибка графа</a:t>
            </a:r>
            <a:endParaRPr lang="en-US" sz="1300" dirty="0"/>
          </a:p>
        </p:txBody>
      </p:sp>
      <p:sp>
        <p:nvSpPr>
          <p:cNvPr id="124" name="Arrow"/>
          <p:cNvSpPr/>
          <p:nvPr/>
        </p:nvSpPr>
        <p:spPr>
          <a:xfrm flipV="1">
            <a:off x="1188720" y="1965960"/>
            <a:ext cx="0" cy="548640"/>
          </a:xfrm>
          <a:prstGeom prst="line">
            <a:avLst/>
          </a:prstGeom>
          <a:noFill/>
          <a:ln w="22225">
            <a:solidFill>
              <a:srgbClr val="E5484D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25" name="Text 25"/>
          <p:cNvSpPr txBox="1"/>
          <p:nvPr/>
        </p:nvSpPr>
        <p:spPr>
          <a:xfrm>
            <a:off x="1280160" y="21031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9B4C0"/>
                </a:solidFill>
              </a:rPr>
              <a:t>query_type = None</a:t>
            </a:r>
            <a:endParaRPr lang="en-US" sz="1000" dirty="0"/>
          </a:p>
        </p:txBody>
      </p:sp>
      <p:sp>
        <p:nvSpPr>
          <p:cNvPr id="126" name="Arrow"/>
          <p:cNvSpPr/>
          <p:nvPr/>
        </p:nvSpPr>
        <p:spPr>
          <a:xfrm flipV="1">
            <a:off x="6071616" y="1965960"/>
            <a:ext cx="0" cy="548640"/>
          </a:xfrm>
          <a:prstGeom prst="line">
            <a:avLst/>
          </a:prstGeom>
          <a:noFill/>
          <a:ln w="22225">
            <a:solidFill>
              <a:srgbClr val="E5484D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27" name="Text 27"/>
          <p:cNvSpPr txBox="1"/>
          <p:nvPr/>
        </p:nvSpPr>
        <p:spPr>
          <a:xfrm>
            <a:off x="6163056" y="21031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9B4C0"/>
                </a:solidFill>
              </a:rPr>
              <a:t>SQL пуст · ретраи = 3</a:t>
            </a:r>
            <a:endParaRPr lang="en-US" sz="1000" dirty="0"/>
          </a:p>
        </p:txBody>
      </p:sp>
      <p:sp>
        <p:nvSpPr>
          <p:cNvPr id="128" name="Arrow"/>
          <p:cNvSpPr/>
          <p:nvPr/>
        </p:nvSpPr>
        <p:spPr>
          <a:xfrm flipV="1">
            <a:off x="7699248" y="1965960"/>
            <a:ext cx="0" cy="548640"/>
          </a:xfrm>
          <a:prstGeom prst="line">
            <a:avLst/>
          </a:prstGeom>
          <a:noFill/>
          <a:ln w="22225">
            <a:solidFill>
              <a:srgbClr val="E5484D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29" name="Text 29"/>
          <p:cNvSpPr txBox="1"/>
          <p:nvPr/>
        </p:nvSpPr>
        <p:spPr>
          <a:xfrm>
            <a:off x="7790688" y="21031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9B4C0"/>
                </a:solidFill>
              </a:rPr>
              <a:t>sql_error · ретраи = 3</a:t>
            </a:r>
            <a:endParaRPr lang="en-US" sz="1000" dirty="0"/>
          </a:p>
        </p:txBody>
      </p:sp>
      <p:sp>
        <p:nvSpPr>
          <p:cNvPr id="130" name="Arrow"/>
          <p:cNvSpPr/>
          <p:nvPr/>
        </p:nvSpPr>
        <p:spPr>
          <a:xfrm>
            <a:off x="7699248" y="3383280"/>
            <a:ext cx="0" cy="502920"/>
          </a:xfrm>
          <a:prstGeom prst="line">
            <a:avLst/>
          </a:prstGeom>
          <a:noFill/>
          <a:ln w="22225">
            <a:solidFill>
              <a:srgbClr val="2FA6C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1" name="Arrow"/>
          <p:cNvSpPr/>
          <p:nvPr/>
        </p:nvSpPr>
        <p:spPr>
          <a:xfrm flipH="1">
            <a:off x="6309360" y="3886200"/>
            <a:ext cx="1389888" cy="0"/>
          </a:xfrm>
          <a:prstGeom prst="line">
            <a:avLst/>
          </a:prstGeom>
          <a:noFill/>
          <a:ln w="22225">
            <a:solidFill>
              <a:srgbClr val="2FA6C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2" name="Arrow"/>
          <p:cNvSpPr/>
          <p:nvPr/>
        </p:nvSpPr>
        <p:spPr>
          <a:xfrm flipV="1">
            <a:off x="6309360" y="3383280"/>
            <a:ext cx="0" cy="502920"/>
          </a:xfrm>
          <a:prstGeom prst="line">
            <a:avLst/>
          </a:prstGeom>
          <a:noFill/>
          <a:ln w="22225">
            <a:solidFill>
              <a:srgbClr val="2FA6C9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33" name="Text 33"/>
          <p:cNvSpPr txBox="1"/>
          <p:nvPr/>
        </p:nvSpPr>
        <p:spPr>
          <a:xfrm>
            <a:off x="6400800" y="39319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FA6C9"/>
                </a:solidFill>
              </a:rPr>
              <a:t>sql_error · ретраи &lt; 3</a:t>
            </a:r>
            <a:endParaRPr lang="en-US" sz="1100" dirty="0"/>
          </a:p>
        </p:txBody>
      </p:sp>
      <p:sp>
        <p:nvSpPr>
          <p:cNvPr id="134" name="Arrow"/>
          <p:cNvSpPr/>
          <p:nvPr/>
        </p:nvSpPr>
        <p:spPr>
          <a:xfrm>
            <a:off x="9326880" y="3383280"/>
            <a:ext cx="0" cy="960120"/>
          </a:xfrm>
          <a:prstGeom prst="line">
            <a:avLst/>
          </a:prstGeom>
          <a:noFill/>
          <a:ln w="22225">
            <a:solidFill>
              <a:srgbClr val="2FA6C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5" name="Arrow"/>
          <p:cNvSpPr/>
          <p:nvPr/>
        </p:nvSpPr>
        <p:spPr>
          <a:xfrm flipH="1">
            <a:off x="5833872" y="4343400"/>
            <a:ext cx="3493008" cy="0"/>
          </a:xfrm>
          <a:prstGeom prst="line">
            <a:avLst/>
          </a:prstGeom>
          <a:noFill/>
          <a:ln w="22225">
            <a:solidFill>
              <a:srgbClr val="2FA6C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6" name="Arrow"/>
          <p:cNvSpPr/>
          <p:nvPr/>
        </p:nvSpPr>
        <p:spPr>
          <a:xfrm flipV="1">
            <a:off x="5833872" y="3383280"/>
            <a:ext cx="0" cy="960120"/>
          </a:xfrm>
          <a:prstGeom prst="line">
            <a:avLst/>
          </a:prstGeom>
          <a:noFill/>
          <a:ln w="22225">
            <a:solidFill>
              <a:srgbClr val="2FA6C9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37" name="Text 37"/>
          <p:cNvSpPr txBox="1"/>
          <p:nvPr/>
        </p:nvSpPr>
        <p:spPr>
          <a:xfrm>
            <a:off x="5925312" y="43891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FA6C9"/>
                </a:solidFill>
              </a:rPr>
              <a:t>needs_retry · ретраи &lt; 3</a:t>
            </a:r>
            <a:endParaRPr lang="en-US" sz="1100" dirty="0"/>
          </a:p>
        </p:txBody>
      </p:sp>
      <p:sp>
        <p:nvSpPr>
          <p:cNvPr id="138" name="Text 38"/>
          <p:cNvSpPr txBox="1"/>
          <p:nvPr/>
        </p:nvSpPr>
        <p:spPr>
          <a:xfrm>
            <a:off x="9509760" y="361188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9B4C0"/>
                </a:solidFill>
              </a:rPr>
              <a:t>Валидация codegen: пустой SQL или ошибки → повтор (ретраи &lt; 3). При needs_retry и ретраях = 3 verifier передаёт управление в answer.</a:t>
            </a:r>
            <a:endParaRPr lang="en-US" sz="1100" dirty="0"/>
          </a:p>
        </p:txBody>
      </p:sp>
      <p:sp>
        <p:nvSpPr>
          <p:cNvPr id="139" name="Text 39"/>
          <p:cNvSpPr txBox="1"/>
          <p:nvPr/>
        </p:nvSpPr>
        <p:spPr>
          <a:xfrm>
            <a:off x="548640" y="47548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40" name="Node success"/>
          <p:cNvSpPr/>
          <p:nvPr/>
        </p:nvSpPr>
        <p:spPr>
          <a:xfrm>
            <a:off x="548640" y="5212080"/>
            <a:ext cx="3566160" cy="868680"/>
          </a:xfrm>
          <a:prstGeom prst="roundRect">
            <a:avLst>
              <a:gd name="adj" fmla="val 8421"/>
            </a:avLst>
          </a:prstGeom>
          <a:solidFill>
            <a:srgbClr val="262C33"/>
          </a:solidFill>
          <a:ln w="19050">
            <a:solidFill>
              <a:srgbClr val="3FBF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1" name="Label success"/>
          <p:cNvSpPr txBox="1"/>
          <p:nvPr/>
        </p:nvSpPr>
        <p:spPr>
          <a:xfrm>
            <a:off x="621792" y="5212080"/>
            <a:ext cx="34198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success</a:t>
            </a:r>
            <a:endParaRPr lang="en-US" sz="14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A9B4C0"/>
                </a:solidFill>
              </a:rPr>
              <a:t>confidence ≥ 0.7</a:t>
            </a:r>
            <a:endParaRPr lang="en-US" sz="1400" dirty="0"/>
          </a:p>
        </p:txBody>
      </p:sp>
      <p:sp>
        <p:nvSpPr>
          <p:cNvPr id="142" name="Node low_confidence"/>
          <p:cNvSpPr/>
          <p:nvPr/>
        </p:nvSpPr>
        <p:spPr>
          <a:xfrm>
            <a:off x="4297680" y="5212080"/>
            <a:ext cx="3566160" cy="868680"/>
          </a:xfrm>
          <a:prstGeom prst="roundRect">
            <a:avLst>
              <a:gd name="adj" fmla="val 8421"/>
            </a:avLst>
          </a:prstGeom>
          <a:solidFill>
            <a:srgbClr val="262C33"/>
          </a:solidFill>
          <a:ln w="19050">
            <a:solidFill>
              <a:srgbClr val="E5B53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3" name="Label low_confidence"/>
          <p:cNvSpPr txBox="1"/>
          <p:nvPr/>
        </p:nvSpPr>
        <p:spPr>
          <a:xfrm>
            <a:off x="4370832" y="5212080"/>
            <a:ext cx="34198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low_confidence</a:t>
            </a:r>
            <a:endParaRPr lang="en-US" sz="14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A9B4C0"/>
                </a:solidFill>
              </a:rPr>
              <a:t>confidence &lt; 0.7 → self-correction на уровне pipeline</a:t>
            </a:r>
            <a:endParaRPr lang="en-US" sz="1400" dirty="0"/>
          </a:p>
        </p:txBody>
      </p:sp>
      <p:sp>
        <p:nvSpPr>
          <p:cNvPr id="144" name="Node failed"/>
          <p:cNvSpPr/>
          <p:nvPr/>
        </p:nvSpPr>
        <p:spPr>
          <a:xfrm>
            <a:off x="8046720" y="5212080"/>
            <a:ext cx="3566160" cy="868680"/>
          </a:xfrm>
          <a:prstGeom prst="roundRect">
            <a:avLst>
              <a:gd name="adj" fmla="val 8421"/>
            </a:avLst>
          </a:prstGeom>
          <a:solidFill>
            <a:srgbClr val="262C33"/>
          </a:solidFill>
          <a:ln w="19050">
            <a:solidFill>
              <a:srgbClr val="E548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5" name="Label failed"/>
          <p:cNvSpPr txBox="1"/>
          <p:nvPr/>
        </p:nvSpPr>
        <p:spPr>
          <a:xfrm>
            <a:off x="8119872" y="5212080"/>
            <a:ext cx="34198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failed</a:t>
            </a:r>
            <a:endParaRPr lang="en-US" sz="14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A9B4C0"/>
                </a:solidFill>
              </a:rPr>
              <a:t>ошибки графа</a:t>
            </a:r>
            <a:endParaRPr lang="en-US" sz="1400" dirty="0"/>
          </a:p>
        </p:txBody>
      </p:sp>
      <p:sp>
        <p:nvSpPr>
          <p:cNvPr id="14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A9B4C0"/>
                </a:solidFill>
              </a:defRPr>
            </a:lvl1pPr>
          </a:lstStyle>
          <a:p>
            <a:r>
              <a:t>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FF5A36"/>
                </a:solidFill>
              </a:rPr>
              <a:t>LLM-АГЕНТ</a:t>
            </a:r>
            <a:endParaRPr lang="en-US" sz="1200" dirty="0"/>
          </a:p>
        </p:txBody>
      </p:sp>
      <p:sp>
        <p:nvSpPr>
          <p:cNvPr id="101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</a:rPr>
              <a:t>Безопасная генерация SQL</a:t>
            </a:r>
            <a:endParaRPr lang="en-US" sz="3200" dirty="0"/>
          </a:p>
        </p:txBody>
      </p:sp>
      <p:sp>
        <p:nvSpPr>
          <p:cNvPr id="102" name="Text 2"/>
          <p:cNvSpPr txBox="1"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F5A36"/>
                </a:solidFill>
              </a:rPr>
              <a:t>Детерминированные правки в codegen</a:t>
            </a:r>
            <a:endParaRPr lang="en-US" sz="1800" dirty="0"/>
          </a:p>
        </p:txBody>
      </p:sp>
      <p:sp>
        <p:nvSpPr>
          <p:cNvPr id="103" name="Node «Все виды меди»"/>
          <p:cNvSpPr/>
          <p:nvPr/>
        </p:nvSpPr>
        <p:spPr>
          <a:xfrm>
            <a:off x="548640" y="1920240"/>
            <a:ext cx="1600200" cy="91440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4" name="Label «Все виды меди»"/>
          <p:cNvSpPr txBox="1"/>
          <p:nvPr/>
        </p:nvSpPr>
        <p:spPr>
          <a:xfrm>
            <a:off x="621792" y="1920240"/>
            <a:ext cx="1453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«Все виды меди»</a:t>
            </a:r>
            <a:endParaRPr lang="en-US" sz="1600" dirty="0"/>
          </a:p>
        </p:txBody>
      </p:sp>
      <p:sp>
        <p:nvSpPr>
          <p:cNvPr id="105" name="Arrow"/>
          <p:cNvSpPr/>
          <p:nvPr/>
        </p:nvSpPr>
        <p:spPr>
          <a:xfrm>
            <a:off x="2148840" y="2377440"/>
            <a:ext cx="365760" cy="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06" name="Node item_name ILIKE 'Лом меди%'"/>
          <p:cNvSpPr/>
          <p:nvPr/>
        </p:nvSpPr>
        <p:spPr>
          <a:xfrm>
            <a:off x="2514600" y="1920240"/>
            <a:ext cx="1600200" cy="91440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FBF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7" name="Label item_name ILIKE 'Лом меди%'"/>
          <p:cNvSpPr txBox="1"/>
          <p:nvPr/>
        </p:nvSpPr>
        <p:spPr>
          <a:xfrm>
            <a:off x="2587752" y="1920240"/>
            <a:ext cx="1453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item_name ILIKE 'Лом меди%'</a:t>
            </a:r>
            <a:endParaRPr lang="en-US" sz="1600" dirty="0"/>
          </a:p>
        </p:txBody>
      </p:sp>
      <p:sp>
        <p:nvSpPr>
          <p:cNvPr id="108" name="Node Поставщик «Сплав-21»"/>
          <p:cNvSpPr/>
          <p:nvPr/>
        </p:nvSpPr>
        <p:spPr>
          <a:xfrm>
            <a:off x="4297680" y="1920240"/>
            <a:ext cx="1600200" cy="91440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9" name="Label Поставщик «Сплав-21»"/>
          <p:cNvSpPr txBox="1"/>
          <p:nvPr/>
        </p:nvSpPr>
        <p:spPr>
          <a:xfrm>
            <a:off x="4370832" y="1920240"/>
            <a:ext cx="1453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Поставщик «Сплав-21»</a:t>
            </a:r>
            <a:endParaRPr lang="en-US" sz="1600" dirty="0"/>
          </a:p>
        </p:txBody>
      </p:sp>
      <p:sp>
        <p:nvSpPr>
          <p:cNvPr id="110" name="Arrow"/>
          <p:cNvSpPr/>
          <p:nvPr/>
        </p:nvSpPr>
        <p:spPr>
          <a:xfrm>
            <a:off x="5897880" y="2377440"/>
            <a:ext cx="365760" cy="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11" name="Node '%сплав21%'"/>
          <p:cNvSpPr/>
          <p:nvPr/>
        </p:nvSpPr>
        <p:spPr>
          <a:xfrm>
            <a:off x="6263640" y="1920240"/>
            <a:ext cx="1600200" cy="91440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FBF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2" name="Label '%сплав21%'"/>
          <p:cNvSpPr txBox="1"/>
          <p:nvPr/>
        </p:nvSpPr>
        <p:spPr>
          <a:xfrm>
            <a:off x="6336792" y="1920240"/>
            <a:ext cx="1453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'%сплав21%'</a:t>
            </a:r>
            <a:endParaRPr lang="en-US" sz="1600" dirty="0"/>
          </a:p>
        </p:txBody>
      </p:sp>
      <p:sp>
        <p:nvSpPr>
          <p:cNvPr id="113" name="Node Булевы поля is_blank"/>
          <p:cNvSpPr/>
          <p:nvPr/>
        </p:nvSpPr>
        <p:spPr>
          <a:xfrm>
            <a:off x="8046720" y="1920240"/>
            <a:ext cx="1600200" cy="91440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4" name="Label Булевы поля is_blank"/>
          <p:cNvSpPr txBox="1"/>
          <p:nvPr/>
        </p:nvSpPr>
        <p:spPr>
          <a:xfrm>
            <a:off x="8119872" y="1920240"/>
            <a:ext cx="1453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Булевы поля is_blank</a:t>
            </a:r>
            <a:endParaRPr lang="en-US" sz="1600" dirty="0"/>
          </a:p>
        </p:txBody>
      </p:sp>
      <p:sp>
        <p:nvSpPr>
          <p:cNvPr id="115" name="Arrow"/>
          <p:cNvSpPr/>
          <p:nvPr/>
        </p:nvSpPr>
        <p:spPr>
          <a:xfrm>
            <a:off x="9646920" y="2377440"/>
            <a:ext cx="365760" cy="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16" name="Node целые 0 / 1"/>
          <p:cNvSpPr/>
          <p:nvPr/>
        </p:nvSpPr>
        <p:spPr>
          <a:xfrm>
            <a:off x="10012680" y="1920240"/>
            <a:ext cx="1600200" cy="91440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FBF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7" name="Label целые 0 / 1"/>
          <p:cNvSpPr txBox="1"/>
          <p:nvPr/>
        </p:nvSpPr>
        <p:spPr>
          <a:xfrm>
            <a:off x="10085832" y="1920240"/>
            <a:ext cx="1453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целые 0 / 1</a:t>
            </a:r>
            <a:endParaRPr lang="en-US" sz="1600" dirty="0"/>
          </a:p>
        </p:txBody>
      </p:sp>
      <p:sp>
        <p:nvSpPr>
          <p:cNvPr id="118" name="Text 18"/>
          <p:cNvSpPr txBox="1"/>
          <p:nvPr/>
        </p:nvSpPr>
        <p:spPr>
          <a:xfrm>
            <a:off x="548640" y="3337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F5A36"/>
                </a:solidFill>
              </a:rPr>
              <a:t>Валидация перед выполнением</a:t>
            </a:r>
            <a:endParaRPr lang="en-US" sz="1800" dirty="0"/>
          </a:p>
        </p:txBody>
      </p:sp>
      <p:sp>
        <p:nvSpPr>
          <p:cNvPr id="119" name="Card"/>
          <p:cNvSpPr/>
          <p:nvPr/>
        </p:nvSpPr>
        <p:spPr>
          <a:xfrm>
            <a:off x="548640" y="3794760"/>
            <a:ext cx="2633472" cy="1417320"/>
          </a:xfrm>
          <a:prstGeom prst="roundRect">
            <a:avLst>
              <a:gd name="adj" fmla="val 5161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0" name="Badge 1"/>
          <p:cNvSpPr/>
          <p:nvPr/>
        </p:nvSpPr>
        <p:spPr>
          <a:xfrm>
            <a:off x="731520" y="3931920"/>
            <a:ext cx="365760" cy="365760"/>
          </a:xfrm>
          <a:prstGeom prst="ellipse">
            <a:avLst/>
          </a:prstGeom>
          <a:solidFill>
            <a:srgbClr val="FF5A36"/>
          </a:solidFill>
          <a:ln w="6350">
            <a:solidFill>
              <a:srgbClr val="FF5A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1" name="Text 21"/>
          <p:cNvSpPr txBox="1"/>
          <p:nvPr/>
        </p:nvSpPr>
        <p:spPr>
          <a:xfrm>
            <a:off x="731520" y="3931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1F24"/>
                </a:solidFill>
              </a:rPr>
              <a:t>1</a:t>
            </a:r>
            <a:endParaRPr lang="en-US" sz="1600" dirty="0"/>
          </a:p>
        </p:txBody>
      </p:sp>
      <p:sp>
        <p:nvSpPr>
          <p:cNvPr id="122" name="Text 22"/>
          <p:cNvSpPr txBox="1"/>
          <p:nvPr/>
        </p:nvSpPr>
        <p:spPr>
          <a:xfrm>
            <a:off x="731520" y="4434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Только SELECT</a:t>
            </a:r>
            <a:endParaRPr lang="en-US" sz="1500" dirty="0"/>
          </a:p>
        </p:txBody>
      </p:sp>
      <p:sp>
        <p:nvSpPr>
          <p:cNvPr id="123" name="Text 23"/>
          <p:cNvSpPr txBox="1"/>
          <p:nvPr/>
        </p:nvSpPr>
        <p:spPr>
          <a:xfrm>
            <a:off x="731520" y="47548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9B4C0"/>
                </a:solidFill>
              </a:rPr>
              <a:t>whitelist таблиц mart.*</a:t>
            </a:r>
            <a:endParaRPr lang="en-US" sz="1200" dirty="0"/>
          </a:p>
        </p:txBody>
      </p:sp>
      <p:sp>
        <p:nvSpPr>
          <p:cNvPr id="124" name="Card"/>
          <p:cNvSpPr/>
          <p:nvPr/>
        </p:nvSpPr>
        <p:spPr>
          <a:xfrm>
            <a:off x="3364992" y="3794760"/>
            <a:ext cx="2633472" cy="1417320"/>
          </a:xfrm>
          <a:prstGeom prst="roundRect">
            <a:avLst>
              <a:gd name="adj" fmla="val 5161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5" name="Badge 2"/>
          <p:cNvSpPr/>
          <p:nvPr/>
        </p:nvSpPr>
        <p:spPr>
          <a:xfrm>
            <a:off x="3547872" y="3931920"/>
            <a:ext cx="365760" cy="365760"/>
          </a:xfrm>
          <a:prstGeom prst="ellipse">
            <a:avLst/>
          </a:prstGeom>
          <a:solidFill>
            <a:srgbClr val="FF5A36"/>
          </a:solidFill>
          <a:ln w="6350">
            <a:solidFill>
              <a:srgbClr val="FF5A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6" name="Text 26"/>
          <p:cNvSpPr txBox="1"/>
          <p:nvPr/>
        </p:nvSpPr>
        <p:spPr>
          <a:xfrm>
            <a:off x="3547872" y="3931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1F24"/>
                </a:solidFill>
              </a:rPr>
              <a:t>2</a:t>
            </a:r>
            <a:endParaRPr lang="en-US" sz="1600" dirty="0"/>
          </a:p>
        </p:txBody>
      </p:sp>
      <p:sp>
        <p:nvSpPr>
          <p:cNvPr id="127" name="Text 27"/>
          <p:cNvSpPr txBox="1"/>
          <p:nvPr/>
        </p:nvSpPr>
        <p:spPr>
          <a:xfrm>
            <a:off x="3547872" y="4434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Blacklist</a:t>
            </a:r>
            <a:endParaRPr lang="en-US" sz="1500" dirty="0"/>
          </a:p>
        </p:txBody>
      </p:sp>
      <p:sp>
        <p:nvSpPr>
          <p:cNvPr id="128" name="Text 28"/>
          <p:cNvSpPr txBox="1"/>
          <p:nvPr/>
        </p:nvSpPr>
        <p:spPr>
          <a:xfrm>
            <a:off x="3547872" y="47548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9B4C0"/>
                </a:solidFill>
              </a:rPr>
              <a:t>INSERT · UPDATE · DELETE · DROP · ALTER</a:t>
            </a:r>
            <a:endParaRPr lang="en-US" sz="1200" dirty="0"/>
          </a:p>
        </p:txBody>
      </p:sp>
      <p:sp>
        <p:nvSpPr>
          <p:cNvPr id="129" name="Card"/>
          <p:cNvSpPr/>
          <p:nvPr/>
        </p:nvSpPr>
        <p:spPr>
          <a:xfrm>
            <a:off x="6181344" y="3794760"/>
            <a:ext cx="2633472" cy="1417320"/>
          </a:xfrm>
          <a:prstGeom prst="roundRect">
            <a:avLst>
              <a:gd name="adj" fmla="val 5161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0" name="Badge 3"/>
          <p:cNvSpPr/>
          <p:nvPr/>
        </p:nvSpPr>
        <p:spPr>
          <a:xfrm>
            <a:off x="6364224" y="3931920"/>
            <a:ext cx="365760" cy="365760"/>
          </a:xfrm>
          <a:prstGeom prst="ellipse">
            <a:avLst/>
          </a:prstGeom>
          <a:solidFill>
            <a:srgbClr val="FF5A36"/>
          </a:solidFill>
          <a:ln w="6350">
            <a:solidFill>
              <a:srgbClr val="FF5A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1" name="Text 31"/>
          <p:cNvSpPr txBox="1"/>
          <p:nvPr/>
        </p:nvSpPr>
        <p:spPr>
          <a:xfrm>
            <a:off x="6364224" y="3931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1F24"/>
                </a:solidFill>
              </a:rPr>
              <a:t>3</a:t>
            </a:r>
            <a:endParaRPr lang="en-US" sz="1600" dirty="0"/>
          </a:p>
        </p:txBody>
      </p:sp>
      <p:sp>
        <p:nvSpPr>
          <p:cNvPr id="132" name="Text 32"/>
          <p:cNvSpPr txBox="1"/>
          <p:nvPr/>
        </p:nvSpPr>
        <p:spPr>
          <a:xfrm>
            <a:off x="6364224" y="4434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Баланс скобок и кавычек</a:t>
            </a:r>
            <a:endParaRPr lang="en-US" sz="1500" dirty="0"/>
          </a:p>
        </p:txBody>
      </p:sp>
      <p:sp>
        <p:nvSpPr>
          <p:cNvPr id="133" name="Text 33"/>
          <p:cNvSpPr txBox="1"/>
          <p:nvPr/>
        </p:nvSpPr>
        <p:spPr>
          <a:xfrm>
            <a:off x="6364224" y="47548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9B4C0"/>
                </a:solidFill>
              </a:rPr>
              <a:t>детекция обрезанного SQL</a:t>
            </a:r>
            <a:endParaRPr lang="en-US" sz="1200" dirty="0"/>
          </a:p>
        </p:txBody>
      </p:sp>
      <p:sp>
        <p:nvSpPr>
          <p:cNvPr id="134" name="Card"/>
          <p:cNvSpPr/>
          <p:nvPr/>
        </p:nvSpPr>
        <p:spPr>
          <a:xfrm>
            <a:off x="8997696" y="3794760"/>
            <a:ext cx="2633472" cy="1417320"/>
          </a:xfrm>
          <a:prstGeom prst="roundRect">
            <a:avLst>
              <a:gd name="adj" fmla="val 5161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5" name="Badge 4"/>
          <p:cNvSpPr/>
          <p:nvPr/>
        </p:nvSpPr>
        <p:spPr>
          <a:xfrm>
            <a:off x="9180576" y="3931920"/>
            <a:ext cx="365760" cy="365760"/>
          </a:xfrm>
          <a:prstGeom prst="ellipse">
            <a:avLst/>
          </a:prstGeom>
          <a:solidFill>
            <a:srgbClr val="FF5A36"/>
          </a:solidFill>
          <a:ln w="6350">
            <a:solidFill>
              <a:srgbClr val="FF5A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6" name="Text 36"/>
          <p:cNvSpPr txBox="1"/>
          <p:nvPr/>
        </p:nvSpPr>
        <p:spPr>
          <a:xfrm>
            <a:off x="9180576" y="3931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1F24"/>
                </a:solidFill>
              </a:rPr>
              <a:t>4</a:t>
            </a:r>
            <a:endParaRPr lang="en-US" sz="1600" dirty="0"/>
          </a:p>
        </p:txBody>
      </p:sp>
      <p:sp>
        <p:nvSpPr>
          <p:cNvPr id="137" name="Text 37"/>
          <p:cNvSpPr txBox="1"/>
          <p:nvPr/>
        </p:nvSpPr>
        <p:spPr>
          <a:xfrm>
            <a:off x="9180576" y="4434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statement_timeout</a:t>
            </a:r>
            <a:endParaRPr lang="en-US" sz="1500" dirty="0"/>
          </a:p>
        </p:txBody>
      </p:sp>
      <p:sp>
        <p:nvSpPr>
          <p:cNvPr id="138" name="Text 38"/>
          <p:cNvSpPr txBox="1"/>
          <p:nvPr/>
        </p:nvSpPr>
        <p:spPr>
          <a:xfrm>
            <a:off x="9180576" y="47548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9B4C0"/>
                </a:solidFill>
              </a:rPr>
              <a:t>30 секунд</a:t>
            </a:r>
            <a:endParaRPr lang="en-US" sz="1200" dirty="0"/>
          </a:p>
        </p:txBody>
      </p:sp>
      <p:sp>
        <p:nvSpPr>
          <p:cNvPr id="139" name="Card"/>
          <p:cNvSpPr/>
          <p:nvPr/>
        </p:nvSpPr>
        <p:spPr>
          <a:xfrm>
            <a:off x="548640" y="5440680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0" name="Text 40"/>
          <p:cNvSpPr txBox="1"/>
          <p:nvPr/>
        </p:nvSpPr>
        <p:spPr>
          <a:xfrm>
            <a:off x="822960" y="54406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</a:rPr>
              <a:t>sql_compiler.py — альтернатива LLM: компилирует структурированную спеку в безопасный SELECT без модели.</a:t>
            </a:r>
            <a:endParaRPr lang="en-US" sz="1500" dirty="0"/>
          </a:p>
        </p:txBody>
      </p:sp>
      <p:sp>
        <p:nvSpPr>
          <p:cNvPr id="14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4C0"/>
                </a:solidFill>
              </a:defRPr>
            </a:lvl1pPr>
          </a:lstStyle>
          <a:p>
            <a: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457200" cy="64008"/>
          </a:xfrm>
          <a:prstGeom prst="rect">
            <a:avLst/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C7293"/>
                </a:solidFill>
                <a:latin typeface="Calibri"/>
              </a:rPr>
              <a:t>ВОЗМОЖНОСТИ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Что умеет система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EVRAZ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37360"/>
            <a:ext cx="5029200" cy="658368"/>
          </a:xfrm>
          <a:prstGeom prst="roundRect">
            <a:avLst>
              <a:gd name="adj" fmla="val 9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1737360"/>
            <a:ext cx="5029200" cy="54864"/>
          </a:xfrm>
          <a:prstGeom prst="rect">
            <a:avLst/>
          </a:prstGeom>
          <a:solidFill>
            <a:srgbClr val="2F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76656" y="1920239"/>
            <a:ext cx="292608" cy="292608"/>
          </a:xfrm>
          <a:prstGeom prst="ellipse">
            <a:avLst/>
          </a:prstGeom>
          <a:solidFill>
            <a:srgbClr val="2F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76656" y="1897379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1B1F24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828800"/>
            <a:ext cx="43159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Вопросы простым языком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2103120"/>
            <a:ext cx="431596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A9B4C0"/>
                </a:solidFill>
              </a:rPr>
              <a:t>понимает деловые формулировки и термины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514600"/>
            <a:ext cx="5029200" cy="658368"/>
          </a:xfrm>
          <a:prstGeom prst="roundRect">
            <a:avLst>
              <a:gd name="adj" fmla="val 9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48640" y="2514600"/>
            <a:ext cx="5029200" cy="54864"/>
          </a:xfrm>
          <a:prstGeom prst="rect">
            <a:avLst/>
          </a:prstGeom>
          <a:solidFill>
            <a:srgbClr val="3FB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676656" y="2697479"/>
            <a:ext cx="292608" cy="292608"/>
          </a:xfrm>
          <a:prstGeom prst="ellipse">
            <a:avLst/>
          </a:prstGeom>
          <a:solidFill>
            <a:srgbClr val="3FB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76656" y="2674620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1B1F24"/>
                </a:solidFill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2606040"/>
            <a:ext cx="43159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Расчёты автоматически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2880360"/>
            <a:ext cx="431596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A9B4C0"/>
                </a:solidFill>
              </a:rPr>
              <a:t>средние, мин/макс, разница, рост за период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291839"/>
            <a:ext cx="5029200" cy="658368"/>
          </a:xfrm>
          <a:prstGeom prst="roundRect">
            <a:avLst>
              <a:gd name="adj" fmla="val 9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48640" y="3291839"/>
            <a:ext cx="5029200" cy="54864"/>
          </a:xfrm>
          <a:prstGeom prst="rect">
            <a:avLst/>
          </a:prstGeom>
          <a:solidFill>
            <a:srgbClr val="E5B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76656" y="3474719"/>
            <a:ext cx="292608" cy="292608"/>
          </a:xfrm>
          <a:prstGeom prst="ellipse">
            <a:avLst/>
          </a:prstGeom>
          <a:solidFill>
            <a:srgbClr val="E5B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76656" y="3451859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1B1F24"/>
                </a:solidFill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" y="3383279"/>
            <a:ext cx="43159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Графики и таблицы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" y="3657599"/>
            <a:ext cx="431596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A9B4C0"/>
                </a:solidFill>
              </a:rPr>
              <a:t>динамика за месяцы — рядом сразу график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069079"/>
            <a:ext cx="5029200" cy="54864"/>
          </a:xfrm>
          <a:prstGeom prst="rect">
            <a:avLst/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676656" y="4251959"/>
            <a:ext cx="292608" cy="292608"/>
          </a:xfrm>
          <a:prstGeom prst="ellipse">
            <a:avLst/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76656" y="4229100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1B1F24"/>
                </a:solidFill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" y="4160519"/>
            <a:ext cx="43159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dirty="0" err="1">
                <a:solidFill>
                  <a:srgbClr val="FFFFFF"/>
                </a:solidFill>
              </a:rPr>
              <a:t>Сравнение</a:t>
            </a:r>
            <a:r>
              <a:rPr sz="1200" b="1" dirty="0">
                <a:solidFill>
                  <a:srgbClr val="FFFFFF"/>
                </a:solidFill>
              </a:rPr>
              <a:t> </a:t>
            </a:r>
            <a:r>
              <a:rPr sz="1200" b="1" dirty="0" err="1">
                <a:solidFill>
                  <a:srgbClr val="FFFFFF"/>
                </a:solidFill>
              </a:rPr>
              <a:t>поставщиков</a:t>
            </a:r>
            <a:endParaRPr sz="1200" b="1" dirty="0">
              <a:solidFill>
                <a:srgbClr val="FFFFFF"/>
              </a:solidFill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115568" y="4434840"/>
            <a:ext cx="431596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A9B4C0"/>
                </a:solidFill>
              </a:rPr>
              <a:t>разные поставщики и позиции в одном вопросе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4846320"/>
            <a:ext cx="5029200" cy="658368"/>
          </a:xfrm>
          <a:prstGeom prst="roundRect">
            <a:avLst>
              <a:gd name="adj" fmla="val 9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48640" y="4846320"/>
            <a:ext cx="5029200" cy="54864"/>
          </a:xfrm>
          <a:prstGeom prst="rect">
            <a:avLst/>
          </a:prstGeom>
          <a:solidFill>
            <a:srgbClr val="2F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676656" y="5029200"/>
            <a:ext cx="292608" cy="292608"/>
          </a:xfrm>
          <a:prstGeom prst="ellipse">
            <a:avLst/>
          </a:prstGeom>
          <a:solidFill>
            <a:srgbClr val="2F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76656" y="5006340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1B1F24"/>
                </a:solidFill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5568" y="4937759"/>
            <a:ext cx="43159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Уточняющие вопросы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568" y="5212080"/>
            <a:ext cx="431596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dirty="0" err="1">
                <a:solidFill>
                  <a:srgbClr val="A9B4C0"/>
                </a:solidFill>
              </a:rPr>
              <a:t>при</a:t>
            </a:r>
            <a:r>
              <a:rPr sz="950" b="0" dirty="0">
                <a:solidFill>
                  <a:srgbClr val="A9B4C0"/>
                </a:solidFill>
              </a:rPr>
              <a:t> </a:t>
            </a:r>
            <a:r>
              <a:rPr sz="950" b="0" dirty="0" err="1">
                <a:solidFill>
                  <a:srgbClr val="A9B4C0"/>
                </a:solidFill>
              </a:rPr>
              <a:t>неоднозначности</a:t>
            </a:r>
            <a:r>
              <a:rPr sz="950" b="0" dirty="0">
                <a:solidFill>
                  <a:srgbClr val="A9B4C0"/>
                </a:solidFill>
              </a:rPr>
              <a:t> — </a:t>
            </a:r>
            <a:r>
              <a:rPr sz="950" b="0" dirty="0" err="1">
                <a:solidFill>
                  <a:srgbClr val="A9B4C0"/>
                </a:solidFill>
              </a:rPr>
              <a:t>переспросит</a:t>
            </a:r>
            <a:r>
              <a:rPr sz="950" b="0" dirty="0">
                <a:solidFill>
                  <a:srgbClr val="A9B4C0"/>
                </a:solidFill>
              </a:rPr>
              <a:t> и </a:t>
            </a:r>
            <a:r>
              <a:rPr sz="950" b="0" dirty="0" err="1">
                <a:solidFill>
                  <a:srgbClr val="A9B4C0"/>
                </a:solidFill>
              </a:rPr>
              <a:t>продолжит</a:t>
            </a:r>
            <a:endParaRPr sz="950" b="0" dirty="0">
              <a:solidFill>
                <a:srgbClr val="A9B4C0"/>
              </a:solidFill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5897880" y="1737360"/>
            <a:ext cx="5742432" cy="4206240"/>
          </a:xfrm>
          <a:prstGeom prst="roundRect">
            <a:avLst>
              <a:gd name="adj" fmla="val 45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5" name="Picture 44" descr="frontend-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7608" y="1865376"/>
            <a:ext cx="5362956" cy="3575304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6044184" y="5495544"/>
            <a:ext cx="54498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A9B4C0"/>
                </a:solidFill>
              </a:rPr>
              <a:t>Живой интерфейс: вопрос → ответ с цифрой, графиком и источником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48640" y="6126480"/>
            <a:ext cx="11064240" cy="320040"/>
          </a:xfrm>
          <a:prstGeom prst="roundRect">
            <a:avLst>
              <a:gd name="adj" fmla="val 16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48640" y="6126480"/>
            <a:ext cx="1106424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Один помощник вместо десятков открытых файлов на рабочем столе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3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548640" y="457200"/>
            <a:ext cx="457200" cy="64008"/>
          </a:xfrm>
          <a:prstGeom prst="rect">
            <a:avLst/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48640" y="5669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C7293"/>
                </a:solidFill>
                <a:latin typeface="Calibri"/>
              </a:rPr>
              <a:t>НАБЛЮДАЕМОСТЬ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86868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Трейсы, метрики и дашборды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EVRAZ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9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48640" y="1737360"/>
            <a:ext cx="5212080" cy="1874519"/>
          </a:xfrm>
          <a:prstGeom prst="roundRect">
            <a:avLst>
              <a:gd name="adj" fmla="val 6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548640" y="1737360"/>
            <a:ext cx="5212080" cy="54864"/>
          </a:xfrm>
          <a:prstGeom prst="rect">
            <a:avLst/>
          </a:prstGeom>
          <a:solidFill>
            <a:srgbClr val="2F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731520" y="1865376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Трейсы запросов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" y="2157984"/>
            <a:ext cx="48463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A9B4C0"/>
                </a:solidFill>
              </a:rPr>
              <a:t>Каждый вопрос получает request_id — журнал хранит весь путь ответа.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31520" y="2633472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A9B4C0"/>
                </a:solidFill>
              </a:rPr>
              <a:t>•  время каждого шага, итоговый SQL и уверенность
•  просмотр в интерфейсе и через API: /trace/{request_id}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31520" y="3227832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262C33"/>
          </a:solidFill>
          <a:ln w="12700">
            <a:solidFill>
              <a:srgbClr val="2FA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731520" y="3227832"/>
            <a:ext cx="8686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A9B4C0"/>
                </a:solidFill>
              </a:rPr>
              <a:t>классификация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613916" y="3227832"/>
            <a:ext cx="914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>
                <a:solidFill>
                  <a:srgbClr val="2FA6C9"/>
                </a:solidFill>
              </a:rPr>
              <a:t>→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719072" y="3227832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262C33"/>
          </a:solidFill>
          <a:ln w="12700">
            <a:solidFill>
              <a:srgbClr val="2FA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1719072" y="3227832"/>
            <a:ext cx="8686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A9B4C0"/>
                </a:solidFill>
              </a:rPr>
              <a:t>план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601468" y="3227832"/>
            <a:ext cx="914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>
                <a:solidFill>
                  <a:srgbClr val="2FA6C9"/>
                </a:solidFill>
              </a:rPr>
              <a:t>→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706624" y="3227832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262C33"/>
          </a:solidFill>
          <a:ln w="12700">
            <a:solidFill>
              <a:srgbClr val="2FA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2706624" y="3227832"/>
            <a:ext cx="8686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A9B4C0"/>
                </a:solidFill>
              </a:rPr>
              <a:t>SQL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589020" y="3227832"/>
            <a:ext cx="914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>
                <a:solidFill>
                  <a:srgbClr val="2FA6C9"/>
                </a:solidFill>
              </a:rPr>
              <a:t>→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694176" y="3227832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262C33"/>
          </a:solidFill>
          <a:ln w="12700">
            <a:solidFill>
              <a:srgbClr val="2FA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3694176" y="3227832"/>
            <a:ext cx="8686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A9B4C0"/>
                </a:solidFill>
              </a:rPr>
              <a:t>выполнение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576572" y="3227832"/>
            <a:ext cx="914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>
                <a:solidFill>
                  <a:srgbClr val="2FA6C9"/>
                </a:solidFill>
              </a:rPr>
              <a:t>→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681728" y="3227832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262C33"/>
          </a:solidFill>
          <a:ln w="12700">
            <a:solidFill>
              <a:srgbClr val="2FA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4681728" y="3227832"/>
            <a:ext cx="8686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A9B4C0"/>
                </a:solidFill>
              </a:rPr>
              <a:t>проверка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48640" y="3794760"/>
            <a:ext cx="5212080" cy="1024128"/>
          </a:xfrm>
          <a:prstGeom prst="roundRect">
            <a:avLst>
              <a:gd name="adj" fmla="val 6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ectangle 77"/>
          <p:cNvSpPr/>
          <p:nvPr/>
        </p:nvSpPr>
        <p:spPr>
          <a:xfrm>
            <a:off x="548640" y="3794760"/>
            <a:ext cx="5212080" cy="54864"/>
          </a:xfrm>
          <a:prstGeom prst="rect">
            <a:avLst/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731520" y="3904488"/>
            <a:ext cx="48463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Prometheus — метрики · :9090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31520" y="4197096"/>
            <a:ext cx="4846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A9B4C0"/>
                </a:solidFill>
              </a:rPr>
              <a:t>сервис отдаёт метрики на /metrics: число запросов, статусы, задержки, токены LLM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548640" y="4956048"/>
            <a:ext cx="5212080" cy="1024128"/>
          </a:xfrm>
          <a:prstGeom prst="roundRect">
            <a:avLst>
              <a:gd name="adj" fmla="val 6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ectangle 81"/>
          <p:cNvSpPr/>
          <p:nvPr/>
        </p:nvSpPr>
        <p:spPr>
          <a:xfrm>
            <a:off x="548640" y="4956048"/>
            <a:ext cx="5212080" cy="54864"/>
          </a:xfrm>
          <a:prstGeom prst="rect">
            <a:avLst/>
          </a:prstGeom>
          <a:solidFill>
            <a:srgbClr val="E5B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731520" y="5065776"/>
            <a:ext cx="48463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Grafana — дашборды · :3001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31520" y="5358384"/>
            <a:ext cx="4846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A9B4C0"/>
                </a:solidFill>
              </a:rPr>
              <a:t>панели на метриках Prometheus · http://localhost:3001 (admin / admin)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94360" y="6108192"/>
            <a:ext cx="5212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>
                <a:solidFill>
                  <a:srgbClr val="A9B4C0"/>
                </a:solidFill>
              </a:rPr>
              <a:t>API: /trace/{request_id} · /metrics · /health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035040" y="1737360"/>
            <a:ext cx="5605272" cy="4069080"/>
          </a:xfrm>
          <a:prstGeom prst="roundRect">
            <a:avLst>
              <a:gd name="adj" fmla="val 45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7" name="Picture 86" descr="debug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65376"/>
            <a:ext cx="5157216" cy="3438144"/>
          </a:xfrm>
          <a:prstGeom prst="rect">
            <a:avLst/>
          </a:prstGeom>
        </p:spPr>
      </p:pic>
      <p:sp>
        <p:nvSpPr>
          <p:cNvPr id="88" name="TextBox 87"/>
          <p:cNvSpPr txBox="1"/>
          <p:nvPr/>
        </p:nvSpPr>
        <p:spPr>
          <a:xfrm>
            <a:off x="6181344" y="5358383"/>
            <a:ext cx="531266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A9B4C0"/>
                </a:solidFill>
              </a:rPr>
              <a:t>Трейс запроса: виден каждый шаг агента — от классификации до ответа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457200" cy="64008"/>
          </a:xfrm>
          <a:prstGeom prst="rect">
            <a:avLst/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C7293"/>
                </a:solidFill>
                <a:latin typeface="Calibri"/>
              </a:rPr>
              <a:t>РЕЗУЛЬТАТЫ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Бенчмарк:  единый прогон из 55 тестов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EVRAZ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27632"/>
            <a:ext cx="110642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A9B4C0"/>
                </a:solidFill>
              </a:rPr>
              <a:t>Бенчмарк объединяет контрольные запросы заказчика (5, допуск 1%) и расширенный набор реальных сценариев (50) — итого 55 тестов.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12848"/>
            <a:ext cx="2670048" cy="1554480"/>
          </a:xfrm>
          <a:prstGeom prst="roundRect">
            <a:avLst>
              <a:gd name="adj" fmla="val 55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2212848"/>
            <a:ext cx="2670048" cy="64008"/>
          </a:xfrm>
          <a:prstGeom prst="rect">
            <a:avLst/>
          </a:prstGeom>
          <a:solidFill>
            <a:srgbClr val="2F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2377440"/>
            <a:ext cx="248716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55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62656"/>
            <a:ext cx="248716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>
                <a:solidFill>
                  <a:srgbClr val="A9B4C0"/>
                </a:solidFill>
              </a:rPr>
              <a:t>тестов в бенчмарке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3310128"/>
            <a:ext cx="2414016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>
                <a:solidFill>
                  <a:srgbClr val="A9B4C0"/>
                </a:solidFill>
              </a:rPr>
              <a:t>5 контрольных от заказчика + 50 реальных сценариев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28416" y="2212848"/>
            <a:ext cx="2670048" cy="1554480"/>
          </a:xfrm>
          <a:prstGeom prst="roundRect">
            <a:avLst>
              <a:gd name="adj" fmla="val 55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328416" y="2212848"/>
            <a:ext cx="2670048" cy="64008"/>
          </a:xfrm>
          <a:prstGeom prst="rect">
            <a:avLst/>
          </a:prstGeom>
          <a:solidFill>
            <a:srgbClr val="3FB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419856" y="2377440"/>
            <a:ext cx="248716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93%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19856" y="2962656"/>
            <a:ext cx="248716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>
                <a:solidFill>
                  <a:srgbClr val="A9B4C0"/>
                </a:solidFill>
              </a:rPr>
              <a:t>общая точность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56432" y="3310128"/>
            <a:ext cx="2414016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>
                <a:solidFill>
                  <a:srgbClr val="A9B4C0"/>
                </a:solidFill>
              </a:rPr>
              <a:t>51 из 55 · контрольная группа — с допуском 1%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08192" y="2212848"/>
            <a:ext cx="2670048" cy="1554480"/>
          </a:xfrm>
          <a:prstGeom prst="roundRect">
            <a:avLst>
              <a:gd name="adj" fmla="val 55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08192" y="2212848"/>
            <a:ext cx="2670048" cy="64008"/>
          </a:xfrm>
          <a:prstGeom prst="rect">
            <a:avLst/>
          </a:prstGeom>
          <a:solidFill>
            <a:srgbClr val="E5B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199631" y="2377440"/>
            <a:ext cx="248716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~35 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9631" y="2962656"/>
            <a:ext cx="248716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>
                <a:solidFill>
                  <a:srgbClr val="A9B4C0"/>
                </a:solidFill>
              </a:rPr>
              <a:t>среднее время ответа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36207" y="3310128"/>
            <a:ext cx="2414016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>
                <a:solidFill>
                  <a:srgbClr val="A9B4C0"/>
                </a:solidFill>
              </a:rPr>
              <a:t>медиана ~25–33 с · разброс 0,02–90 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87968" y="2212848"/>
            <a:ext cx="2670048" cy="1554480"/>
          </a:xfrm>
          <a:prstGeom prst="roundRect">
            <a:avLst>
              <a:gd name="adj" fmla="val 55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887968" y="2212848"/>
            <a:ext cx="2670048" cy="64008"/>
          </a:xfrm>
          <a:prstGeom prst="rect">
            <a:avLst/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979408" y="2377440"/>
            <a:ext cx="248716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≈2,0 млн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79408" y="2962656"/>
            <a:ext cx="248716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>
                <a:solidFill>
                  <a:srgbClr val="A9B4C0"/>
                </a:solidFill>
              </a:rPr>
              <a:t>токенов суммарно *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15984" y="3310128"/>
            <a:ext cx="2414016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>
                <a:solidFill>
                  <a:srgbClr val="A9B4C0"/>
                </a:solidFill>
              </a:rPr>
              <a:t>~36 тыс. на запрос · 4 запроса требуют доработки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041648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A9B4C0"/>
                </a:solidFill>
              </a:rPr>
              <a:t>Точность по типам запросов — единый набор (55 запросов)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315968"/>
            <a:ext cx="10561320" cy="237744"/>
          </a:xfrm>
          <a:prstGeom prst="roundRect">
            <a:avLst>
              <a:gd name="adj" fmla="val 6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1792" y="4357116"/>
            <a:ext cx="512064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Тип вопросов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4357116"/>
            <a:ext cx="155448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Запросов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26679" y="4357116"/>
            <a:ext cx="137160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Прошло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72600" y="4357116"/>
            <a:ext cx="173736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Точность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4572000"/>
            <a:ext cx="10561320" cy="237744"/>
          </a:xfrm>
          <a:prstGeom prst="roundRect">
            <a:avLst>
              <a:gd name="adj" fmla="val 6000"/>
            </a:avLst>
          </a:prstGeom>
          <a:solidFill>
            <a:srgbClr val="22272D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21792" y="4613148"/>
            <a:ext cx="512064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9B4C0"/>
                </a:solidFill>
              </a:rPr>
              <a:t>Контрольные запросы заказчика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0" y="4613148"/>
            <a:ext cx="155448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9B4C0"/>
                </a:solidFill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26679" y="4613148"/>
            <a:ext cx="137160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9B4C0"/>
                </a:solidFill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72600" y="4613148"/>
            <a:ext cx="173736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9B4C0"/>
                </a:solidFill>
              </a:rPr>
              <a:t>100%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8640" y="4828032"/>
            <a:ext cx="10561320" cy="237744"/>
          </a:xfrm>
          <a:prstGeom prst="roundRect">
            <a:avLst>
              <a:gd name="adj" fmla="val 6000"/>
            </a:avLst>
          </a:prstGeom>
          <a:solidFill>
            <a:srgbClr val="22272D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21792" y="4869180"/>
            <a:ext cx="512064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9B4C0"/>
                </a:solidFill>
              </a:rPr>
              <a:t>Простой поиск цены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4869180"/>
            <a:ext cx="155448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9B4C0"/>
                </a:solidFill>
              </a:rPr>
              <a:t>14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26679" y="4869180"/>
            <a:ext cx="137160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9B4C0"/>
                </a:solidFill>
              </a:rPr>
              <a:t>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72600" y="4869180"/>
            <a:ext cx="173736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9B4C0"/>
                </a:solidFill>
              </a:rPr>
              <a:t>100%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8640" y="5084064"/>
            <a:ext cx="10561320" cy="237744"/>
          </a:xfrm>
          <a:prstGeom prst="roundRect">
            <a:avLst>
              <a:gd name="adj" fmla="val 6000"/>
            </a:avLst>
          </a:prstGeom>
          <a:solidFill>
            <a:srgbClr val="22272D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21792" y="5125212"/>
            <a:ext cx="512064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9B4C0"/>
                </a:solidFill>
              </a:rPr>
              <a:t>Средние, мин/макс по периодам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43600" y="5125212"/>
            <a:ext cx="155448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9B4C0"/>
                </a:solidFill>
              </a:rPr>
              <a:t>18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26679" y="5125212"/>
            <a:ext cx="137160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9B4C0"/>
                </a:solidFill>
              </a:rPr>
              <a:t>17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372600" y="5125212"/>
            <a:ext cx="173736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9B4C0"/>
                </a:solidFill>
              </a:rPr>
              <a:t>94%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48640" y="5340096"/>
            <a:ext cx="10561320" cy="237744"/>
          </a:xfrm>
          <a:prstGeom prst="roundRect">
            <a:avLst>
              <a:gd name="adj" fmla="val 6000"/>
            </a:avLst>
          </a:prstGeom>
          <a:solidFill>
            <a:srgbClr val="22272D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21792" y="5381244"/>
            <a:ext cx="512064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9B4C0"/>
                </a:solidFill>
              </a:rPr>
              <a:t>Сравнение и дельты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943600" y="5381244"/>
            <a:ext cx="155448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9B4C0"/>
                </a:solidFill>
              </a:rPr>
              <a:t>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26679" y="5381244"/>
            <a:ext cx="137160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9B4C0"/>
                </a:solidFill>
              </a:rPr>
              <a:t>10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372600" y="5381244"/>
            <a:ext cx="173736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9B4C0"/>
                </a:solidFill>
              </a:rPr>
              <a:t>83%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48640" y="5596128"/>
            <a:ext cx="10561320" cy="237744"/>
          </a:xfrm>
          <a:prstGeom prst="roundRect">
            <a:avLst>
              <a:gd name="adj" fmla="val 6000"/>
            </a:avLst>
          </a:prstGeom>
          <a:solidFill>
            <a:srgbClr val="22272D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21792" y="5637276"/>
            <a:ext cx="512064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9B4C0"/>
                </a:solidFill>
              </a:rPr>
              <a:t>Составные: поставщики + периоды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943600" y="5637276"/>
            <a:ext cx="155448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9B4C0"/>
                </a:solidFill>
              </a:rPr>
              <a:t>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26679" y="5637276"/>
            <a:ext cx="137160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9B4C0"/>
                </a:solidFill>
              </a:rPr>
              <a:t>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372600" y="5637276"/>
            <a:ext cx="173736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9B4C0"/>
                </a:solidFill>
              </a:rPr>
              <a:t>83%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48640" y="5852160"/>
            <a:ext cx="10561320" cy="237744"/>
          </a:xfrm>
          <a:prstGeom prst="roundRect">
            <a:avLst>
              <a:gd name="adj" fmla="val 6000"/>
            </a:avLst>
          </a:prstGeom>
          <a:solidFill>
            <a:srgbClr val="3A434D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621792" y="5893308"/>
            <a:ext cx="512064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Итого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943600" y="5893308"/>
            <a:ext cx="155448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55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26679" y="5893308"/>
            <a:ext cx="137160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372600" y="5893308"/>
            <a:ext cx="173736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93%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48640" y="6144768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A9B4C0"/>
                </a:solidFill>
              </a:rPr>
              <a:t>Следующий шаг — разобрать 4 неуспешных запроса и довести точность выше · токены — оценка суммарного LLM-трафика · каждая цифра перепроверяема по источнику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457200" cy="64008"/>
          </a:xfrm>
          <a:prstGeom prst="rect">
            <a:avLst/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C7293"/>
                </a:solidFill>
                <a:latin typeface="Calibri"/>
              </a:rPr>
              <a:t>ВОЗМОЖНОСТИ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Примеры вопросов и ответов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EVRAZ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dirty="0" err="1">
                <a:solidFill>
                  <a:srgbClr val="8A97A6"/>
                </a:solidFill>
                <a:latin typeface="Calibri"/>
              </a:rPr>
              <a:t>Реальные</a:t>
            </a:r>
            <a:r>
              <a:rPr sz="1600" b="0" dirty="0">
                <a:solidFill>
                  <a:srgbClr val="8A97A6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8A97A6"/>
                </a:solidFill>
                <a:latin typeface="Calibri"/>
              </a:rPr>
              <a:t>запросы</a:t>
            </a:r>
            <a:r>
              <a:rPr sz="1600" b="0" dirty="0">
                <a:solidFill>
                  <a:srgbClr val="8A97A6"/>
                </a:solidFill>
                <a:latin typeface="Calibri"/>
              </a:rPr>
              <a:t>, </a:t>
            </a:r>
            <a:r>
              <a:rPr sz="1600" b="0" dirty="0" err="1">
                <a:solidFill>
                  <a:srgbClr val="8A97A6"/>
                </a:solidFill>
                <a:latin typeface="Calibri"/>
              </a:rPr>
              <a:t>которые</a:t>
            </a:r>
            <a:r>
              <a:rPr sz="1600" b="0" dirty="0">
                <a:solidFill>
                  <a:srgbClr val="8A97A6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8A97A6"/>
                </a:solidFill>
                <a:latin typeface="Calibri"/>
              </a:rPr>
              <a:t>уже</a:t>
            </a:r>
            <a:r>
              <a:rPr sz="1600" b="0" dirty="0">
                <a:solidFill>
                  <a:srgbClr val="8A97A6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8A97A6"/>
                </a:solidFill>
                <a:latin typeface="Calibri"/>
              </a:rPr>
              <a:t>проходят</a:t>
            </a:r>
            <a:r>
              <a:rPr sz="1600" b="0" dirty="0">
                <a:solidFill>
                  <a:srgbClr val="8A97A6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8A97A6"/>
                </a:solidFill>
                <a:latin typeface="Calibri"/>
              </a:rPr>
              <a:t>через</a:t>
            </a:r>
            <a:r>
              <a:rPr sz="1600" b="0" dirty="0">
                <a:solidFill>
                  <a:srgbClr val="8A97A6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8A97A6"/>
                </a:solidFill>
                <a:latin typeface="Calibri"/>
              </a:rPr>
              <a:t>систему</a:t>
            </a:r>
            <a:r>
              <a:rPr sz="1600" b="0" dirty="0">
                <a:solidFill>
                  <a:srgbClr val="8A97A6"/>
                </a:solidFill>
                <a:latin typeface="Calibri"/>
              </a:rPr>
              <a:t> (</a:t>
            </a:r>
            <a:r>
              <a:rPr sz="1600" b="0" dirty="0" err="1">
                <a:solidFill>
                  <a:srgbClr val="8A97A6"/>
                </a:solidFill>
                <a:latin typeface="Calibri"/>
              </a:rPr>
              <a:t>демонстрационные</a:t>
            </a:r>
            <a:r>
              <a:rPr sz="1600" b="0" dirty="0">
                <a:solidFill>
                  <a:srgbClr val="8A97A6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8A97A6"/>
                </a:solidFill>
                <a:latin typeface="Calibri"/>
              </a:rPr>
              <a:t>данные</a:t>
            </a:r>
            <a:r>
              <a:rPr sz="1600" b="0" dirty="0">
                <a:solidFill>
                  <a:srgbClr val="8A97A6"/>
                </a:solidFill>
                <a:latin typeface="Calibri"/>
              </a:rPr>
              <a:t>):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48840"/>
            <a:ext cx="5394960" cy="146304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2331720"/>
            <a:ext cx="4937760" cy="2664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 dirty="0" err="1">
                <a:solidFill>
                  <a:srgbClr val="FFFFFF"/>
                </a:solidFill>
                <a:latin typeface="Calibri"/>
              </a:rPr>
              <a:t>Среднерыночная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цена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лома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алюминия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в 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ноябре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2025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044952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B199"/>
                </a:solidFill>
                <a:latin typeface="Calibri"/>
              </a:rPr>
              <a:t>→  153 369,75 ₽/тн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148840"/>
            <a:ext cx="5394960" cy="146304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0" y="2331720"/>
            <a:ext cx="4937760" cy="5496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 dirty="0" err="1">
                <a:solidFill>
                  <a:srgbClr val="FFFFFF"/>
                </a:solidFill>
                <a:latin typeface="Calibri"/>
              </a:rPr>
              <a:t>Средняя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цена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медного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лома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у 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поставщика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Ферроком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в 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феврале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044952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B199"/>
                </a:solidFill>
                <a:latin typeface="Calibri"/>
              </a:rPr>
              <a:t>→  696 625,15 ₽/тн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794760"/>
            <a:ext cx="5394960" cy="146304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" y="3977640"/>
            <a:ext cx="4937760" cy="5496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 dirty="0" err="1">
                <a:solidFill>
                  <a:srgbClr val="FFFFFF"/>
                </a:solidFill>
                <a:latin typeface="Calibri"/>
              </a:rPr>
              <a:t>Дельта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между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мин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. и 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макс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. 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ценой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медного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лома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у 4 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поставщиков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в 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феврале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2025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90872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B199"/>
                </a:solidFill>
                <a:latin typeface="Calibri"/>
              </a:rPr>
              <a:t>→  438 350,10 ₽/тн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794760"/>
            <a:ext cx="5394960" cy="146304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0" y="3977640"/>
            <a:ext cx="4937760" cy="5496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 dirty="0" err="1">
                <a:solidFill>
                  <a:srgbClr val="FFFFFF"/>
                </a:solidFill>
                <a:latin typeface="Calibri"/>
              </a:rPr>
              <a:t>Максимальная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среднерыночная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цена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лома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меди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«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кусок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» 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за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2025 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год</a:t>
            </a:r>
            <a:endParaRPr sz="1600" b="0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400800" y="4690872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B199"/>
                </a:solidFill>
                <a:latin typeface="Calibri"/>
              </a:rPr>
              <a:t>→  906 729,75 ₽/тн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2000"/>
            </a:avLst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2959" y="5833872"/>
            <a:ext cx="105156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Каждый ответ сопровождается источником: файл · лист · период · строка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</TotalTime>
  <Words>1522</Words>
  <Application>Microsoft Office PowerPoint</Application>
  <PresentationFormat>Широкоэкранный</PresentationFormat>
  <Paragraphs>338</Paragraphs>
  <Slides>14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18" baseType="lpstr">
      <vt:lpstr>Aptos</vt:lpstr>
      <vt:lpstr>Arial</vt:lpstr>
      <vt:lpstr>Calibri</vt:lpstr>
      <vt:lpstr>Office Theme</vt:lpstr>
      <vt:lpstr>Презентация PowerPoint</vt:lpstr>
      <vt:lpstr>Презентация PowerPoint</vt:lpstr>
      <vt:lpstr>Ключевые принципы</vt:lpstr>
      <vt:lpstr>Решение — обзор</vt:lpstr>
      <vt:lpstr>Архитектура системы</vt:lpstr>
      <vt:lpstr>Технологический стек</vt:lpstr>
      <vt:lpstr>Презентация PowerPoint</vt:lpstr>
      <vt:lpstr>Схема базы данных</vt:lpstr>
      <vt:lpstr>Граф LLM-агента (LangGraph)</vt:lpstr>
      <vt:lpstr>Безопасная генерация SQL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Костя Баландин</cp:lastModifiedBy>
  <cp:revision>22</cp:revision>
  <dcterms:created xsi:type="dcterms:W3CDTF">2013-01-27T09:14:16Z</dcterms:created>
  <dcterms:modified xsi:type="dcterms:W3CDTF">2026-10-23T16:07:18Z</dcterms:modified>
  <cp:category/>
</cp:coreProperties>
</file>